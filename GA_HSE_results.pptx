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6" r:id="rId6"/>
    <p:sldId id="267" r:id="rId7"/>
    <p:sldId id="261" r:id="rId8"/>
    <p:sldId id="264" r:id="rId9"/>
  </p:sldIdLst>
  <p:sldSz cx="13004800" cy="9753600"/>
  <p:notesSz cx="6858000" cy="9144000"/>
  <p:embeddedFontLst>
    <p:embeddedFont>
      <p:font typeface="Arial Narrow" panose="020B0604020202020204" pitchFamily="34" charset="0"/>
      <p:regular r:id="rId11"/>
      <p:bold r:id="rId12"/>
      <p:italic r:id="rId13"/>
      <p:boldItalic r:id="rId14"/>
    </p:embeddedFont>
    <p:embeddedFont>
      <p:font typeface="Helvetica Neue" panose="02000503000000020004" pitchFamily="2" charset="0"/>
      <p:regular r:id="rId15"/>
      <p:bold r:id="rId16"/>
      <p:italic r:id="rId17"/>
      <p:boldItalic r:id="rId18"/>
    </p:embeddedFont>
    <p:embeddedFont>
      <p:font typeface="Helvetica Neue Light" panose="02000403000000020004"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arx6PWR4vqFEgJl/7s03ZvrAd6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27"/>
  </p:normalViewPr>
  <p:slideViewPr>
    <p:cSldViewPr snapToGrid="0">
      <p:cViewPr varScale="1">
        <p:scale>
          <a:sx n="86" d="100"/>
          <a:sy n="86" d="100"/>
        </p:scale>
        <p:origin x="1912"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10" Type="http://schemas.openxmlformats.org/officeDocument/2006/relationships/notesMaster" Target="notesMasters/notesMaster1.xml"/><Relationship Id="rId19" Type="http://schemas.openxmlformats.org/officeDocument/2006/relationships/font" Target="fonts/font9.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4" name="Google Shape;5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ru-RU" sz="1200">
                <a:latin typeface="Arial"/>
                <a:ea typeface="Arial"/>
                <a:cs typeface="Arial"/>
                <a:sym typeface="Arial"/>
              </a:rPr>
              <a:t>Каждому банку необходимо оценивать риски от предоставляемых ими услуг. Если рассматривать выдачу кредитов, то банк рискует потерять деньги, выданные заёмщику. Поэтому важно оценивать ожидаемые кредитные убытки.  Среди видов кредитования для физических лиц существует выдача кредитных карт. </a:t>
            </a:r>
            <a:r>
              <a:rPr lang="ru-RU" sz="1200">
                <a:solidFill>
                  <a:schemeClr val="dk1"/>
                </a:solidFill>
                <a:latin typeface="Arial"/>
                <a:ea typeface="Arial"/>
                <a:cs typeface="Arial"/>
                <a:sym typeface="Arial"/>
              </a:rPr>
              <a:t>Каждый клиент карты в свою очередь характеризуется своим поведением (как клиент пользуется кредитной картой), которое </a:t>
            </a:r>
            <a:r>
              <a:rPr lang="ru-RU" sz="1200">
                <a:solidFill>
                  <a:srgbClr val="222222"/>
                </a:solidFill>
                <a:highlight>
                  <a:schemeClr val="lt1"/>
                </a:highlight>
                <a:latin typeface="Arial"/>
                <a:ea typeface="Arial"/>
                <a:cs typeface="Arial"/>
                <a:sym typeface="Arial"/>
              </a:rPr>
              <a:t>в разные периоды времени может объясняться широким диапазоном факторов: предпочтения и возможности клиента,  внешние экономические и политические шоки, демография, уровень финансовой грамотности и т.д. Состояние профиля клиента меняется с течением времени, так, например, карта может находится в льготном периоде или по карте могут начисляться проценты. Идея нашего проекта: на основе данных о поведении клиента предсказать дальнейшие состояния его кредитного профиля.</a:t>
            </a:r>
            <a:endParaRPr sz="1200">
              <a:latin typeface="Arial"/>
              <a:ea typeface="Arial"/>
              <a:cs typeface="Arial"/>
              <a:sym typeface="Arial"/>
            </a:endParaRPr>
          </a:p>
        </p:txBody>
      </p:sp>
      <p:sp>
        <p:nvSpPr>
          <p:cNvPr id="65" name="Google Shape;6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ru-RU" dirty="0"/>
              <a:t>Снизу представлены типы карточных клиентов и то, как они могут “сменять” друг друга с течением времени на основе данных, предоставленных банком и пример векторов состояний(на примере 1го - </a:t>
            </a:r>
            <a:r>
              <a:rPr lang="ru-RU" dirty="0" err="1"/>
              <a:t>G</a:t>
            </a:r>
            <a:r>
              <a:rPr lang="ru-RU" dirty="0"/>
              <a:t> -  8 месяцев клиент находится в льготном периоде, 4 месяца </a:t>
            </a:r>
            <a:r>
              <a:rPr lang="ru-RU" dirty="0" err="1"/>
              <a:t>S</a:t>
            </a:r>
            <a:r>
              <a:rPr lang="ru-RU" dirty="0"/>
              <a:t> - карта больше неактивна, и </a:t>
            </a:r>
            <a:r>
              <a:rPr lang="ru-RU" dirty="0" err="1"/>
              <a:t>C</a:t>
            </a:r>
            <a:r>
              <a:rPr lang="ru-RU" dirty="0"/>
              <a:t> - сделка по карте закрывается ). </a:t>
            </a:r>
            <a:endParaRPr dirty="0"/>
          </a:p>
        </p:txBody>
      </p:sp>
      <p:sp>
        <p:nvSpPr>
          <p:cNvPr id="79" name="Google Shape;7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fb41790917_0_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97" name="Google Shape;97;g1fb41790917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457200" lvl="0" indent="-361950" algn="just" rtl="0">
              <a:lnSpc>
                <a:spcPct val="115000"/>
              </a:lnSpc>
              <a:spcBef>
                <a:spcPts val="0"/>
              </a:spcBef>
              <a:spcAft>
                <a:spcPts val="0"/>
              </a:spcAft>
              <a:buClr>
                <a:schemeClr val="dk1"/>
              </a:buClr>
              <a:buSzPts val="2100"/>
              <a:buFont typeface="Helvetica Neue"/>
              <a:buChar char="-"/>
            </a:pPr>
            <a:r>
              <a:rPr lang="ru-RU" sz="2100">
                <a:solidFill>
                  <a:schemeClr val="dk1"/>
                </a:solidFill>
              </a:rPr>
              <a:t>И</a:t>
            </a:r>
            <a:r>
              <a:rPr lang="ru-RU" sz="2100">
                <a:solidFill>
                  <a:srgbClr val="222222"/>
                </a:solidFill>
                <a:highlight>
                  <a:srgbClr val="FFFFFF"/>
                </a:highlight>
              </a:rPr>
              <a:t>зучение релевантной научной литературы по данной теме ( применение марковских цепей, кластеризация, многоклассовая классификация и пр.), формализация исходной задачи на язык изученных алгоритмов.</a:t>
            </a:r>
            <a:endParaRPr sz="2100">
              <a:solidFill>
                <a:srgbClr val="222222"/>
              </a:solidFill>
              <a:highlight>
                <a:srgbClr val="FFFFFF"/>
              </a:highlight>
            </a:endParaRPr>
          </a:p>
          <a:p>
            <a:pPr marL="457200" lvl="0" indent="-361950" algn="just" rtl="0">
              <a:lnSpc>
                <a:spcPct val="115000"/>
              </a:lnSpc>
              <a:spcBef>
                <a:spcPts val="0"/>
              </a:spcBef>
              <a:spcAft>
                <a:spcPts val="0"/>
              </a:spcAft>
              <a:buClr>
                <a:schemeClr val="dk1"/>
              </a:buClr>
              <a:buSzPts val="2100"/>
              <a:buFont typeface="Helvetica Neue"/>
              <a:buChar char="-"/>
            </a:pPr>
            <a:r>
              <a:rPr lang="ru-RU" sz="2100">
                <a:solidFill>
                  <a:schemeClr val="dk1"/>
                </a:solidFill>
              </a:rPr>
              <a:t>Получение данных о клиентах, их изучение и кластеризация на основе их поведения.</a:t>
            </a:r>
            <a:endParaRPr sz="2100">
              <a:solidFill>
                <a:schemeClr val="dk1"/>
              </a:solidFill>
            </a:endParaRPr>
          </a:p>
          <a:p>
            <a:pPr marL="457200" lvl="0" indent="-361950" algn="just" rtl="0">
              <a:lnSpc>
                <a:spcPct val="115000"/>
              </a:lnSpc>
              <a:spcBef>
                <a:spcPts val="0"/>
              </a:spcBef>
              <a:spcAft>
                <a:spcPts val="0"/>
              </a:spcAft>
              <a:buClr>
                <a:schemeClr val="dk1"/>
              </a:buClr>
              <a:buSzPts val="2100"/>
              <a:buChar char="-"/>
            </a:pPr>
            <a:r>
              <a:rPr lang="ru-RU" sz="2100">
                <a:solidFill>
                  <a:schemeClr val="dk1"/>
                </a:solidFill>
              </a:rPr>
              <a:t>…</a:t>
            </a:r>
            <a:endParaRPr sz="2100">
              <a:solidFill>
                <a:schemeClr val="dk1"/>
              </a:solidFill>
            </a:endParaRPr>
          </a:p>
          <a:p>
            <a:pPr marL="0" lvl="0" indent="0" algn="l" rtl="0">
              <a:lnSpc>
                <a:spcPct val="117999"/>
              </a:lnSpc>
              <a:spcBef>
                <a:spcPts val="0"/>
              </a:spcBef>
              <a:spcAft>
                <a:spcPts val="0"/>
              </a:spcAft>
              <a:buSzPts val="1400"/>
              <a:buNone/>
            </a:pPr>
            <a:endParaRPr/>
          </a:p>
        </p:txBody>
      </p:sp>
      <p:sp>
        <p:nvSpPr>
          <p:cNvPr id="122" name="Google Shape;12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175" name="Google Shape;17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Заголовок и подзаголовок" type="title">
  <p:cSld name="TITLE">
    <p:spTree>
      <p:nvGrpSpPr>
        <p:cNvPr id="1" name="Shape 9"/>
        <p:cNvGrpSpPr/>
        <p:nvPr/>
      </p:nvGrpSpPr>
      <p:grpSpPr>
        <a:xfrm>
          <a:off x="0" y="0"/>
          <a:ext cx="0" cy="0"/>
          <a:chOff x="0" y="0"/>
          <a:chExt cx="0" cy="0"/>
        </a:xfrm>
      </p:grpSpPr>
      <p:sp>
        <p:nvSpPr>
          <p:cNvPr id="10" name="Google Shape;10;p10"/>
          <p:cNvSpPr/>
          <p:nvPr/>
        </p:nvSpPr>
        <p:spPr>
          <a:xfrm>
            <a:off x="4061866" y="-135186"/>
            <a:ext cx="9121280" cy="10023972"/>
          </a:xfrm>
          <a:prstGeom prst="rect">
            <a:avLst/>
          </a:pr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600"/>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11" name="Google Shape;11;p1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 по центру" type="tx">
  <p:cSld name="TITLE_AND_BODY">
    <p:bg>
      <p:bgPr>
        <a:solidFill>
          <a:srgbClr val="FFFFFF"/>
        </a:solidFill>
        <a:effectLst/>
      </p:bgPr>
    </p:bg>
    <p:spTree>
      <p:nvGrpSpPr>
        <p:cNvPr id="1" name="Shape 12"/>
        <p:cNvGrpSpPr/>
        <p:nvPr/>
      </p:nvGrpSpPr>
      <p:grpSpPr>
        <a:xfrm>
          <a:off x="0" y="0"/>
          <a:ext cx="0" cy="0"/>
          <a:chOff x="0" y="0"/>
          <a:chExt cx="0" cy="0"/>
        </a:xfrm>
      </p:grpSpPr>
      <p:sp>
        <p:nvSpPr>
          <p:cNvPr id="13" name="Google Shape;13;p1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 вверху">
  <p:cSld name="Заголовок — вверху">
    <p:spTree>
      <p:nvGrpSpPr>
        <p:cNvPr id="1" name="Shape 14"/>
        <p:cNvGrpSpPr/>
        <p:nvPr/>
      </p:nvGrpSpPr>
      <p:grpSpPr>
        <a:xfrm>
          <a:off x="0" y="0"/>
          <a:ext cx="0" cy="0"/>
          <a:chOff x="0" y="0"/>
          <a:chExt cx="0" cy="0"/>
        </a:xfrm>
      </p:grpSpPr>
      <p:sp>
        <p:nvSpPr>
          <p:cNvPr id="15" name="Google Shape;15;p1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Фото — горизонтально">
  <p:cSld name="Фото — горизонтально">
    <p:bg>
      <p:bgPr>
        <a:solidFill>
          <a:srgbClr val="FFFFFF"/>
        </a:solidFill>
        <a:effectLst/>
      </p:bgPr>
    </p:bg>
    <p:spTree>
      <p:nvGrpSpPr>
        <p:cNvPr id="1" name="Shape 16"/>
        <p:cNvGrpSpPr/>
        <p:nvPr/>
      </p:nvGrpSpPr>
      <p:grpSpPr>
        <a:xfrm>
          <a:off x="0" y="0"/>
          <a:ext cx="0" cy="0"/>
          <a:chOff x="0" y="0"/>
          <a:chExt cx="0" cy="0"/>
        </a:xfrm>
      </p:grpSpPr>
      <p:sp>
        <p:nvSpPr>
          <p:cNvPr id="17" name="Google Shape;17;p13"/>
          <p:cNvSpPr>
            <a:spLocks noGrp="1"/>
          </p:cNvSpPr>
          <p:nvPr>
            <p:ph type="pic" idx="2"/>
          </p:nvPr>
        </p:nvSpPr>
        <p:spPr>
          <a:xfrm>
            <a:off x="1606550" y="635000"/>
            <a:ext cx="9779000" cy="5918200"/>
          </a:xfrm>
          <a:prstGeom prst="rect">
            <a:avLst/>
          </a:prstGeom>
          <a:noFill/>
          <a:ln>
            <a:noFill/>
          </a:ln>
        </p:spPr>
      </p:sp>
      <p:sp>
        <p:nvSpPr>
          <p:cNvPr id="18" name="Google Shape;18;p13"/>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9" name="Google Shape;19;p13"/>
          <p:cNvSpPr txBox="1">
            <a:spLocks noGrp="1"/>
          </p:cNvSpPr>
          <p:nvPr>
            <p:ph type="body" idx="1"/>
          </p:nvPr>
        </p:nvSpPr>
        <p:spPr>
          <a:xfrm>
            <a:off x="1270000" y="8191500"/>
            <a:ext cx="10464800" cy="1130300"/>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0" name="Google Shape;20;p13"/>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Фото — вертикально">
  <p:cSld name="Фото — вертикально">
    <p:bg>
      <p:bgPr>
        <a:solidFill>
          <a:srgbClr val="FFFFFF"/>
        </a:solidFill>
        <a:effectLst/>
      </p:bgPr>
    </p:bg>
    <p:spTree>
      <p:nvGrpSpPr>
        <p:cNvPr id="1" name="Shape 21"/>
        <p:cNvGrpSpPr/>
        <p:nvPr/>
      </p:nvGrpSpPr>
      <p:grpSpPr>
        <a:xfrm>
          <a:off x="0" y="0"/>
          <a:ext cx="0" cy="0"/>
          <a:chOff x="0" y="0"/>
          <a:chExt cx="0" cy="0"/>
        </a:xfrm>
      </p:grpSpPr>
      <p:sp>
        <p:nvSpPr>
          <p:cNvPr id="22" name="Google Shape;22;p14"/>
          <p:cNvSpPr>
            <a:spLocks noGrp="1"/>
          </p:cNvSpPr>
          <p:nvPr>
            <p:ph type="pic" idx="2"/>
          </p:nvPr>
        </p:nvSpPr>
        <p:spPr>
          <a:xfrm>
            <a:off x="6718300" y="635000"/>
            <a:ext cx="5334000" cy="8229600"/>
          </a:xfrm>
          <a:prstGeom prst="rect">
            <a:avLst/>
          </a:prstGeom>
          <a:noFill/>
          <a:ln>
            <a:noFill/>
          </a:ln>
        </p:spPr>
      </p:sp>
      <p:sp>
        <p:nvSpPr>
          <p:cNvPr id="23" name="Google Shape;23;p14"/>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6000"/>
              <a:buFont typeface="Helvetica Neue Light"/>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14"/>
          <p:cNvSpPr txBox="1">
            <a:spLocks noGrp="1"/>
          </p:cNvSpPr>
          <p:nvPr>
            <p:ph type="body" idx="1"/>
          </p:nvPr>
        </p:nvSpPr>
        <p:spPr>
          <a:xfrm>
            <a:off x="952500" y="4762500"/>
            <a:ext cx="5334000" cy="4102100"/>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5" name="Google Shape;25;p1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Заголовок и пункты">
  <p:cSld name="Заголовок и пункты">
    <p:bg>
      <p:bgPr>
        <a:solidFill>
          <a:srgbClr val="FFFFFF"/>
        </a:solidFill>
        <a:effectLst/>
      </p:bgPr>
    </p:bg>
    <p:spTree>
      <p:nvGrpSpPr>
        <p:cNvPr id="1" name="Shape 26"/>
        <p:cNvGrpSpPr/>
        <p:nvPr/>
      </p:nvGrpSpPr>
      <p:grpSpPr>
        <a:xfrm>
          <a:off x="0" y="0"/>
          <a:ext cx="0" cy="0"/>
          <a:chOff x="0" y="0"/>
          <a:chExt cx="0" cy="0"/>
        </a:xfrm>
      </p:grpSpPr>
      <p:sp>
        <p:nvSpPr>
          <p:cNvPr id="27" name="Google Shape;27;p15"/>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15"/>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9" name="Google Shape;29;p1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пункты и фото">
  <p:cSld name="Заголовок, пункты и фото">
    <p:bg>
      <p:bgPr>
        <a:solidFill>
          <a:srgbClr val="FFFFFF"/>
        </a:solidFill>
        <a:effectLst/>
      </p:bgPr>
    </p:bg>
    <p:spTree>
      <p:nvGrpSpPr>
        <p:cNvPr id="1" name="Shape 30"/>
        <p:cNvGrpSpPr/>
        <p:nvPr/>
      </p:nvGrpSpPr>
      <p:grpSpPr>
        <a:xfrm>
          <a:off x="0" y="0"/>
          <a:ext cx="0" cy="0"/>
          <a:chOff x="0" y="0"/>
          <a:chExt cx="0" cy="0"/>
        </a:xfrm>
      </p:grpSpPr>
      <p:sp>
        <p:nvSpPr>
          <p:cNvPr id="31" name="Google Shape;31;p16"/>
          <p:cNvSpPr>
            <a:spLocks noGrp="1"/>
          </p:cNvSpPr>
          <p:nvPr>
            <p:ph type="pic" idx="2"/>
          </p:nvPr>
        </p:nvSpPr>
        <p:spPr>
          <a:xfrm>
            <a:off x="6718300" y="2603500"/>
            <a:ext cx="5334000" cy="6286500"/>
          </a:xfrm>
          <a:prstGeom prst="rect">
            <a:avLst/>
          </a:prstGeom>
          <a:noFill/>
          <a:ln>
            <a:noFill/>
          </a:ln>
        </p:spPr>
      </p:sp>
      <p:sp>
        <p:nvSpPr>
          <p:cNvPr id="32" name="Google Shape;32;p16"/>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3" name="Google Shape;33;p16"/>
          <p:cNvSpPr txBox="1">
            <a:spLocks noGrp="1"/>
          </p:cNvSpPr>
          <p:nvPr>
            <p:ph type="body" idx="1"/>
          </p:nvPr>
        </p:nvSpPr>
        <p:spPr>
          <a:xfrm>
            <a:off x="952500" y="2603500"/>
            <a:ext cx="5334000" cy="6286500"/>
          </a:xfrm>
          <a:prstGeom prst="rect">
            <a:avLst/>
          </a:prstGeom>
          <a:noFill/>
          <a:ln>
            <a:noFill/>
          </a:ln>
        </p:spPr>
        <p:txBody>
          <a:bodyPr spcFirstLastPara="1" wrap="square" lIns="50800" tIns="50800" rIns="50800" bIns="50800" anchor="ctr" anchorCtr="0">
            <a:noAutofit/>
          </a:bodyPr>
          <a:lstStyle>
            <a:lvl1pPr marL="457200" lvl="0" indent="-361950" algn="l">
              <a:lnSpc>
                <a:spcPct val="100000"/>
              </a:lnSpc>
              <a:spcBef>
                <a:spcPts val="3200"/>
              </a:spcBef>
              <a:spcAft>
                <a:spcPts val="0"/>
              </a:spcAft>
              <a:buClr>
                <a:srgbClr val="000000"/>
              </a:buClr>
              <a:buSzPts val="2100"/>
              <a:buFont typeface="Helvetica Neue Light"/>
              <a:buChar char="•"/>
              <a:defRPr sz="2800"/>
            </a:lvl1pPr>
            <a:lvl2pPr marL="914400" lvl="1" indent="-361950" algn="l">
              <a:lnSpc>
                <a:spcPct val="100000"/>
              </a:lnSpc>
              <a:spcBef>
                <a:spcPts val="3200"/>
              </a:spcBef>
              <a:spcAft>
                <a:spcPts val="0"/>
              </a:spcAft>
              <a:buClr>
                <a:srgbClr val="000000"/>
              </a:buClr>
              <a:buSzPts val="2100"/>
              <a:buFont typeface="Helvetica Neue Light"/>
              <a:buChar char="•"/>
              <a:defRPr sz="2800"/>
            </a:lvl2pPr>
            <a:lvl3pPr marL="1371600" lvl="2" indent="-361950" algn="l">
              <a:lnSpc>
                <a:spcPct val="100000"/>
              </a:lnSpc>
              <a:spcBef>
                <a:spcPts val="3200"/>
              </a:spcBef>
              <a:spcAft>
                <a:spcPts val="0"/>
              </a:spcAft>
              <a:buClr>
                <a:srgbClr val="000000"/>
              </a:buClr>
              <a:buSzPts val="2100"/>
              <a:buFont typeface="Helvetica Neue Light"/>
              <a:buChar char="•"/>
              <a:defRPr sz="2800"/>
            </a:lvl3pPr>
            <a:lvl4pPr marL="1828800" lvl="3" indent="-361950" algn="l">
              <a:lnSpc>
                <a:spcPct val="100000"/>
              </a:lnSpc>
              <a:spcBef>
                <a:spcPts val="3200"/>
              </a:spcBef>
              <a:spcAft>
                <a:spcPts val="0"/>
              </a:spcAft>
              <a:buClr>
                <a:srgbClr val="000000"/>
              </a:buClr>
              <a:buSzPts val="2100"/>
              <a:buFont typeface="Helvetica Neue Light"/>
              <a:buChar char="•"/>
              <a:defRPr sz="2800"/>
            </a:lvl4pPr>
            <a:lvl5pPr marL="2286000" lvl="4" indent="-361950" algn="l">
              <a:lnSpc>
                <a:spcPct val="100000"/>
              </a:lnSpc>
              <a:spcBef>
                <a:spcPts val="3200"/>
              </a:spcBef>
              <a:spcAft>
                <a:spcPts val="0"/>
              </a:spcAft>
              <a:buClr>
                <a:srgbClr val="000000"/>
              </a:buClr>
              <a:buSzPts val="2100"/>
              <a:buFont typeface="Helvetica Neue Light"/>
              <a:buChar char="•"/>
              <a:defRPr sz="28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4" name="Google Shape;34;p1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Пункты">
  <p:cSld name="Пункты">
    <p:bg>
      <p:bgPr>
        <a:solidFill>
          <a:srgbClr val="FFFFFF"/>
        </a:solidFill>
        <a:effectLst/>
      </p:bgPr>
    </p:bg>
    <p:spTree>
      <p:nvGrpSpPr>
        <p:cNvPr id="1" name="Shape 35"/>
        <p:cNvGrpSpPr/>
        <p:nvPr/>
      </p:nvGrpSpPr>
      <p:grpSpPr>
        <a:xfrm>
          <a:off x="0" y="0"/>
          <a:ext cx="0" cy="0"/>
          <a:chOff x="0" y="0"/>
          <a:chExt cx="0" cy="0"/>
        </a:xfrm>
      </p:grpSpPr>
      <p:sp>
        <p:nvSpPr>
          <p:cNvPr id="36" name="Google Shape;36;p17"/>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7" name="Google Shape;37;p1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Фото — 3 шт.">
  <p:cSld name="Фото — 3 шт.">
    <p:bg>
      <p:bgPr>
        <a:solidFill>
          <a:srgbClr val="FFFFFF"/>
        </a:solidFill>
        <a:effectLst/>
      </p:bgPr>
    </p:bg>
    <p:spTree>
      <p:nvGrpSpPr>
        <p:cNvPr id="1" name="Shape 38"/>
        <p:cNvGrpSpPr/>
        <p:nvPr/>
      </p:nvGrpSpPr>
      <p:grpSpPr>
        <a:xfrm>
          <a:off x="0" y="0"/>
          <a:ext cx="0" cy="0"/>
          <a:chOff x="0" y="0"/>
          <a:chExt cx="0" cy="0"/>
        </a:xfrm>
      </p:grpSpPr>
      <p:sp>
        <p:nvSpPr>
          <p:cNvPr id="39" name="Google Shape;39;p18"/>
          <p:cNvSpPr>
            <a:spLocks noGrp="1"/>
          </p:cNvSpPr>
          <p:nvPr>
            <p:ph type="pic" idx="2"/>
          </p:nvPr>
        </p:nvSpPr>
        <p:spPr>
          <a:xfrm>
            <a:off x="6718300" y="5092700"/>
            <a:ext cx="5334000" cy="3771900"/>
          </a:xfrm>
          <a:prstGeom prst="rect">
            <a:avLst/>
          </a:prstGeom>
          <a:noFill/>
          <a:ln>
            <a:noFill/>
          </a:ln>
        </p:spPr>
      </p:sp>
      <p:sp>
        <p:nvSpPr>
          <p:cNvPr id="40" name="Google Shape;40;p18"/>
          <p:cNvSpPr>
            <a:spLocks noGrp="1"/>
          </p:cNvSpPr>
          <p:nvPr>
            <p:ph type="pic" idx="3"/>
          </p:nvPr>
        </p:nvSpPr>
        <p:spPr>
          <a:xfrm>
            <a:off x="6724518" y="889000"/>
            <a:ext cx="5334001" cy="3771900"/>
          </a:xfrm>
          <a:prstGeom prst="rect">
            <a:avLst/>
          </a:prstGeom>
          <a:noFill/>
          <a:ln>
            <a:noFill/>
          </a:ln>
        </p:spPr>
      </p:sp>
      <p:sp>
        <p:nvSpPr>
          <p:cNvPr id="41" name="Google Shape;41;p18"/>
          <p:cNvSpPr>
            <a:spLocks noGrp="1"/>
          </p:cNvSpPr>
          <p:nvPr>
            <p:ph type="pic" idx="4"/>
          </p:nvPr>
        </p:nvSpPr>
        <p:spPr>
          <a:xfrm>
            <a:off x="952500" y="889000"/>
            <a:ext cx="5334000" cy="7975600"/>
          </a:xfrm>
          <a:prstGeom prst="rect">
            <a:avLst/>
          </a:prstGeom>
          <a:noFill/>
          <a:ln>
            <a:noFill/>
          </a:ln>
        </p:spPr>
      </p:sp>
      <p:sp>
        <p:nvSpPr>
          <p:cNvPr id="42" name="Google Shape;42;p1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Цитата">
  <p:cSld name="Цитата">
    <p:bg>
      <p:bgPr>
        <a:solidFill>
          <a:srgbClr val="FFFFFF"/>
        </a:solidFill>
        <a:effectLst/>
      </p:bgPr>
    </p:bg>
    <p:spTree>
      <p:nvGrpSpPr>
        <p:cNvPr id="1" name="Shape 43"/>
        <p:cNvGrpSpPr/>
        <p:nvPr/>
      </p:nvGrpSpPr>
      <p:grpSpPr>
        <a:xfrm>
          <a:off x="0" y="0"/>
          <a:ext cx="0" cy="0"/>
          <a:chOff x="0" y="0"/>
          <a:chExt cx="0" cy="0"/>
        </a:xfrm>
      </p:grpSpPr>
      <p:sp>
        <p:nvSpPr>
          <p:cNvPr id="44" name="Google Shape;44;p19"/>
          <p:cNvSpPr txBox="1">
            <a:spLocks noGrp="1"/>
          </p:cNvSpPr>
          <p:nvPr>
            <p:ph type="body" idx="1"/>
          </p:nvPr>
        </p:nvSpPr>
        <p:spPr>
          <a:xfrm>
            <a:off x="1270000" y="6362700"/>
            <a:ext cx="10464800" cy="469900"/>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2400"/>
              <a:buFont typeface="Helvetica Neue"/>
              <a:buNone/>
              <a:defRPr sz="2400">
                <a:latin typeface="Helvetica Neue"/>
                <a:ea typeface="Helvetica Neue"/>
                <a:cs typeface="Helvetica Neue"/>
                <a:sym typeface="Helvetica Neue"/>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5" name="Google Shape;45;p19"/>
          <p:cNvSpPr txBox="1">
            <a:spLocks noGrp="1"/>
          </p:cNvSpPr>
          <p:nvPr>
            <p:ph type="body" idx="2"/>
          </p:nvPr>
        </p:nvSpPr>
        <p:spPr>
          <a:xfrm>
            <a:off x="1270000" y="4267200"/>
            <a:ext cx="10464800" cy="685800"/>
          </a:xfrm>
          <a:prstGeom prst="rect">
            <a:avLst/>
          </a:prstGeom>
          <a:noFill/>
          <a:ln>
            <a:noFill/>
          </a:ln>
        </p:spPr>
        <p:txBody>
          <a:bodyPr spcFirstLastPara="1" wrap="square" lIns="50800" tIns="50800" rIns="50800" bIns="50800" anchor="ctr" anchorCtr="0">
            <a:noAutofit/>
          </a:bodyPr>
          <a:lstStyle>
            <a:lvl1pPr marL="457200" lvl="0" indent="-228600" algn="ctr">
              <a:lnSpc>
                <a:spcPct val="100000"/>
              </a:lnSpc>
              <a:spcBef>
                <a:spcPts val="0"/>
              </a:spcBef>
              <a:spcAft>
                <a:spcPts val="0"/>
              </a:spcAft>
              <a:buClr>
                <a:srgbClr val="000000"/>
              </a:buClr>
              <a:buSzPts val="3800"/>
              <a:buFont typeface="Helvetica Neue Light"/>
              <a:buNone/>
              <a:defRPr sz="38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6" name="Google Shape;46;p1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Фото">
  <p:cSld name="Фото">
    <p:bg>
      <p:bgPr>
        <a:solidFill>
          <a:srgbClr val="FFFFFF"/>
        </a:solidFill>
        <a:effectLst/>
      </p:bgPr>
    </p:bg>
    <p:spTree>
      <p:nvGrpSpPr>
        <p:cNvPr id="1" name="Shape 47"/>
        <p:cNvGrpSpPr/>
        <p:nvPr/>
      </p:nvGrpSpPr>
      <p:grpSpPr>
        <a:xfrm>
          <a:off x="0" y="0"/>
          <a:ext cx="0" cy="0"/>
          <a:chOff x="0" y="0"/>
          <a:chExt cx="0" cy="0"/>
        </a:xfrm>
      </p:grpSpPr>
      <p:sp>
        <p:nvSpPr>
          <p:cNvPr id="48" name="Google Shape;48;p20"/>
          <p:cNvSpPr>
            <a:spLocks noGrp="1"/>
          </p:cNvSpPr>
          <p:nvPr>
            <p:ph type="pic" idx="2"/>
          </p:nvPr>
        </p:nvSpPr>
        <p:spPr>
          <a:xfrm>
            <a:off x="0" y="0"/>
            <a:ext cx="13004800" cy="9753600"/>
          </a:xfrm>
          <a:prstGeom prst="rect">
            <a:avLst/>
          </a:prstGeom>
          <a:noFill/>
          <a:ln>
            <a:noFill/>
          </a:ln>
        </p:spPr>
      </p:sp>
      <p:sp>
        <p:nvSpPr>
          <p:cNvPr id="49" name="Google Shape;49;p2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Пустой">
  <p:cSld name="Пустой">
    <p:bg>
      <p:bgPr>
        <a:solidFill>
          <a:srgbClr val="FFFFFF"/>
        </a:solidFill>
        <a:effectLst/>
      </p:bgPr>
    </p:bg>
    <p:spTree>
      <p:nvGrpSpPr>
        <p:cNvPr id="1" name="Shape 50"/>
        <p:cNvGrpSpPr/>
        <p:nvPr/>
      </p:nvGrpSpPr>
      <p:grpSpPr>
        <a:xfrm>
          <a:off x="0" y="0"/>
          <a:ext cx="0" cy="0"/>
          <a:chOff x="0" y="0"/>
          <a:chExt cx="0" cy="0"/>
        </a:xfrm>
      </p:grpSpPr>
      <p:sp>
        <p:nvSpPr>
          <p:cNvPr id="51" name="Google Shape;51;p2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3957"/>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Autofit/>
          </a:bodyPr>
          <a:lstStyle>
            <a:lvl1pPr marR="0" lvl="0"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9"/>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Autofit/>
          </a:bodyPr>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cxnSp>
        <p:nvCxnSpPr>
          <p:cNvPr id="56" name="Google Shape;56;p1"/>
          <p:cNvCxnSpPr/>
          <p:nvPr/>
        </p:nvCxnSpPr>
        <p:spPr>
          <a:xfrm rot="10800000" flipH="1">
            <a:off x="5206999" y="1140740"/>
            <a:ext cx="1" cy="1975004"/>
          </a:xfrm>
          <a:prstGeom prst="straightConnector1">
            <a:avLst/>
          </a:prstGeom>
          <a:noFill/>
          <a:ln w="12700" cap="flat" cmpd="sng">
            <a:solidFill>
              <a:srgbClr val="FFFFFF"/>
            </a:solidFill>
            <a:prstDash val="solid"/>
            <a:miter lim="400000"/>
            <a:headEnd type="none" w="sm" len="sm"/>
            <a:tailEnd type="none" w="sm" len="sm"/>
          </a:ln>
        </p:spPr>
      </p:cxnSp>
      <p:sp>
        <p:nvSpPr>
          <p:cNvPr id="57" name="Google Shape;57;p1"/>
          <p:cNvSpPr txBox="1"/>
          <p:nvPr/>
        </p:nvSpPr>
        <p:spPr>
          <a:xfrm>
            <a:off x="5207000" y="2107121"/>
            <a:ext cx="6715325" cy="2955443"/>
          </a:xfrm>
          <a:prstGeom prst="rect">
            <a:avLst/>
          </a:prstGeom>
          <a:noFill/>
          <a:ln>
            <a:noFill/>
          </a:ln>
        </p:spPr>
        <p:txBody>
          <a:bodyPr spcFirstLastPara="1" wrap="square" lIns="50800" tIns="50800" rIns="50800" bIns="50800" anchor="ctr" anchorCtr="0">
            <a:noAutofit/>
          </a:bodyPr>
          <a:lstStyle/>
          <a:p>
            <a:pPr algn="ctr">
              <a:buClr>
                <a:srgbClr val="253957"/>
              </a:buClr>
              <a:buSzPts val="3200"/>
            </a:pPr>
            <a:r>
              <a:rPr lang="en-US" sz="3200" b="1" i="0" u="none" strike="noStrike" cap="none" dirty="0">
                <a:solidFill>
                  <a:srgbClr val="253957"/>
                </a:solidFill>
                <a:latin typeface="Arial Narrow"/>
                <a:ea typeface="Arial Narrow"/>
                <a:cs typeface="Arial Narrow"/>
                <a:sym typeface="Arial Narrow"/>
              </a:rPr>
              <a:t>GA (genetic algorithm) </a:t>
            </a:r>
            <a:r>
              <a:rPr lang="ru-RU" sz="3200" b="1" i="0" u="none" strike="noStrike" cap="none" dirty="0">
                <a:solidFill>
                  <a:srgbClr val="253957"/>
                </a:solidFill>
                <a:latin typeface="Arial Narrow"/>
                <a:ea typeface="Arial Narrow"/>
                <a:cs typeface="Arial Narrow"/>
                <a:sym typeface="Arial Narrow"/>
              </a:rPr>
              <a:t>для задачи </a:t>
            </a:r>
            <a:r>
              <a:rPr lang="en-US" sz="3200" b="1" i="0" u="none" strike="noStrike" cap="none">
                <a:solidFill>
                  <a:srgbClr val="253957"/>
                </a:solidFill>
                <a:latin typeface="Arial Narrow"/>
                <a:ea typeface="Arial Narrow"/>
                <a:cs typeface="Arial Narrow"/>
                <a:sym typeface="Arial Narrow"/>
              </a:rPr>
              <a:t>CVRP </a:t>
            </a:r>
            <a:endParaRPr lang="ru-RU" sz="3200" b="1" i="0" u="none" strike="noStrike" dirty="0">
              <a:effectLst/>
              <a:latin typeface="+mn-lt"/>
            </a:endParaRPr>
          </a:p>
          <a:p>
            <a:pPr marL="0" marR="0" lvl="0" indent="0" algn="ctr" rtl="0">
              <a:lnSpc>
                <a:spcPct val="100000"/>
              </a:lnSpc>
              <a:spcBef>
                <a:spcPts val="0"/>
              </a:spcBef>
              <a:spcAft>
                <a:spcPts val="0"/>
              </a:spcAft>
              <a:buClr>
                <a:srgbClr val="253957"/>
              </a:buClr>
              <a:buSzPts val="3200"/>
              <a:buFont typeface="Arial Narrow"/>
              <a:buNone/>
            </a:pPr>
            <a:endParaRPr lang="ru-RU" sz="1400" b="0" i="0" u="none" strike="noStrike" cap="none" dirty="0">
              <a:solidFill>
                <a:srgbClr val="000000"/>
              </a:solidFill>
              <a:latin typeface="Arial"/>
              <a:ea typeface="Arial"/>
              <a:cs typeface="Arial"/>
              <a:sym typeface="Arial"/>
            </a:endParaRPr>
          </a:p>
        </p:txBody>
      </p:sp>
      <p:sp>
        <p:nvSpPr>
          <p:cNvPr id="58" name="Google Shape;58;p1"/>
          <p:cNvSpPr txBox="1"/>
          <p:nvPr/>
        </p:nvSpPr>
        <p:spPr>
          <a:xfrm>
            <a:off x="8897814" y="6349912"/>
            <a:ext cx="3011810" cy="834305"/>
          </a:xfrm>
          <a:prstGeom prst="rect">
            <a:avLst/>
          </a:prstGeom>
          <a:noFill/>
          <a:ln>
            <a:noFill/>
          </a:ln>
        </p:spPr>
        <p:txBody>
          <a:bodyPr spcFirstLastPara="1" wrap="square" lIns="50800" tIns="50800" rIns="50800" bIns="50800" anchor="t" anchorCtr="0">
            <a:noAutofit/>
          </a:bodyPr>
          <a:lstStyle/>
          <a:p>
            <a:pPr marL="0" marR="0" lvl="0" indent="0" algn="l" rtl="0">
              <a:lnSpc>
                <a:spcPct val="100000"/>
              </a:lnSpc>
              <a:spcBef>
                <a:spcPts val="0"/>
              </a:spcBef>
              <a:spcAft>
                <a:spcPts val="0"/>
              </a:spcAft>
              <a:buClr>
                <a:srgbClr val="253957"/>
              </a:buClr>
              <a:buSzPts val="3000"/>
              <a:buFont typeface="Arial Narrow"/>
              <a:buNone/>
            </a:pPr>
            <a:endParaRPr sz="3000" b="0" i="0" u="none" strike="noStrike" cap="none">
              <a:solidFill>
                <a:srgbClr val="253957"/>
              </a:solidFill>
              <a:latin typeface="Arial Narrow"/>
              <a:ea typeface="Arial Narrow"/>
              <a:cs typeface="Arial Narrow"/>
              <a:sym typeface="Arial Narrow"/>
            </a:endParaRPr>
          </a:p>
        </p:txBody>
      </p:sp>
      <p:sp>
        <p:nvSpPr>
          <p:cNvPr id="59" name="Google Shape;59;p1"/>
          <p:cNvSpPr txBox="1"/>
          <p:nvPr/>
        </p:nvSpPr>
        <p:spPr>
          <a:xfrm>
            <a:off x="4091554" y="587229"/>
            <a:ext cx="9035501" cy="718145"/>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53957"/>
              </a:buClr>
              <a:buSzPts val="2000"/>
              <a:buFont typeface="Arial Narrow"/>
              <a:buNone/>
            </a:pPr>
            <a:r>
              <a:rPr lang="ru-RU" sz="2000" b="0" i="0" u="none" strike="noStrike" cap="none">
                <a:solidFill>
                  <a:srgbClr val="253957"/>
                </a:solidFill>
                <a:latin typeface="Arial Narrow"/>
                <a:ea typeface="Arial Narrow"/>
                <a:cs typeface="Arial Narrow"/>
                <a:sym typeface="Arial Narrow"/>
              </a:rPr>
              <a:t>Московский институт электроники и математики им. А.Н. Тихонова </a:t>
            </a:r>
            <a:endParaRPr sz="2000" b="0" i="0" u="none" strike="noStrike" cap="none">
              <a:solidFill>
                <a:srgbClr val="000000"/>
              </a:solidFill>
              <a:latin typeface="Arial Narrow"/>
              <a:ea typeface="Arial Narrow"/>
              <a:cs typeface="Arial Narrow"/>
              <a:sym typeface="Arial Narrow"/>
            </a:endParaRPr>
          </a:p>
        </p:txBody>
      </p:sp>
      <p:sp>
        <p:nvSpPr>
          <p:cNvPr id="60" name="Google Shape;60;p1"/>
          <p:cNvSpPr txBox="1"/>
          <p:nvPr/>
        </p:nvSpPr>
        <p:spPr>
          <a:xfrm>
            <a:off x="5194424" y="8630062"/>
            <a:ext cx="6715200" cy="425700"/>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53957"/>
              </a:buClr>
              <a:buSzPts val="2100"/>
              <a:buFont typeface="Arial Narrow"/>
              <a:buNone/>
            </a:pPr>
            <a:r>
              <a:rPr lang="ru-RU" sz="2100" b="0" i="0" u="none" strike="noStrike" cap="none" dirty="0">
                <a:solidFill>
                  <a:srgbClr val="253957"/>
                </a:solidFill>
                <a:latin typeface="Arial Narrow"/>
                <a:ea typeface="Arial Narrow"/>
                <a:cs typeface="Arial Narrow"/>
                <a:sym typeface="Arial Narrow"/>
              </a:rPr>
              <a:t>Москва, 2024</a:t>
            </a:r>
            <a:endParaRPr sz="2100" b="0" i="0" u="none" strike="noStrike" cap="none" dirty="0">
              <a:solidFill>
                <a:srgbClr val="253957"/>
              </a:solidFill>
              <a:latin typeface="Arial Narrow"/>
              <a:ea typeface="Arial Narrow"/>
              <a:cs typeface="Arial Narrow"/>
              <a:sym typeface="Arial Narrow"/>
            </a:endParaRPr>
          </a:p>
        </p:txBody>
      </p:sp>
      <p:pic>
        <p:nvPicPr>
          <p:cNvPr id="61" name="Google Shape;61;p1" descr="Изображение"/>
          <p:cNvPicPr preferRelativeResize="0"/>
          <p:nvPr/>
        </p:nvPicPr>
        <p:blipFill rotWithShape="1">
          <a:blip r:embed="rId3">
            <a:alphaModFix/>
          </a:blip>
          <a:srcRect/>
          <a:stretch/>
        </p:blipFill>
        <p:spPr>
          <a:xfrm>
            <a:off x="968298" y="946303"/>
            <a:ext cx="1945686" cy="1881278"/>
          </a:xfrm>
          <a:prstGeom prst="rect">
            <a:avLst/>
          </a:prstGeom>
          <a:noFill/>
          <a:ln>
            <a:noFill/>
          </a:ln>
        </p:spPr>
      </p:pic>
      <p:sp>
        <p:nvSpPr>
          <p:cNvPr id="62" name="Google Shape;62;p1"/>
          <p:cNvSpPr/>
          <p:nvPr/>
        </p:nvSpPr>
        <p:spPr>
          <a:xfrm>
            <a:off x="8035675" y="5628036"/>
            <a:ext cx="4689900" cy="2493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2400"/>
              <a:buFont typeface="Helvetica Neue Light"/>
              <a:buNone/>
            </a:pPr>
            <a:r>
              <a:rPr lang="ru-RU" sz="2200" dirty="0">
                <a:solidFill>
                  <a:srgbClr val="22375A"/>
                </a:solidFill>
              </a:rPr>
              <a:t>Подготовил</a:t>
            </a:r>
            <a:r>
              <a:rPr lang="ru-RU" sz="2200" b="0" i="0" u="none" strike="noStrike" cap="none" dirty="0">
                <a:solidFill>
                  <a:srgbClr val="22375A"/>
                </a:solidFill>
                <a:latin typeface="Arial"/>
                <a:ea typeface="Arial"/>
                <a:cs typeface="Arial"/>
                <a:sym typeface="Arial"/>
              </a:rPr>
              <a:t>:</a:t>
            </a:r>
            <a:endParaRPr sz="2200" b="0" i="0" u="none" strike="noStrike" cap="none" dirty="0">
              <a:solidFill>
                <a:srgbClr val="22375A"/>
              </a:solidFill>
              <a:latin typeface="Arial"/>
              <a:ea typeface="Arial"/>
              <a:cs typeface="Arial"/>
              <a:sym typeface="Arial"/>
            </a:endParaRPr>
          </a:p>
          <a:p>
            <a:pPr marL="0" marR="0" lvl="0" indent="0" algn="r" rtl="0">
              <a:lnSpc>
                <a:spcPct val="100000"/>
              </a:lnSpc>
              <a:spcBef>
                <a:spcPts val="0"/>
              </a:spcBef>
              <a:spcAft>
                <a:spcPts val="0"/>
              </a:spcAft>
              <a:buClr>
                <a:schemeClr val="dk1"/>
              </a:buClr>
              <a:buSzPts val="2400"/>
              <a:buFont typeface="Helvetica Neue Light"/>
              <a:buNone/>
            </a:pPr>
            <a:r>
              <a:rPr lang="ru-RU" sz="2200" b="0" i="0" u="none" strike="noStrike" cap="none" dirty="0">
                <a:solidFill>
                  <a:srgbClr val="22375A"/>
                </a:solidFill>
                <a:latin typeface="Arial"/>
                <a:ea typeface="Arial"/>
                <a:cs typeface="Arial"/>
                <a:sym typeface="Arial"/>
              </a:rPr>
              <a:t> </a:t>
            </a:r>
            <a:r>
              <a:rPr lang="ru-RU" sz="2200" dirty="0">
                <a:solidFill>
                  <a:srgbClr val="22375A"/>
                </a:solidFill>
              </a:rPr>
              <a:t>Липатов Данила Вячеславович</a:t>
            </a:r>
            <a:r>
              <a:rPr lang="ru-RU" sz="2200" b="0" i="0" u="none" strike="noStrike" cap="none" dirty="0">
                <a:solidFill>
                  <a:srgbClr val="22375A"/>
                </a:solidFill>
                <a:latin typeface="Arial"/>
                <a:ea typeface="Arial"/>
                <a:cs typeface="Arial"/>
                <a:sym typeface="Arial"/>
              </a:rPr>
              <a:t>, МСМТ243</a:t>
            </a:r>
            <a:endParaRPr sz="2200" b="0" i="0" u="none" strike="noStrike" cap="none" dirty="0">
              <a:solidFill>
                <a:srgbClr val="22375A"/>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cxnSp>
        <p:nvCxnSpPr>
          <p:cNvPr id="67" name="Google Shape;67;p2"/>
          <p:cNvCxnSpPr/>
          <p:nvPr/>
        </p:nvCxnSpPr>
        <p:spPr>
          <a:xfrm>
            <a:off x="787400" y="1574800"/>
            <a:ext cx="11430000" cy="0"/>
          </a:xfrm>
          <a:prstGeom prst="straightConnector1">
            <a:avLst/>
          </a:prstGeom>
          <a:noFill/>
          <a:ln w="12700" cap="flat" cmpd="sng">
            <a:solidFill>
              <a:srgbClr val="253957"/>
            </a:solidFill>
            <a:prstDash val="solid"/>
            <a:miter lim="400000"/>
            <a:headEnd type="none" w="sm" len="sm"/>
            <a:tailEnd type="none" w="sm" len="sm"/>
          </a:ln>
        </p:spPr>
      </p:cxnSp>
      <p:sp>
        <p:nvSpPr>
          <p:cNvPr id="68" name="Google Shape;68;p2"/>
          <p:cNvSpPr txBox="1"/>
          <p:nvPr/>
        </p:nvSpPr>
        <p:spPr>
          <a:xfrm>
            <a:off x="787400" y="1014401"/>
            <a:ext cx="11430000" cy="560400"/>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253957"/>
              </a:buClr>
              <a:buSzPts val="3000"/>
              <a:buFont typeface="Arial Narrow"/>
              <a:buNone/>
            </a:pPr>
            <a:r>
              <a:rPr lang="ru-RU" sz="3000" b="0" i="0" u="none" strike="noStrike" cap="none" dirty="0">
                <a:solidFill>
                  <a:srgbClr val="253957"/>
                </a:solidFill>
                <a:latin typeface="Arial Narrow"/>
                <a:ea typeface="Arial Narrow"/>
                <a:cs typeface="Arial Narrow"/>
                <a:sym typeface="Arial Narrow"/>
              </a:rPr>
              <a:t>Суть проекта</a:t>
            </a:r>
            <a:endParaRPr sz="1400" b="0" i="0" u="none" strike="noStrike" cap="none" dirty="0">
              <a:solidFill>
                <a:srgbClr val="000000"/>
              </a:solidFill>
              <a:latin typeface="Arial"/>
              <a:ea typeface="Arial"/>
              <a:cs typeface="Arial"/>
              <a:sym typeface="Arial"/>
            </a:endParaRPr>
          </a:p>
        </p:txBody>
      </p:sp>
      <p:sp>
        <p:nvSpPr>
          <p:cNvPr id="69" name="Google Shape;69;p2"/>
          <p:cNvSpPr txBox="1"/>
          <p:nvPr/>
        </p:nvSpPr>
        <p:spPr>
          <a:xfrm>
            <a:off x="2848681" y="601505"/>
            <a:ext cx="8745300" cy="3795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53957"/>
              </a:buClr>
              <a:buSzPts val="1800"/>
              <a:buFont typeface="Arial Narrow"/>
              <a:buNone/>
            </a:pPr>
            <a:r>
              <a:rPr lang="ru-RU" sz="1800" b="0" i="0" u="none" strike="noStrike" cap="none" dirty="0">
                <a:solidFill>
                  <a:srgbClr val="253957"/>
                </a:solidFill>
                <a:latin typeface="Arial Narrow"/>
                <a:ea typeface="Arial Narrow"/>
                <a:cs typeface="Arial Narrow"/>
                <a:sym typeface="Arial Narrow"/>
              </a:rPr>
              <a:t>МИЭМ НИУ ВШЭ</a:t>
            </a:r>
            <a:endParaRPr sz="1800" b="0" i="0" u="none" strike="noStrike" cap="none" dirty="0">
              <a:solidFill>
                <a:srgbClr val="253957"/>
              </a:solidFill>
              <a:latin typeface="Arial Narrow"/>
              <a:ea typeface="Arial Narrow"/>
              <a:cs typeface="Arial Narrow"/>
              <a:sym typeface="Arial Narrow"/>
            </a:endParaRPr>
          </a:p>
        </p:txBody>
      </p:sp>
      <p:pic>
        <p:nvPicPr>
          <p:cNvPr id="70" name="Google Shape;70;p2" descr="Изображение"/>
          <p:cNvPicPr preferRelativeResize="0"/>
          <p:nvPr/>
        </p:nvPicPr>
        <p:blipFill rotWithShape="1">
          <a:blip r:embed="rId3">
            <a:alphaModFix/>
          </a:blip>
          <a:srcRect/>
          <a:stretch/>
        </p:blipFill>
        <p:spPr>
          <a:xfrm>
            <a:off x="805562" y="416839"/>
            <a:ext cx="853034" cy="853034"/>
          </a:xfrm>
          <a:prstGeom prst="rect">
            <a:avLst/>
          </a:prstGeom>
          <a:noFill/>
          <a:ln>
            <a:noFill/>
          </a:ln>
        </p:spPr>
      </p:pic>
      <p:sp>
        <p:nvSpPr>
          <p:cNvPr id="71" name="Google Shape;71;p2"/>
          <p:cNvSpPr txBox="1"/>
          <p:nvPr/>
        </p:nvSpPr>
        <p:spPr>
          <a:xfrm>
            <a:off x="1053550" y="2330950"/>
            <a:ext cx="11089500" cy="1477297"/>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SzPts val="2100"/>
              <a:buFont typeface="Helvetica Neue"/>
              <a:buChar char="●"/>
            </a:pPr>
            <a:r>
              <a:rPr lang="ru-RU" sz="2100" dirty="0">
                <a:latin typeface="Helvetica Neue"/>
                <a:ea typeface="Helvetica Neue"/>
                <a:cs typeface="Helvetica Neue"/>
                <a:sym typeface="Helvetica Neue"/>
              </a:rPr>
              <a:t>Выполнить задачу и </a:t>
            </a:r>
            <a:r>
              <a:rPr lang="ru-RU" sz="2100" dirty="0" err="1">
                <a:latin typeface="Helvetica Neue"/>
                <a:ea typeface="Helvetica Neue"/>
                <a:cs typeface="Helvetica Neue"/>
                <a:sym typeface="Helvetica Neue"/>
              </a:rPr>
              <a:t>залутать</a:t>
            </a:r>
            <a:r>
              <a:rPr lang="ru-RU" sz="2100" dirty="0">
                <a:latin typeface="Helvetica Neue"/>
                <a:ea typeface="Helvetica Neue"/>
                <a:cs typeface="Helvetica Neue"/>
                <a:sym typeface="Helvetica Neue"/>
              </a:rPr>
              <a:t> хорошую оценку. </a:t>
            </a:r>
          </a:p>
          <a:p>
            <a:pPr marL="457200" lvl="0" indent="-361950" algn="l" rtl="0">
              <a:spcBef>
                <a:spcPts val="0"/>
              </a:spcBef>
              <a:spcAft>
                <a:spcPts val="0"/>
              </a:spcAft>
              <a:buSzPts val="2100"/>
              <a:buFont typeface="Helvetica Neue"/>
              <a:buChar char="●"/>
            </a:pPr>
            <a:r>
              <a:rPr lang="ru-RU" sz="2100" dirty="0">
                <a:latin typeface="Helvetica Neue"/>
                <a:ea typeface="Helvetica Neue"/>
                <a:cs typeface="Helvetica Neue"/>
                <a:sym typeface="Helvetica Neue"/>
              </a:rPr>
              <a:t>Прокачать навыки в написании алгоритмов.</a:t>
            </a:r>
          </a:p>
          <a:p>
            <a:pPr marL="457200" lvl="0" indent="-361950" algn="l" rtl="0">
              <a:spcBef>
                <a:spcPts val="0"/>
              </a:spcBef>
              <a:spcAft>
                <a:spcPts val="0"/>
              </a:spcAft>
              <a:buSzPts val="2100"/>
              <a:buFont typeface="Helvetica Neue"/>
              <a:buChar char="●"/>
            </a:pPr>
            <a:r>
              <a:rPr lang="ru-RU" sz="2100" dirty="0">
                <a:latin typeface="Helvetica Neue"/>
                <a:ea typeface="Helvetica Neue"/>
                <a:cs typeface="Helvetica Neue"/>
                <a:sym typeface="Helvetica Neue"/>
              </a:rPr>
              <a:t>Напрячь мозг.</a:t>
            </a:r>
          </a:p>
          <a:p>
            <a:pPr marL="457200" lvl="0" indent="0" algn="l" rtl="0">
              <a:spcBef>
                <a:spcPts val="0"/>
              </a:spcBef>
              <a:spcAft>
                <a:spcPts val="0"/>
              </a:spcAft>
              <a:buNone/>
            </a:pPr>
            <a:endParaRPr sz="2100" dirty="0">
              <a:latin typeface="Helvetica Neue"/>
              <a:ea typeface="Helvetica Neue"/>
              <a:cs typeface="Helvetica Neue"/>
              <a:sym typeface="Helvetica Neue"/>
            </a:endParaRPr>
          </a:p>
        </p:txBody>
      </p:sp>
      <p:sp>
        <p:nvSpPr>
          <p:cNvPr id="72" name="Google Shape;72;p2"/>
          <p:cNvSpPr txBox="1"/>
          <p:nvPr/>
        </p:nvSpPr>
        <p:spPr>
          <a:xfrm>
            <a:off x="11318375" y="8422747"/>
            <a:ext cx="721500" cy="691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ru-RU" sz="1000">
                <a:solidFill>
                  <a:srgbClr val="434343"/>
                </a:solidFill>
                <a:latin typeface="Roboto"/>
                <a:ea typeface="Roboto"/>
                <a:cs typeface="Roboto"/>
                <a:sym typeface="Roboto"/>
              </a:rPr>
              <a:t>2</a:t>
            </a:fld>
            <a:endParaRPr sz="1000">
              <a:solidFill>
                <a:srgbClr val="434343"/>
              </a:solidFill>
              <a:latin typeface="Roboto"/>
              <a:ea typeface="Roboto"/>
              <a:cs typeface="Roboto"/>
              <a:sym typeface="Roboto"/>
            </a:endParaRPr>
          </a:p>
        </p:txBody>
      </p:sp>
      <p:sp>
        <p:nvSpPr>
          <p:cNvPr id="74" name="Google Shape;74;p2"/>
          <p:cNvSpPr txBox="1"/>
          <p:nvPr/>
        </p:nvSpPr>
        <p:spPr>
          <a:xfrm>
            <a:off x="787400" y="3940729"/>
            <a:ext cx="5478489"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000" b="1" u="sng" dirty="0">
                <a:latin typeface="Helvetica Neue"/>
                <a:ea typeface="Helvetica Neue"/>
                <a:cs typeface="Helvetica Neue"/>
                <a:sym typeface="Helvetica Neue"/>
              </a:rPr>
              <a:t>Основная идея:</a:t>
            </a:r>
            <a:r>
              <a:rPr lang="ru-RU" sz="2000" dirty="0">
                <a:latin typeface="Helvetica Neue"/>
                <a:ea typeface="Helvetica Neue"/>
                <a:cs typeface="Helvetica Neue"/>
                <a:sym typeface="Helvetica Neue"/>
              </a:rPr>
              <a:t> Написать </a:t>
            </a:r>
            <a:r>
              <a:rPr lang="en-US" sz="2000" dirty="0">
                <a:latin typeface="Helvetica Neue"/>
                <a:ea typeface="Helvetica Neue"/>
                <a:cs typeface="Helvetica Neue"/>
                <a:sym typeface="Helvetica Neue"/>
              </a:rPr>
              <a:t>GA</a:t>
            </a:r>
            <a:r>
              <a:rPr lang="ru-RU" sz="2000" dirty="0">
                <a:latin typeface="Helvetica Neue"/>
                <a:ea typeface="Helvetica Neue"/>
                <a:cs typeface="Helvetica Neue"/>
                <a:sym typeface="Helvetica Neue"/>
              </a:rPr>
              <a:t> (самый доступный для обывателя), который будет решать все тесты и выдавать хорошие результаты!</a:t>
            </a:r>
            <a:endParaRPr sz="2000" dirty="0">
              <a:latin typeface="Helvetica Neue"/>
              <a:ea typeface="Helvetica Neue"/>
              <a:cs typeface="Helvetica Neue"/>
              <a:sym typeface="Helvetica Neue"/>
            </a:endParaRPr>
          </a:p>
        </p:txBody>
      </p:sp>
      <p:sp>
        <p:nvSpPr>
          <p:cNvPr id="75" name="Google Shape;75;p2"/>
          <p:cNvSpPr txBox="1"/>
          <p:nvPr/>
        </p:nvSpPr>
        <p:spPr>
          <a:xfrm>
            <a:off x="1053550" y="1654325"/>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000" b="1" u="sng">
                <a:solidFill>
                  <a:schemeClr val="dk1"/>
                </a:solidFill>
                <a:latin typeface="Helvetica Neue"/>
                <a:ea typeface="Helvetica Neue"/>
                <a:cs typeface="Helvetica Neue"/>
                <a:sym typeface="Helvetica Neue"/>
              </a:rPr>
              <a:t>Мотивация:</a:t>
            </a:r>
            <a:endParaRPr/>
          </a:p>
        </p:txBody>
      </p:sp>
      <p:sp>
        <p:nvSpPr>
          <p:cNvPr id="3" name="TextBox 2">
            <a:extLst>
              <a:ext uri="{FF2B5EF4-FFF2-40B4-BE49-F238E27FC236}">
                <a16:creationId xmlns:a16="http://schemas.microsoft.com/office/drawing/2014/main" id="{73697E37-FD1F-3295-4900-62BC41395BC8}"/>
              </a:ext>
            </a:extLst>
          </p:cNvPr>
          <p:cNvSpPr txBox="1"/>
          <p:nvPr/>
        </p:nvSpPr>
        <p:spPr>
          <a:xfrm>
            <a:off x="715601" y="5843064"/>
            <a:ext cx="6505730" cy="1938992"/>
          </a:xfrm>
          <a:prstGeom prst="rect">
            <a:avLst/>
          </a:prstGeom>
          <a:noFill/>
        </p:spPr>
        <p:txBody>
          <a:bodyPr wrap="square">
            <a:spAutoFit/>
          </a:bodyPr>
          <a:lstStyle/>
          <a:p>
            <a:pPr marL="342900" indent="-342900">
              <a:buFont typeface="Arial" panose="020B0604020202020204" pitchFamily="34" charset="0"/>
              <a:buChar char="•"/>
            </a:pPr>
            <a:r>
              <a:rPr lang="ru-RU" sz="2000" dirty="0"/>
              <a:t>Инициализация популяции</a:t>
            </a:r>
          </a:p>
          <a:p>
            <a:pPr marL="342900" indent="-342900">
              <a:buFont typeface="Arial" panose="020B0604020202020204" pitchFamily="34" charset="0"/>
              <a:buChar char="•"/>
            </a:pPr>
            <a:r>
              <a:rPr lang="ru-RU" sz="2000" dirty="0"/>
              <a:t>Оценка приспособленности (</a:t>
            </a:r>
            <a:r>
              <a:rPr lang="ru-RU" sz="2000" dirty="0" err="1"/>
              <a:t>фит</a:t>
            </a:r>
            <a:r>
              <a:rPr lang="en" sz="2000" dirty="0"/>
              <a:t>)</a:t>
            </a:r>
            <a:endParaRPr lang="ru-RU" sz="2000" dirty="0"/>
          </a:p>
          <a:p>
            <a:pPr marL="342900" indent="-342900">
              <a:buFont typeface="Arial" panose="020B0604020202020204" pitchFamily="34" charset="0"/>
              <a:buChar char="•"/>
            </a:pPr>
            <a:r>
              <a:rPr lang="ru-RU" sz="2000" dirty="0"/>
              <a:t>Отбор лучших решений</a:t>
            </a:r>
          </a:p>
          <a:p>
            <a:pPr marL="342900" indent="-342900">
              <a:buFont typeface="Arial" panose="020B0604020202020204" pitchFamily="34" charset="0"/>
              <a:buChar char="•"/>
            </a:pPr>
            <a:r>
              <a:rPr lang="ru-RU" sz="2000" dirty="0"/>
              <a:t>Скрещивание (кроссовер)</a:t>
            </a:r>
          </a:p>
          <a:p>
            <a:pPr marL="342900" indent="-342900">
              <a:buFont typeface="Arial" panose="020B0604020202020204" pitchFamily="34" charset="0"/>
              <a:buChar char="•"/>
            </a:pPr>
            <a:r>
              <a:rPr lang="ru-RU" sz="2000" dirty="0"/>
              <a:t>Мутация</a:t>
            </a:r>
          </a:p>
          <a:p>
            <a:pPr marL="342900" indent="-342900">
              <a:buFont typeface="Arial" panose="020B0604020202020204" pitchFamily="34" charset="0"/>
              <a:buChar char="•"/>
            </a:pPr>
            <a:r>
              <a:rPr lang="ru-RU" sz="2000" dirty="0"/>
              <a:t>Итерация по поколениям</a:t>
            </a:r>
          </a:p>
        </p:txBody>
      </p:sp>
      <p:pic>
        <p:nvPicPr>
          <p:cNvPr id="4" name="Рисунок 3">
            <a:extLst>
              <a:ext uri="{FF2B5EF4-FFF2-40B4-BE49-F238E27FC236}">
                <a16:creationId xmlns:a16="http://schemas.microsoft.com/office/drawing/2014/main" id="{ABD6CCD5-ABD5-78CE-E7CF-C8B6BDA093B8}"/>
              </a:ext>
            </a:extLst>
          </p:cNvPr>
          <p:cNvPicPr>
            <a:picLocks noChangeAspect="1"/>
          </p:cNvPicPr>
          <p:nvPr/>
        </p:nvPicPr>
        <p:blipFill>
          <a:blip r:embed="rId4"/>
          <a:stretch>
            <a:fillRect/>
          </a:stretch>
        </p:blipFill>
        <p:spPr>
          <a:xfrm>
            <a:off x="8193521" y="1724577"/>
            <a:ext cx="3753038" cy="3747722"/>
          </a:xfrm>
          <a:prstGeom prst="rect">
            <a:avLst/>
          </a:prstGeom>
        </p:spPr>
      </p:pic>
      <p:pic>
        <p:nvPicPr>
          <p:cNvPr id="5" name="Рисунок 4">
            <a:extLst>
              <a:ext uri="{FF2B5EF4-FFF2-40B4-BE49-F238E27FC236}">
                <a16:creationId xmlns:a16="http://schemas.microsoft.com/office/drawing/2014/main" id="{E35652C8-FA94-0EA8-2198-18F8E318E47A}"/>
              </a:ext>
            </a:extLst>
          </p:cNvPr>
          <p:cNvPicPr>
            <a:picLocks noChangeAspect="1"/>
          </p:cNvPicPr>
          <p:nvPr/>
        </p:nvPicPr>
        <p:blipFill>
          <a:blip r:embed="rId5"/>
          <a:stretch>
            <a:fillRect/>
          </a:stretch>
        </p:blipFill>
        <p:spPr>
          <a:xfrm>
            <a:off x="8185115" y="5843064"/>
            <a:ext cx="3915529" cy="3807038"/>
          </a:xfrm>
          <a:prstGeom prst="rect">
            <a:avLst/>
          </a:prstGeom>
        </p:spPr>
      </p:pic>
      <p:sp>
        <p:nvSpPr>
          <p:cNvPr id="7" name="TextBox 6">
            <a:extLst>
              <a:ext uri="{FF2B5EF4-FFF2-40B4-BE49-F238E27FC236}">
                <a16:creationId xmlns:a16="http://schemas.microsoft.com/office/drawing/2014/main" id="{3FEE50B1-A1A5-5AB9-3265-AE2063A1FEBB}"/>
              </a:ext>
            </a:extLst>
          </p:cNvPr>
          <p:cNvSpPr txBox="1"/>
          <p:nvPr/>
        </p:nvSpPr>
        <p:spPr>
          <a:xfrm>
            <a:off x="5534145" y="3454136"/>
            <a:ext cx="6505730" cy="400110"/>
          </a:xfrm>
          <a:prstGeom prst="rect">
            <a:avLst/>
          </a:prstGeom>
          <a:noFill/>
        </p:spPr>
        <p:txBody>
          <a:bodyPr wrap="square">
            <a:spAutoFit/>
          </a:bodyPr>
          <a:lstStyle/>
          <a:p>
            <a:r>
              <a:rPr lang="en-US" sz="2000" dirty="0">
                <a:latin typeface="Helvetica Neue"/>
                <a:ea typeface="Helvetica Neue"/>
                <a:cs typeface="Helvetica Neue"/>
                <a:sym typeface="Helvetica Neue"/>
              </a:rPr>
              <a:t>GA</a:t>
            </a:r>
            <a:r>
              <a:rPr lang="ru-RU" sz="2000" dirty="0">
                <a:latin typeface="Helvetica Neue"/>
                <a:ea typeface="Helvetica Neue"/>
                <a:cs typeface="Helvetica Neue"/>
                <a:sym typeface="Helvetica Neue"/>
              </a:rPr>
              <a:t> по мнению ГПТ</a:t>
            </a:r>
            <a:endParaRPr lang="ru-RU" sz="2000" dirty="0"/>
          </a:p>
        </p:txBody>
      </p:sp>
      <p:sp>
        <p:nvSpPr>
          <p:cNvPr id="9" name="TextBox 8">
            <a:extLst>
              <a:ext uri="{FF2B5EF4-FFF2-40B4-BE49-F238E27FC236}">
                <a16:creationId xmlns:a16="http://schemas.microsoft.com/office/drawing/2014/main" id="{D77813DE-0ABB-34D5-6779-0002A51AE36C}"/>
              </a:ext>
            </a:extLst>
          </p:cNvPr>
          <p:cNvSpPr txBox="1"/>
          <p:nvPr/>
        </p:nvSpPr>
        <p:spPr>
          <a:xfrm>
            <a:off x="5327103" y="6789997"/>
            <a:ext cx="6505730" cy="400110"/>
          </a:xfrm>
          <a:prstGeom prst="rect">
            <a:avLst/>
          </a:prstGeom>
          <a:noFill/>
        </p:spPr>
        <p:txBody>
          <a:bodyPr wrap="square">
            <a:spAutoFit/>
          </a:bodyPr>
          <a:lstStyle/>
          <a:p>
            <a:r>
              <a:rPr lang="en-US" sz="2000" dirty="0">
                <a:latin typeface="Helvetica Neue"/>
                <a:ea typeface="Helvetica Neue"/>
                <a:cs typeface="Helvetica Neue"/>
                <a:sym typeface="Helvetica Neue"/>
              </a:rPr>
              <a:t>CVRP</a:t>
            </a:r>
            <a:r>
              <a:rPr lang="ru-RU" sz="2000" dirty="0">
                <a:latin typeface="Helvetica Neue"/>
                <a:ea typeface="Helvetica Neue"/>
                <a:cs typeface="Helvetica Neue"/>
                <a:sym typeface="Helvetica Neue"/>
              </a:rPr>
              <a:t> по мнению ГПТ</a:t>
            </a:r>
            <a:endParaRPr lang="ru-RU"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cxnSp>
        <p:nvCxnSpPr>
          <p:cNvPr id="81" name="Google Shape;81;p3"/>
          <p:cNvCxnSpPr/>
          <p:nvPr/>
        </p:nvCxnSpPr>
        <p:spPr>
          <a:xfrm>
            <a:off x="787400" y="1574800"/>
            <a:ext cx="11430000" cy="0"/>
          </a:xfrm>
          <a:prstGeom prst="straightConnector1">
            <a:avLst/>
          </a:prstGeom>
          <a:noFill/>
          <a:ln w="12700" cap="flat" cmpd="sng">
            <a:solidFill>
              <a:srgbClr val="253957"/>
            </a:solidFill>
            <a:prstDash val="solid"/>
            <a:miter lim="400000"/>
            <a:headEnd type="none" w="sm" len="sm"/>
            <a:tailEnd type="none" w="sm" len="sm"/>
          </a:ln>
        </p:spPr>
      </p:cxnSp>
      <p:sp>
        <p:nvSpPr>
          <p:cNvPr id="82" name="Google Shape;82;p3"/>
          <p:cNvSpPr txBox="1"/>
          <p:nvPr/>
        </p:nvSpPr>
        <p:spPr>
          <a:xfrm>
            <a:off x="682961" y="981006"/>
            <a:ext cx="11430000" cy="687900"/>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253957"/>
              </a:buClr>
              <a:buSzPts val="3000"/>
              <a:buFont typeface="Arial Narrow"/>
              <a:buNone/>
            </a:pPr>
            <a:r>
              <a:rPr lang="ru-RU" sz="3000" b="0" i="0" u="none" strike="noStrike" cap="none" dirty="0">
                <a:solidFill>
                  <a:srgbClr val="253957"/>
                </a:solidFill>
                <a:latin typeface="Arial Narrow"/>
                <a:ea typeface="Arial Narrow"/>
                <a:cs typeface="Arial Narrow"/>
                <a:sym typeface="Arial Narrow"/>
              </a:rPr>
              <a:t>Зависимость отклонения от </a:t>
            </a:r>
            <a:r>
              <a:rPr lang="ru-RU" sz="3000" b="0" i="0" u="none" strike="noStrike" cap="none" dirty="0" err="1">
                <a:solidFill>
                  <a:srgbClr val="253957"/>
                </a:solidFill>
                <a:latin typeface="Arial Narrow"/>
                <a:ea typeface="Arial Narrow"/>
                <a:cs typeface="Arial Narrow"/>
                <a:sym typeface="Arial Narrow"/>
              </a:rPr>
              <a:t>нод</a:t>
            </a:r>
            <a:endParaRPr lang="ru-RU" sz="3000" b="0" i="0" u="none" strike="noStrike" cap="none" dirty="0">
              <a:solidFill>
                <a:srgbClr val="253957"/>
              </a:solidFill>
              <a:latin typeface="Arial Narrow"/>
              <a:ea typeface="Arial Narrow"/>
              <a:cs typeface="Arial Narrow"/>
              <a:sym typeface="Arial Narrow"/>
            </a:endParaRPr>
          </a:p>
          <a:p>
            <a:pPr marL="0" marR="0" lvl="0" indent="0" algn="ctr" rtl="0">
              <a:lnSpc>
                <a:spcPct val="100000"/>
              </a:lnSpc>
              <a:spcBef>
                <a:spcPts val="0"/>
              </a:spcBef>
              <a:spcAft>
                <a:spcPts val="0"/>
              </a:spcAft>
              <a:buClr>
                <a:srgbClr val="253957"/>
              </a:buClr>
              <a:buSzPts val="3000"/>
              <a:buFont typeface="Arial Narrow"/>
              <a:buNone/>
            </a:pPr>
            <a:endParaRPr sz="1400" b="0" i="0" u="none" strike="noStrike" cap="none" dirty="0">
              <a:solidFill>
                <a:srgbClr val="000000"/>
              </a:solidFill>
              <a:latin typeface="Arial"/>
              <a:ea typeface="Arial"/>
              <a:cs typeface="Arial"/>
              <a:sym typeface="Arial"/>
            </a:endParaRPr>
          </a:p>
        </p:txBody>
      </p:sp>
      <p:sp>
        <p:nvSpPr>
          <p:cNvPr id="83" name="Google Shape;83;p3"/>
          <p:cNvSpPr txBox="1"/>
          <p:nvPr/>
        </p:nvSpPr>
        <p:spPr>
          <a:xfrm>
            <a:off x="2848681" y="601505"/>
            <a:ext cx="8745300" cy="3795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53957"/>
              </a:buClr>
              <a:buSzPts val="1800"/>
              <a:buFont typeface="Arial Narrow"/>
              <a:buNone/>
            </a:pPr>
            <a:r>
              <a:rPr lang="ru-RU" sz="1800" b="0" i="0" u="none" strike="noStrike" cap="none">
                <a:solidFill>
                  <a:srgbClr val="253957"/>
                </a:solidFill>
                <a:latin typeface="Arial Narrow"/>
                <a:ea typeface="Arial Narrow"/>
                <a:cs typeface="Arial Narrow"/>
                <a:sym typeface="Arial Narrow"/>
              </a:rPr>
              <a:t>МИЭМ НИУ ВШЭ</a:t>
            </a:r>
            <a:endParaRPr sz="1800" b="0" i="0" u="none" strike="noStrike" cap="none">
              <a:solidFill>
                <a:srgbClr val="253957"/>
              </a:solidFill>
              <a:latin typeface="Arial Narrow"/>
              <a:ea typeface="Arial Narrow"/>
              <a:cs typeface="Arial Narrow"/>
              <a:sym typeface="Arial Narrow"/>
            </a:endParaRPr>
          </a:p>
        </p:txBody>
      </p:sp>
      <p:pic>
        <p:nvPicPr>
          <p:cNvPr id="84" name="Google Shape;84;p3" descr="Изображение"/>
          <p:cNvPicPr preferRelativeResize="0"/>
          <p:nvPr/>
        </p:nvPicPr>
        <p:blipFill rotWithShape="1">
          <a:blip r:embed="rId3">
            <a:alphaModFix/>
          </a:blip>
          <a:srcRect/>
          <a:stretch/>
        </p:blipFill>
        <p:spPr>
          <a:xfrm>
            <a:off x="805562" y="416839"/>
            <a:ext cx="853034" cy="853034"/>
          </a:xfrm>
          <a:prstGeom prst="rect">
            <a:avLst/>
          </a:prstGeom>
          <a:noFill/>
          <a:ln>
            <a:noFill/>
          </a:ln>
        </p:spPr>
      </p:pic>
      <p:pic>
        <p:nvPicPr>
          <p:cNvPr id="3" name="Рисунок 2">
            <a:extLst>
              <a:ext uri="{FF2B5EF4-FFF2-40B4-BE49-F238E27FC236}">
                <a16:creationId xmlns:a16="http://schemas.microsoft.com/office/drawing/2014/main" id="{D702B644-1A42-A565-BDFF-C712E93B575E}"/>
              </a:ext>
            </a:extLst>
          </p:cNvPr>
          <p:cNvPicPr>
            <a:picLocks noChangeAspect="1"/>
          </p:cNvPicPr>
          <p:nvPr/>
        </p:nvPicPr>
        <p:blipFill>
          <a:blip r:embed="rId4"/>
          <a:stretch>
            <a:fillRect/>
          </a:stretch>
        </p:blipFill>
        <p:spPr>
          <a:xfrm>
            <a:off x="682961" y="1879728"/>
            <a:ext cx="7342413" cy="5120679"/>
          </a:xfrm>
          <a:prstGeom prst="rect">
            <a:avLst/>
          </a:prstGeom>
        </p:spPr>
      </p:pic>
      <p:sp>
        <p:nvSpPr>
          <p:cNvPr id="8" name="TextBox 7">
            <a:extLst>
              <a:ext uri="{FF2B5EF4-FFF2-40B4-BE49-F238E27FC236}">
                <a16:creationId xmlns:a16="http://schemas.microsoft.com/office/drawing/2014/main" id="{CE32C3BE-7397-2C13-11AF-F141AA8A1EF5}"/>
              </a:ext>
            </a:extLst>
          </p:cNvPr>
          <p:cNvSpPr txBox="1"/>
          <p:nvPr/>
        </p:nvSpPr>
        <p:spPr>
          <a:xfrm>
            <a:off x="8265685" y="2157094"/>
            <a:ext cx="3471613" cy="1631216"/>
          </a:xfrm>
          <a:prstGeom prst="rect">
            <a:avLst/>
          </a:prstGeom>
          <a:noFill/>
        </p:spPr>
        <p:txBody>
          <a:bodyPr wrap="square">
            <a:spAutoFit/>
          </a:bodyPr>
          <a:lstStyle/>
          <a:p>
            <a:r>
              <a:rPr lang="en" sz="2000" dirty="0" err="1"/>
              <a:t>population_size</a:t>
            </a:r>
            <a:r>
              <a:rPr lang="en" sz="2000" dirty="0"/>
              <a:t> = 400</a:t>
            </a:r>
          </a:p>
          <a:p>
            <a:r>
              <a:rPr lang="en" sz="2000" dirty="0"/>
              <a:t>generations = 600</a:t>
            </a:r>
          </a:p>
          <a:p>
            <a:r>
              <a:rPr lang="en" sz="2000" dirty="0" err="1"/>
              <a:t>elite_size</a:t>
            </a:r>
            <a:r>
              <a:rPr lang="en" sz="2000" dirty="0"/>
              <a:t> = 100</a:t>
            </a:r>
          </a:p>
          <a:p>
            <a:r>
              <a:rPr lang="en" sz="2000" dirty="0" err="1"/>
              <a:t>mutation_rate</a:t>
            </a:r>
            <a:r>
              <a:rPr lang="en" sz="2000" dirty="0"/>
              <a:t> = 0.35 </a:t>
            </a:r>
            <a:endParaRPr lang="ru-RU" sz="2000" dirty="0"/>
          </a:p>
          <a:p>
            <a:r>
              <a:rPr lang="en" sz="2000" dirty="0"/>
              <a:t>ANSWER:  11.6 %</a:t>
            </a:r>
          </a:p>
        </p:txBody>
      </p:sp>
      <p:sp>
        <p:nvSpPr>
          <p:cNvPr id="10" name="TextBox 9">
            <a:extLst>
              <a:ext uri="{FF2B5EF4-FFF2-40B4-BE49-F238E27FC236}">
                <a16:creationId xmlns:a16="http://schemas.microsoft.com/office/drawing/2014/main" id="{ECBD99E3-0DF9-58E8-4691-13308A60A7F3}"/>
              </a:ext>
            </a:extLst>
          </p:cNvPr>
          <p:cNvSpPr txBox="1"/>
          <p:nvPr/>
        </p:nvSpPr>
        <p:spPr>
          <a:xfrm>
            <a:off x="8265685" y="3996273"/>
            <a:ext cx="6505730" cy="1631216"/>
          </a:xfrm>
          <a:prstGeom prst="rect">
            <a:avLst/>
          </a:prstGeom>
          <a:noFill/>
        </p:spPr>
        <p:txBody>
          <a:bodyPr wrap="square">
            <a:spAutoFit/>
          </a:bodyPr>
          <a:lstStyle/>
          <a:p>
            <a:r>
              <a:rPr lang="en" sz="2000" dirty="0" err="1"/>
              <a:t>population_size</a:t>
            </a:r>
            <a:r>
              <a:rPr lang="en" sz="2000" dirty="0"/>
              <a:t> = 450</a:t>
            </a:r>
          </a:p>
          <a:p>
            <a:r>
              <a:rPr lang="en" sz="2000" dirty="0"/>
              <a:t>generations = 800</a:t>
            </a:r>
          </a:p>
          <a:p>
            <a:r>
              <a:rPr lang="en" sz="2000" dirty="0" err="1"/>
              <a:t>elite_size</a:t>
            </a:r>
            <a:r>
              <a:rPr lang="en" sz="2000" dirty="0"/>
              <a:t> = 200</a:t>
            </a:r>
          </a:p>
          <a:p>
            <a:r>
              <a:rPr lang="en" sz="2000" dirty="0" err="1"/>
              <a:t>mutation_rate</a:t>
            </a:r>
            <a:r>
              <a:rPr lang="en" sz="2000" dirty="0"/>
              <a:t> = 0.35 time </a:t>
            </a:r>
          </a:p>
          <a:p>
            <a:r>
              <a:rPr lang="en" sz="2000" dirty="0"/>
              <a:t>ANSWER: 0.102441</a:t>
            </a:r>
          </a:p>
        </p:txBody>
      </p:sp>
      <p:sp>
        <p:nvSpPr>
          <p:cNvPr id="12" name="TextBox 11">
            <a:extLst>
              <a:ext uri="{FF2B5EF4-FFF2-40B4-BE49-F238E27FC236}">
                <a16:creationId xmlns:a16="http://schemas.microsoft.com/office/drawing/2014/main" id="{9A11F8B4-4BC6-63F4-0127-2B176483160C}"/>
              </a:ext>
            </a:extLst>
          </p:cNvPr>
          <p:cNvSpPr txBox="1"/>
          <p:nvPr/>
        </p:nvSpPr>
        <p:spPr>
          <a:xfrm>
            <a:off x="8265685" y="5835452"/>
            <a:ext cx="7390150" cy="1631216"/>
          </a:xfrm>
          <a:prstGeom prst="rect">
            <a:avLst/>
          </a:prstGeom>
          <a:noFill/>
        </p:spPr>
        <p:txBody>
          <a:bodyPr wrap="square">
            <a:spAutoFit/>
          </a:bodyPr>
          <a:lstStyle/>
          <a:p>
            <a:r>
              <a:rPr lang="en" sz="2000" dirty="0" err="1"/>
              <a:t>population_size</a:t>
            </a:r>
            <a:r>
              <a:rPr lang="en" sz="2000" dirty="0"/>
              <a:t> = 300</a:t>
            </a:r>
          </a:p>
          <a:p>
            <a:r>
              <a:rPr lang="en" sz="2000" dirty="0"/>
              <a:t>generations = 600</a:t>
            </a:r>
          </a:p>
          <a:p>
            <a:r>
              <a:rPr lang="en" sz="2000" dirty="0" err="1"/>
              <a:t>elite_size</a:t>
            </a:r>
            <a:r>
              <a:rPr lang="en" sz="2000" dirty="0"/>
              <a:t> = 100</a:t>
            </a:r>
          </a:p>
          <a:p>
            <a:r>
              <a:rPr lang="en" sz="2000" dirty="0" err="1"/>
              <a:t>mutation_rate</a:t>
            </a:r>
            <a:r>
              <a:rPr lang="en" sz="2000" dirty="0"/>
              <a:t> = 0.3 time</a:t>
            </a:r>
          </a:p>
          <a:p>
            <a:r>
              <a:rPr lang="en" sz="2000" dirty="0"/>
              <a:t>ANSWER: 0.126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cxnSp>
        <p:nvCxnSpPr>
          <p:cNvPr id="99" name="Google Shape;99;g1fb41790917_0_4"/>
          <p:cNvCxnSpPr/>
          <p:nvPr/>
        </p:nvCxnSpPr>
        <p:spPr>
          <a:xfrm>
            <a:off x="787400" y="1574800"/>
            <a:ext cx="11430000" cy="0"/>
          </a:xfrm>
          <a:prstGeom prst="straightConnector1">
            <a:avLst/>
          </a:prstGeom>
          <a:noFill/>
          <a:ln w="12700" cap="flat" cmpd="sng">
            <a:solidFill>
              <a:srgbClr val="253957"/>
            </a:solidFill>
            <a:prstDash val="solid"/>
            <a:miter lim="400000"/>
            <a:headEnd type="none" w="sm" len="sm"/>
            <a:tailEnd type="none" w="sm" len="sm"/>
          </a:ln>
        </p:spPr>
      </p:cxnSp>
      <p:sp>
        <p:nvSpPr>
          <p:cNvPr id="100" name="Google Shape;100;g1fb41790917_0_4"/>
          <p:cNvSpPr txBox="1"/>
          <p:nvPr/>
        </p:nvSpPr>
        <p:spPr>
          <a:xfrm>
            <a:off x="682961" y="981006"/>
            <a:ext cx="11430000" cy="687900"/>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253957"/>
              </a:buClr>
              <a:buSzPts val="3000"/>
              <a:buFont typeface="Arial Narrow"/>
              <a:buNone/>
            </a:pPr>
            <a:r>
              <a:rPr lang="ru-RU" sz="3000" b="0" i="0" u="none" strike="noStrike" cap="none" dirty="0">
                <a:solidFill>
                  <a:srgbClr val="253957"/>
                </a:solidFill>
                <a:latin typeface="Arial Narrow"/>
                <a:ea typeface="Arial Narrow"/>
                <a:cs typeface="Arial Narrow"/>
                <a:sym typeface="Arial Narrow"/>
              </a:rPr>
              <a:t>Отклонения от размера выборки</a:t>
            </a:r>
          </a:p>
          <a:p>
            <a:pPr marL="0" marR="0" lvl="0" indent="0" algn="ctr" rtl="0">
              <a:lnSpc>
                <a:spcPct val="100000"/>
              </a:lnSpc>
              <a:spcBef>
                <a:spcPts val="0"/>
              </a:spcBef>
              <a:spcAft>
                <a:spcPts val="0"/>
              </a:spcAft>
              <a:buClr>
                <a:srgbClr val="253957"/>
              </a:buClr>
              <a:buSzPts val="3000"/>
              <a:buFont typeface="Arial Narrow"/>
              <a:buNone/>
            </a:pPr>
            <a:endParaRPr sz="1400" b="0" i="0" u="none" strike="noStrike" cap="none" dirty="0">
              <a:solidFill>
                <a:srgbClr val="000000"/>
              </a:solidFill>
              <a:latin typeface="Arial"/>
              <a:ea typeface="Arial"/>
              <a:cs typeface="Arial"/>
              <a:sym typeface="Arial"/>
            </a:endParaRPr>
          </a:p>
        </p:txBody>
      </p:sp>
      <p:sp>
        <p:nvSpPr>
          <p:cNvPr id="101" name="Google Shape;101;g1fb41790917_0_4"/>
          <p:cNvSpPr txBox="1"/>
          <p:nvPr/>
        </p:nvSpPr>
        <p:spPr>
          <a:xfrm>
            <a:off x="2848681" y="601505"/>
            <a:ext cx="8745300" cy="3795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53957"/>
              </a:buClr>
              <a:buSzPts val="1800"/>
              <a:buFont typeface="Arial Narrow"/>
              <a:buNone/>
            </a:pPr>
            <a:r>
              <a:rPr lang="ru-RU" sz="1800" b="0" i="0" u="none" strike="noStrike" cap="none" dirty="0">
                <a:solidFill>
                  <a:srgbClr val="253957"/>
                </a:solidFill>
                <a:latin typeface="Arial Narrow"/>
                <a:ea typeface="Arial Narrow"/>
                <a:cs typeface="Arial Narrow"/>
                <a:sym typeface="Arial Narrow"/>
              </a:rPr>
              <a:t>МИЭМ НИУ ВШЭ</a:t>
            </a:r>
            <a:endParaRPr sz="1800" b="0" i="0" u="none" strike="noStrike" cap="none" dirty="0">
              <a:solidFill>
                <a:srgbClr val="253957"/>
              </a:solidFill>
              <a:latin typeface="Arial Narrow"/>
              <a:ea typeface="Arial Narrow"/>
              <a:cs typeface="Arial Narrow"/>
              <a:sym typeface="Arial Narrow"/>
            </a:endParaRPr>
          </a:p>
        </p:txBody>
      </p:sp>
      <p:pic>
        <p:nvPicPr>
          <p:cNvPr id="102" name="Google Shape;102;g1fb41790917_0_4" descr="Изображение"/>
          <p:cNvPicPr preferRelativeResize="0"/>
          <p:nvPr/>
        </p:nvPicPr>
        <p:blipFill rotWithShape="1">
          <a:blip r:embed="rId3">
            <a:alphaModFix/>
          </a:blip>
          <a:srcRect/>
          <a:stretch/>
        </p:blipFill>
        <p:spPr>
          <a:xfrm>
            <a:off x="805562" y="416839"/>
            <a:ext cx="853034" cy="853034"/>
          </a:xfrm>
          <a:prstGeom prst="rect">
            <a:avLst/>
          </a:prstGeom>
          <a:noFill/>
          <a:ln>
            <a:noFill/>
          </a:ln>
        </p:spPr>
      </p:pic>
      <p:sp>
        <p:nvSpPr>
          <p:cNvPr id="103" name="Google Shape;103;g1fb41790917_0_4"/>
          <p:cNvSpPr txBox="1"/>
          <p:nvPr/>
        </p:nvSpPr>
        <p:spPr>
          <a:xfrm>
            <a:off x="787400" y="1361523"/>
            <a:ext cx="12048000" cy="2106300"/>
          </a:xfrm>
          <a:prstGeom prst="rect">
            <a:avLst/>
          </a:prstGeom>
          <a:noFill/>
          <a:ln>
            <a:noFill/>
          </a:ln>
        </p:spPr>
        <p:txBody>
          <a:bodyPr spcFirstLastPara="1" wrap="square" lIns="91425" tIns="91425" rIns="91425" bIns="91425" anchor="t" anchorCtr="0">
            <a:noAutofit/>
          </a:bodyPr>
          <a:lstStyle/>
          <a:p>
            <a:pPr marL="101600" lvl="0" algn="ctr" rtl="0">
              <a:lnSpc>
                <a:spcPct val="156000"/>
              </a:lnSpc>
              <a:spcBef>
                <a:spcPts val="1000"/>
              </a:spcBef>
              <a:spcAft>
                <a:spcPts val="0"/>
              </a:spcAft>
              <a:buClr>
                <a:srgbClr val="222222"/>
              </a:buClr>
              <a:buSzPts val="2000"/>
            </a:pPr>
            <a:r>
              <a:rPr lang="ru-RU" sz="2400" dirty="0">
                <a:solidFill>
                  <a:schemeClr val="dk1"/>
                </a:solidFill>
                <a:highlight>
                  <a:srgbClr val="FFFFFF"/>
                </a:highlight>
                <a:latin typeface="Helvetica Neue"/>
                <a:ea typeface="Helvetica Neue"/>
                <a:cs typeface="Helvetica Neue"/>
                <a:sym typeface="Helvetica Neue"/>
              </a:rPr>
              <a:t>А как вообще размер влияет на отклонения?</a:t>
            </a:r>
            <a:endParaRPr sz="2400" dirty="0">
              <a:latin typeface="Helvetica Neue Light"/>
              <a:ea typeface="Helvetica Neue Light"/>
              <a:cs typeface="Helvetica Neue Light"/>
              <a:sym typeface="Helvetica Neue Light"/>
            </a:endParaRPr>
          </a:p>
        </p:txBody>
      </p:sp>
      <p:pic>
        <p:nvPicPr>
          <p:cNvPr id="4" name="Рисунок 3">
            <a:extLst>
              <a:ext uri="{FF2B5EF4-FFF2-40B4-BE49-F238E27FC236}">
                <a16:creationId xmlns:a16="http://schemas.microsoft.com/office/drawing/2014/main" id="{A178384A-1A31-1462-1114-13CC47F28B34}"/>
              </a:ext>
            </a:extLst>
          </p:cNvPr>
          <p:cNvPicPr>
            <a:picLocks noChangeAspect="1"/>
          </p:cNvPicPr>
          <p:nvPr/>
        </p:nvPicPr>
        <p:blipFill>
          <a:blip r:embed="rId4"/>
          <a:stretch>
            <a:fillRect/>
          </a:stretch>
        </p:blipFill>
        <p:spPr>
          <a:xfrm>
            <a:off x="169400" y="2318065"/>
            <a:ext cx="4834742" cy="3678608"/>
          </a:xfrm>
          <a:prstGeom prst="rect">
            <a:avLst/>
          </a:prstGeom>
        </p:spPr>
      </p:pic>
      <p:pic>
        <p:nvPicPr>
          <p:cNvPr id="5" name="Рисунок 4">
            <a:extLst>
              <a:ext uri="{FF2B5EF4-FFF2-40B4-BE49-F238E27FC236}">
                <a16:creationId xmlns:a16="http://schemas.microsoft.com/office/drawing/2014/main" id="{284BD900-531D-434B-B7F3-1F965C0B63D6}"/>
              </a:ext>
            </a:extLst>
          </p:cNvPr>
          <p:cNvPicPr>
            <a:picLocks noChangeAspect="1"/>
          </p:cNvPicPr>
          <p:nvPr/>
        </p:nvPicPr>
        <p:blipFill>
          <a:blip r:embed="rId5"/>
          <a:stretch>
            <a:fillRect/>
          </a:stretch>
        </p:blipFill>
        <p:spPr>
          <a:xfrm>
            <a:off x="7328679" y="2233072"/>
            <a:ext cx="5044948" cy="3678608"/>
          </a:xfrm>
          <a:prstGeom prst="rect">
            <a:avLst/>
          </a:prstGeom>
        </p:spPr>
      </p:pic>
      <p:pic>
        <p:nvPicPr>
          <p:cNvPr id="6" name="Рисунок 5">
            <a:extLst>
              <a:ext uri="{FF2B5EF4-FFF2-40B4-BE49-F238E27FC236}">
                <a16:creationId xmlns:a16="http://schemas.microsoft.com/office/drawing/2014/main" id="{5D24E41D-E085-B174-4E61-D165613569C8}"/>
              </a:ext>
            </a:extLst>
          </p:cNvPr>
          <p:cNvPicPr>
            <a:picLocks noChangeAspect="1"/>
          </p:cNvPicPr>
          <p:nvPr/>
        </p:nvPicPr>
        <p:blipFill>
          <a:blip r:embed="rId6"/>
          <a:stretch>
            <a:fillRect/>
          </a:stretch>
        </p:blipFill>
        <p:spPr>
          <a:xfrm>
            <a:off x="4062869" y="6102129"/>
            <a:ext cx="4879062" cy="34161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4C9143A1-9F4F-FAC3-49A8-508CAE0604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ru-RU" smtClean="0"/>
              <a:t>5</a:t>
            </a:fld>
            <a:endParaRPr lang="ru-RU"/>
          </a:p>
        </p:txBody>
      </p:sp>
      <p:pic>
        <p:nvPicPr>
          <p:cNvPr id="3" name="Google Shape;102;g1fb41790917_0_4" descr="Изображение">
            <a:extLst>
              <a:ext uri="{FF2B5EF4-FFF2-40B4-BE49-F238E27FC236}">
                <a16:creationId xmlns:a16="http://schemas.microsoft.com/office/drawing/2014/main" id="{EB9B502D-CFD2-E1A2-B4AF-F50025B88C0F}"/>
              </a:ext>
            </a:extLst>
          </p:cNvPr>
          <p:cNvPicPr preferRelativeResize="0"/>
          <p:nvPr/>
        </p:nvPicPr>
        <p:blipFill rotWithShape="1">
          <a:blip r:embed="rId2">
            <a:alphaModFix/>
          </a:blip>
          <a:srcRect/>
          <a:stretch/>
        </p:blipFill>
        <p:spPr>
          <a:xfrm>
            <a:off x="805562" y="416839"/>
            <a:ext cx="853034" cy="853034"/>
          </a:xfrm>
          <a:prstGeom prst="rect">
            <a:avLst/>
          </a:prstGeom>
          <a:noFill/>
          <a:ln>
            <a:noFill/>
          </a:ln>
        </p:spPr>
      </p:pic>
      <p:sp>
        <p:nvSpPr>
          <p:cNvPr id="5" name="Google Shape;101;g1fb41790917_0_4">
            <a:extLst>
              <a:ext uri="{FF2B5EF4-FFF2-40B4-BE49-F238E27FC236}">
                <a16:creationId xmlns:a16="http://schemas.microsoft.com/office/drawing/2014/main" id="{54D034AA-9B5D-0563-7344-4DE1E62B4AE2}"/>
              </a:ext>
            </a:extLst>
          </p:cNvPr>
          <p:cNvSpPr txBox="1"/>
          <p:nvPr/>
        </p:nvSpPr>
        <p:spPr>
          <a:xfrm>
            <a:off x="2848681" y="601505"/>
            <a:ext cx="8745300" cy="3795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53957"/>
              </a:buClr>
              <a:buSzPts val="1800"/>
              <a:buFont typeface="Arial Narrow"/>
              <a:buNone/>
            </a:pPr>
            <a:r>
              <a:rPr lang="ru-RU" sz="1800" b="0" i="0" u="none" strike="noStrike" cap="none" dirty="0">
                <a:solidFill>
                  <a:srgbClr val="253957"/>
                </a:solidFill>
                <a:latin typeface="Arial Narrow"/>
                <a:ea typeface="Arial Narrow"/>
                <a:cs typeface="Arial Narrow"/>
                <a:sym typeface="Arial Narrow"/>
              </a:rPr>
              <a:t>МИЭМ НИУ ВШЭ</a:t>
            </a:r>
            <a:endParaRPr sz="1800" b="0" i="0" u="none" strike="noStrike" cap="none" dirty="0">
              <a:solidFill>
                <a:srgbClr val="253957"/>
              </a:solidFill>
              <a:latin typeface="Arial Narrow"/>
              <a:ea typeface="Arial Narrow"/>
              <a:cs typeface="Arial Narrow"/>
              <a:sym typeface="Arial Narrow"/>
            </a:endParaRPr>
          </a:p>
        </p:txBody>
      </p:sp>
      <p:sp>
        <p:nvSpPr>
          <p:cNvPr id="6" name="Google Shape;100;g1fb41790917_0_4">
            <a:extLst>
              <a:ext uri="{FF2B5EF4-FFF2-40B4-BE49-F238E27FC236}">
                <a16:creationId xmlns:a16="http://schemas.microsoft.com/office/drawing/2014/main" id="{351F0374-32F8-2311-B542-828163E13B74}"/>
              </a:ext>
            </a:extLst>
          </p:cNvPr>
          <p:cNvSpPr txBox="1"/>
          <p:nvPr/>
        </p:nvSpPr>
        <p:spPr>
          <a:xfrm>
            <a:off x="682961" y="981006"/>
            <a:ext cx="11430000" cy="687900"/>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253957"/>
              </a:buClr>
              <a:buSzPts val="3000"/>
              <a:buFont typeface="Arial Narrow"/>
              <a:buNone/>
            </a:pPr>
            <a:r>
              <a:rPr lang="ru-RU" sz="3000" b="0" i="0" u="none" strike="noStrike" cap="none" dirty="0">
                <a:solidFill>
                  <a:srgbClr val="253957"/>
                </a:solidFill>
                <a:latin typeface="Arial Narrow"/>
                <a:ea typeface="Arial Narrow"/>
                <a:cs typeface="Arial Narrow"/>
                <a:sym typeface="Arial Narrow"/>
              </a:rPr>
              <a:t>Немного красивых решений</a:t>
            </a:r>
            <a:endParaRPr sz="1400" b="0" i="0" u="none" strike="noStrike" cap="none" dirty="0">
              <a:solidFill>
                <a:srgbClr val="000000"/>
              </a:solidFill>
              <a:latin typeface="Arial"/>
              <a:ea typeface="Arial"/>
              <a:cs typeface="Arial"/>
              <a:sym typeface="Arial"/>
            </a:endParaRPr>
          </a:p>
        </p:txBody>
      </p:sp>
      <p:cxnSp>
        <p:nvCxnSpPr>
          <p:cNvPr id="9" name="Google Shape;99;g1fb41790917_0_4">
            <a:extLst>
              <a:ext uri="{FF2B5EF4-FFF2-40B4-BE49-F238E27FC236}">
                <a16:creationId xmlns:a16="http://schemas.microsoft.com/office/drawing/2014/main" id="{FDA3C462-D1AB-EF4C-7B67-F8FB31F81D9D}"/>
              </a:ext>
            </a:extLst>
          </p:cNvPr>
          <p:cNvCxnSpPr/>
          <p:nvPr/>
        </p:nvCxnSpPr>
        <p:spPr>
          <a:xfrm>
            <a:off x="787400" y="1574800"/>
            <a:ext cx="11430000" cy="0"/>
          </a:xfrm>
          <a:prstGeom prst="straightConnector1">
            <a:avLst/>
          </a:prstGeom>
          <a:noFill/>
          <a:ln w="12700" cap="flat" cmpd="sng">
            <a:solidFill>
              <a:srgbClr val="253957"/>
            </a:solidFill>
            <a:prstDash val="solid"/>
            <a:miter lim="400000"/>
            <a:headEnd type="none" w="sm" len="sm"/>
            <a:tailEnd type="none" w="sm" len="sm"/>
          </a:ln>
        </p:spPr>
      </p:cxnSp>
      <p:pic>
        <p:nvPicPr>
          <p:cNvPr id="4" name="Рисунок 3">
            <a:extLst>
              <a:ext uri="{FF2B5EF4-FFF2-40B4-BE49-F238E27FC236}">
                <a16:creationId xmlns:a16="http://schemas.microsoft.com/office/drawing/2014/main" id="{8569D0C4-60CB-0BF7-70FE-51D7D30E0435}"/>
              </a:ext>
            </a:extLst>
          </p:cNvPr>
          <p:cNvPicPr>
            <a:picLocks noChangeAspect="1"/>
          </p:cNvPicPr>
          <p:nvPr/>
        </p:nvPicPr>
        <p:blipFill>
          <a:blip r:embed="rId3"/>
          <a:stretch>
            <a:fillRect/>
          </a:stretch>
        </p:blipFill>
        <p:spPr>
          <a:xfrm>
            <a:off x="682961" y="1973833"/>
            <a:ext cx="4083037" cy="3213083"/>
          </a:xfrm>
          <a:prstGeom prst="rect">
            <a:avLst/>
          </a:prstGeom>
        </p:spPr>
      </p:pic>
      <p:pic>
        <p:nvPicPr>
          <p:cNvPr id="7" name="Рисунок 6">
            <a:extLst>
              <a:ext uri="{FF2B5EF4-FFF2-40B4-BE49-F238E27FC236}">
                <a16:creationId xmlns:a16="http://schemas.microsoft.com/office/drawing/2014/main" id="{34424F42-7B38-52ED-739F-B679A2FAE825}"/>
              </a:ext>
            </a:extLst>
          </p:cNvPr>
          <p:cNvPicPr>
            <a:picLocks noChangeAspect="1"/>
          </p:cNvPicPr>
          <p:nvPr/>
        </p:nvPicPr>
        <p:blipFill>
          <a:blip r:embed="rId4"/>
          <a:stretch>
            <a:fillRect/>
          </a:stretch>
        </p:blipFill>
        <p:spPr>
          <a:xfrm>
            <a:off x="805563" y="5939012"/>
            <a:ext cx="4052702" cy="3213083"/>
          </a:xfrm>
          <a:prstGeom prst="rect">
            <a:avLst/>
          </a:prstGeom>
        </p:spPr>
      </p:pic>
      <p:pic>
        <p:nvPicPr>
          <p:cNvPr id="8" name="Рисунок 7">
            <a:extLst>
              <a:ext uri="{FF2B5EF4-FFF2-40B4-BE49-F238E27FC236}">
                <a16:creationId xmlns:a16="http://schemas.microsoft.com/office/drawing/2014/main" id="{CC3B6FAE-2E1F-E098-7393-C1280D18BDD5}"/>
              </a:ext>
            </a:extLst>
          </p:cNvPr>
          <p:cNvPicPr>
            <a:picLocks noChangeAspect="1"/>
          </p:cNvPicPr>
          <p:nvPr/>
        </p:nvPicPr>
        <p:blipFill>
          <a:blip r:embed="rId5"/>
          <a:stretch>
            <a:fillRect/>
          </a:stretch>
        </p:blipFill>
        <p:spPr>
          <a:xfrm>
            <a:off x="7008318" y="1829920"/>
            <a:ext cx="4334035" cy="3500907"/>
          </a:xfrm>
          <a:prstGeom prst="rect">
            <a:avLst/>
          </a:prstGeom>
        </p:spPr>
      </p:pic>
      <p:pic>
        <p:nvPicPr>
          <p:cNvPr id="14" name="Рисунок 13">
            <a:extLst>
              <a:ext uri="{FF2B5EF4-FFF2-40B4-BE49-F238E27FC236}">
                <a16:creationId xmlns:a16="http://schemas.microsoft.com/office/drawing/2014/main" id="{2897A874-2F2F-2D25-9223-88A98D92E071}"/>
              </a:ext>
            </a:extLst>
          </p:cNvPr>
          <p:cNvPicPr>
            <a:picLocks noChangeAspect="1"/>
          </p:cNvPicPr>
          <p:nvPr/>
        </p:nvPicPr>
        <p:blipFill>
          <a:blip r:embed="rId6"/>
          <a:stretch>
            <a:fillRect/>
          </a:stretch>
        </p:blipFill>
        <p:spPr>
          <a:xfrm>
            <a:off x="6923271" y="5657543"/>
            <a:ext cx="4504128" cy="3594407"/>
          </a:xfrm>
          <a:prstGeom prst="rect">
            <a:avLst/>
          </a:prstGeom>
        </p:spPr>
      </p:pic>
    </p:spTree>
    <p:extLst>
      <p:ext uri="{BB962C8B-B14F-4D97-AF65-F5344CB8AC3E}">
        <p14:creationId xmlns:p14="http://schemas.microsoft.com/office/powerpoint/2010/main" val="4265352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4C9143A1-9F4F-FAC3-49A8-508CAE0604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ru-RU" smtClean="0"/>
              <a:t>6</a:t>
            </a:fld>
            <a:endParaRPr lang="ru-RU"/>
          </a:p>
        </p:txBody>
      </p:sp>
      <p:pic>
        <p:nvPicPr>
          <p:cNvPr id="3" name="Google Shape;102;g1fb41790917_0_4" descr="Изображение">
            <a:extLst>
              <a:ext uri="{FF2B5EF4-FFF2-40B4-BE49-F238E27FC236}">
                <a16:creationId xmlns:a16="http://schemas.microsoft.com/office/drawing/2014/main" id="{EB9B502D-CFD2-E1A2-B4AF-F50025B88C0F}"/>
              </a:ext>
            </a:extLst>
          </p:cNvPr>
          <p:cNvPicPr preferRelativeResize="0"/>
          <p:nvPr/>
        </p:nvPicPr>
        <p:blipFill rotWithShape="1">
          <a:blip r:embed="rId2">
            <a:alphaModFix/>
          </a:blip>
          <a:srcRect/>
          <a:stretch/>
        </p:blipFill>
        <p:spPr>
          <a:xfrm>
            <a:off x="805562" y="416839"/>
            <a:ext cx="853034" cy="853034"/>
          </a:xfrm>
          <a:prstGeom prst="rect">
            <a:avLst/>
          </a:prstGeom>
          <a:noFill/>
          <a:ln>
            <a:noFill/>
          </a:ln>
        </p:spPr>
      </p:pic>
      <p:sp>
        <p:nvSpPr>
          <p:cNvPr id="5" name="Google Shape;101;g1fb41790917_0_4">
            <a:extLst>
              <a:ext uri="{FF2B5EF4-FFF2-40B4-BE49-F238E27FC236}">
                <a16:creationId xmlns:a16="http://schemas.microsoft.com/office/drawing/2014/main" id="{54D034AA-9B5D-0563-7344-4DE1E62B4AE2}"/>
              </a:ext>
            </a:extLst>
          </p:cNvPr>
          <p:cNvSpPr txBox="1"/>
          <p:nvPr/>
        </p:nvSpPr>
        <p:spPr>
          <a:xfrm>
            <a:off x="2848681" y="601505"/>
            <a:ext cx="8745300" cy="3795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53957"/>
              </a:buClr>
              <a:buSzPts val="1800"/>
              <a:buFont typeface="Arial Narrow"/>
              <a:buNone/>
            </a:pPr>
            <a:r>
              <a:rPr lang="ru-RU" sz="1800" b="0" i="0" u="none" strike="noStrike" cap="none" dirty="0">
                <a:solidFill>
                  <a:srgbClr val="253957"/>
                </a:solidFill>
                <a:latin typeface="Arial Narrow"/>
                <a:ea typeface="Arial Narrow"/>
                <a:cs typeface="Arial Narrow"/>
                <a:sym typeface="Arial Narrow"/>
              </a:rPr>
              <a:t>МИЭМ НИУ ВШЭ</a:t>
            </a:r>
            <a:endParaRPr sz="1800" b="0" i="0" u="none" strike="noStrike" cap="none" dirty="0">
              <a:solidFill>
                <a:srgbClr val="253957"/>
              </a:solidFill>
              <a:latin typeface="Arial Narrow"/>
              <a:ea typeface="Arial Narrow"/>
              <a:cs typeface="Arial Narrow"/>
              <a:sym typeface="Arial Narrow"/>
            </a:endParaRPr>
          </a:p>
        </p:txBody>
      </p:sp>
      <p:sp>
        <p:nvSpPr>
          <p:cNvPr id="6" name="Google Shape;100;g1fb41790917_0_4">
            <a:extLst>
              <a:ext uri="{FF2B5EF4-FFF2-40B4-BE49-F238E27FC236}">
                <a16:creationId xmlns:a16="http://schemas.microsoft.com/office/drawing/2014/main" id="{351F0374-32F8-2311-B542-828163E13B74}"/>
              </a:ext>
            </a:extLst>
          </p:cNvPr>
          <p:cNvSpPr txBox="1"/>
          <p:nvPr/>
        </p:nvSpPr>
        <p:spPr>
          <a:xfrm>
            <a:off x="682961" y="981006"/>
            <a:ext cx="11430000" cy="687900"/>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253957"/>
              </a:buClr>
              <a:buSzPts val="3000"/>
              <a:buFont typeface="Arial Narrow"/>
              <a:buNone/>
            </a:pPr>
            <a:r>
              <a:rPr lang="ru-RU" sz="3000" b="0" i="0" u="none" strike="noStrike" cap="none" dirty="0">
                <a:solidFill>
                  <a:srgbClr val="253957"/>
                </a:solidFill>
                <a:latin typeface="Arial Narrow"/>
                <a:ea typeface="Arial Narrow"/>
                <a:cs typeface="Arial Narrow"/>
                <a:sym typeface="Arial Narrow"/>
              </a:rPr>
              <a:t>Немного красивых(и не очень) решений</a:t>
            </a:r>
            <a:endParaRPr sz="1400" b="0" i="0" u="none" strike="noStrike" cap="none" dirty="0">
              <a:solidFill>
                <a:srgbClr val="000000"/>
              </a:solidFill>
              <a:latin typeface="Arial"/>
              <a:ea typeface="Arial"/>
              <a:cs typeface="Arial"/>
              <a:sym typeface="Arial"/>
            </a:endParaRPr>
          </a:p>
        </p:txBody>
      </p:sp>
      <p:cxnSp>
        <p:nvCxnSpPr>
          <p:cNvPr id="9" name="Google Shape;99;g1fb41790917_0_4">
            <a:extLst>
              <a:ext uri="{FF2B5EF4-FFF2-40B4-BE49-F238E27FC236}">
                <a16:creationId xmlns:a16="http://schemas.microsoft.com/office/drawing/2014/main" id="{FDA3C462-D1AB-EF4C-7B67-F8FB31F81D9D}"/>
              </a:ext>
            </a:extLst>
          </p:cNvPr>
          <p:cNvCxnSpPr/>
          <p:nvPr/>
        </p:nvCxnSpPr>
        <p:spPr>
          <a:xfrm>
            <a:off x="787400" y="1574800"/>
            <a:ext cx="11430000" cy="0"/>
          </a:xfrm>
          <a:prstGeom prst="straightConnector1">
            <a:avLst/>
          </a:prstGeom>
          <a:noFill/>
          <a:ln w="12700" cap="flat" cmpd="sng">
            <a:solidFill>
              <a:srgbClr val="253957"/>
            </a:solidFill>
            <a:prstDash val="solid"/>
            <a:miter lim="400000"/>
            <a:headEnd type="none" w="sm" len="sm"/>
            <a:tailEnd type="none" w="sm" len="sm"/>
          </a:ln>
        </p:spPr>
      </p:cxnSp>
      <p:pic>
        <p:nvPicPr>
          <p:cNvPr id="10" name="Рисунок 9">
            <a:extLst>
              <a:ext uri="{FF2B5EF4-FFF2-40B4-BE49-F238E27FC236}">
                <a16:creationId xmlns:a16="http://schemas.microsoft.com/office/drawing/2014/main" id="{AB2913D4-C743-C538-9C54-903CCE184E6F}"/>
              </a:ext>
            </a:extLst>
          </p:cNvPr>
          <p:cNvPicPr>
            <a:picLocks noChangeAspect="1"/>
          </p:cNvPicPr>
          <p:nvPr/>
        </p:nvPicPr>
        <p:blipFill>
          <a:blip r:embed="rId3"/>
          <a:stretch>
            <a:fillRect/>
          </a:stretch>
        </p:blipFill>
        <p:spPr>
          <a:xfrm>
            <a:off x="682961" y="1668906"/>
            <a:ext cx="4636213" cy="3737355"/>
          </a:xfrm>
          <a:prstGeom prst="rect">
            <a:avLst/>
          </a:prstGeom>
        </p:spPr>
      </p:pic>
      <p:pic>
        <p:nvPicPr>
          <p:cNvPr id="11" name="Рисунок 10">
            <a:extLst>
              <a:ext uri="{FF2B5EF4-FFF2-40B4-BE49-F238E27FC236}">
                <a16:creationId xmlns:a16="http://schemas.microsoft.com/office/drawing/2014/main" id="{841AC17D-24D3-0685-9B3E-51A3C730C5FD}"/>
              </a:ext>
            </a:extLst>
          </p:cNvPr>
          <p:cNvPicPr>
            <a:picLocks noChangeAspect="1"/>
          </p:cNvPicPr>
          <p:nvPr/>
        </p:nvPicPr>
        <p:blipFill>
          <a:blip r:embed="rId4"/>
          <a:stretch>
            <a:fillRect/>
          </a:stretch>
        </p:blipFill>
        <p:spPr>
          <a:xfrm>
            <a:off x="682961" y="5514595"/>
            <a:ext cx="4648389" cy="3737355"/>
          </a:xfrm>
          <a:prstGeom prst="rect">
            <a:avLst/>
          </a:prstGeom>
        </p:spPr>
      </p:pic>
      <p:pic>
        <p:nvPicPr>
          <p:cNvPr id="12" name="Рисунок 11">
            <a:extLst>
              <a:ext uri="{FF2B5EF4-FFF2-40B4-BE49-F238E27FC236}">
                <a16:creationId xmlns:a16="http://schemas.microsoft.com/office/drawing/2014/main" id="{F07FE9C4-9A2D-9D1C-7FD4-A55E7E01AA4B}"/>
              </a:ext>
            </a:extLst>
          </p:cNvPr>
          <p:cNvPicPr>
            <a:picLocks noChangeAspect="1"/>
          </p:cNvPicPr>
          <p:nvPr/>
        </p:nvPicPr>
        <p:blipFill>
          <a:blip r:embed="rId5"/>
          <a:stretch>
            <a:fillRect/>
          </a:stretch>
        </p:blipFill>
        <p:spPr>
          <a:xfrm>
            <a:off x="7458094" y="1668906"/>
            <a:ext cx="4654867" cy="3862335"/>
          </a:xfrm>
          <a:prstGeom prst="rect">
            <a:avLst/>
          </a:prstGeom>
        </p:spPr>
      </p:pic>
      <p:pic>
        <p:nvPicPr>
          <p:cNvPr id="13" name="Рисунок 12">
            <a:extLst>
              <a:ext uri="{FF2B5EF4-FFF2-40B4-BE49-F238E27FC236}">
                <a16:creationId xmlns:a16="http://schemas.microsoft.com/office/drawing/2014/main" id="{FABF039E-F0ED-28CD-22D9-551A7BE55A60}"/>
              </a:ext>
            </a:extLst>
          </p:cNvPr>
          <p:cNvPicPr>
            <a:picLocks noChangeAspect="1"/>
          </p:cNvPicPr>
          <p:nvPr/>
        </p:nvPicPr>
        <p:blipFill>
          <a:blip r:embed="rId6"/>
          <a:stretch>
            <a:fillRect/>
          </a:stretch>
        </p:blipFill>
        <p:spPr>
          <a:xfrm>
            <a:off x="7652807" y="5459386"/>
            <a:ext cx="4636213" cy="3871238"/>
          </a:xfrm>
          <a:prstGeom prst="rect">
            <a:avLst/>
          </a:prstGeom>
        </p:spPr>
      </p:pic>
    </p:spTree>
    <p:extLst>
      <p:ext uri="{BB962C8B-B14F-4D97-AF65-F5344CB8AC3E}">
        <p14:creationId xmlns:p14="http://schemas.microsoft.com/office/powerpoint/2010/main" val="2693513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cxnSp>
        <p:nvCxnSpPr>
          <p:cNvPr id="124" name="Google Shape;124;p4"/>
          <p:cNvCxnSpPr/>
          <p:nvPr/>
        </p:nvCxnSpPr>
        <p:spPr>
          <a:xfrm>
            <a:off x="787400" y="1574800"/>
            <a:ext cx="11430001" cy="0"/>
          </a:xfrm>
          <a:prstGeom prst="straightConnector1">
            <a:avLst/>
          </a:prstGeom>
          <a:noFill/>
          <a:ln w="12700" cap="flat" cmpd="sng">
            <a:solidFill>
              <a:srgbClr val="253957"/>
            </a:solidFill>
            <a:prstDash val="solid"/>
            <a:miter lim="400000"/>
            <a:headEnd type="none" w="sm" len="sm"/>
            <a:tailEnd type="none" w="sm" len="sm"/>
          </a:ln>
        </p:spPr>
      </p:cxnSp>
      <p:sp>
        <p:nvSpPr>
          <p:cNvPr id="125" name="Google Shape;125;p4"/>
          <p:cNvSpPr txBox="1"/>
          <p:nvPr/>
        </p:nvSpPr>
        <p:spPr>
          <a:xfrm>
            <a:off x="661661" y="981006"/>
            <a:ext cx="11430000" cy="687900"/>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253957"/>
              </a:buClr>
              <a:buSzPts val="3000"/>
              <a:buFont typeface="Arial Narrow"/>
              <a:buNone/>
            </a:pPr>
            <a:r>
              <a:rPr lang="ru-RU" sz="3000" dirty="0">
                <a:solidFill>
                  <a:srgbClr val="253957"/>
                </a:solidFill>
                <a:latin typeface="Arial Narrow"/>
                <a:ea typeface="Arial Narrow"/>
                <a:cs typeface="Arial Narrow"/>
                <a:sym typeface="Arial Narrow"/>
              </a:rPr>
              <a:t>Ожидаемые результаты</a:t>
            </a:r>
            <a:endParaRPr sz="1400" b="0" i="0" u="none" strike="noStrike" cap="none" dirty="0">
              <a:solidFill>
                <a:srgbClr val="000000"/>
              </a:solidFill>
              <a:latin typeface="Arial"/>
              <a:ea typeface="Arial"/>
              <a:cs typeface="Arial"/>
              <a:sym typeface="Arial"/>
            </a:endParaRPr>
          </a:p>
        </p:txBody>
      </p:sp>
      <p:sp>
        <p:nvSpPr>
          <p:cNvPr id="126" name="Google Shape;126;p4"/>
          <p:cNvSpPr txBox="1"/>
          <p:nvPr/>
        </p:nvSpPr>
        <p:spPr>
          <a:xfrm>
            <a:off x="2848681" y="601505"/>
            <a:ext cx="8745300" cy="3795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53957"/>
              </a:buClr>
              <a:buSzPts val="1800"/>
              <a:buFont typeface="Arial Narrow"/>
              <a:buNone/>
            </a:pPr>
            <a:r>
              <a:rPr lang="ru-RU" sz="1800" b="0" i="0" u="none" strike="noStrike" cap="none">
                <a:solidFill>
                  <a:srgbClr val="253957"/>
                </a:solidFill>
                <a:latin typeface="Arial Narrow"/>
                <a:ea typeface="Arial Narrow"/>
                <a:cs typeface="Arial Narrow"/>
                <a:sym typeface="Arial Narrow"/>
              </a:rPr>
              <a:t>МИЭМ НИУ ВШЭ</a:t>
            </a:r>
            <a:endParaRPr sz="1800" b="0" i="0" u="none" strike="noStrike" cap="none">
              <a:solidFill>
                <a:srgbClr val="253957"/>
              </a:solidFill>
              <a:latin typeface="Arial Narrow"/>
              <a:ea typeface="Arial Narrow"/>
              <a:cs typeface="Arial Narrow"/>
              <a:sym typeface="Arial Narrow"/>
            </a:endParaRPr>
          </a:p>
        </p:txBody>
      </p:sp>
      <p:pic>
        <p:nvPicPr>
          <p:cNvPr id="127" name="Google Shape;127;p4" descr="Изображение"/>
          <p:cNvPicPr preferRelativeResize="0"/>
          <p:nvPr/>
        </p:nvPicPr>
        <p:blipFill rotWithShape="1">
          <a:blip r:embed="rId3">
            <a:alphaModFix/>
          </a:blip>
          <a:srcRect/>
          <a:stretch/>
        </p:blipFill>
        <p:spPr>
          <a:xfrm>
            <a:off x="805562" y="416839"/>
            <a:ext cx="853034" cy="853034"/>
          </a:xfrm>
          <a:prstGeom prst="rect">
            <a:avLst/>
          </a:prstGeom>
          <a:noFill/>
          <a:ln>
            <a:noFill/>
          </a:ln>
        </p:spPr>
      </p:pic>
      <p:sp>
        <p:nvSpPr>
          <p:cNvPr id="128" name="Google Shape;128;p4"/>
          <p:cNvSpPr txBox="1"/>
          <p:nvPr/>
        </p:nvSpPr>
        <p:spPr>
          <a:xfrm>
            <a:off x="540300" y="2168602"/>
            <a:ext cx="11672700" cy="1363800"/>
          </a:xfrm>
          <a:prstGeom prst="rect">
            <a:avLst/>
          </a:prstGeom>
          <a:noFill/>
          <a:ln>
            <a:noFill/>
          </a:ln>
        </p:spPr>
        <p:txBody>
          <a:bodyPr spcFirstLastPara="1" wrap="square" lIns="91425" tIns="91425" rIns="91425" bIns="91425" anchor="t" anchorCtr="0">
            <a:noAutofit/>
          </a:bodyPr>
          <a:lstStyle/>
          <a:p>
            <a:pPr marL="457200" marR="0" lvl="0" indent="0" algn="just" rtl="0">
              <a:lnSpc>
                <a:spcPct val="115000"/>
              </a:lnSpc>
              <a:spcBef>
                <a:spcPts val="0"/>
              </a:spcBef>
              <a:spcAft>
                <a:spcPts val="0"/>
              </a:spcAft>
              <a:buNone/>
            </a:pPr>
            <a:r>
              <a:rPr lang="ru-RU" sz="2100" b="1" dirty="0">
                <a:solidFill>
                  <a:schemeClr val="dk1"/>
                </a:solidFill>
                <a:latin typeface="Helvetica Neue"/>
                <a:ea typeface="Helvetica Neue"/>
                <a:cs typeface="Helvetica Neue"/>
                <a:sym typeface="Helvetica Neue"/>
              </a:rPr>
              <a:t>Ожидаемый результат:</a:t>
            </a:r>
            <a:endParaRPr sz="2100" b="1" dirty="0">
              <a:solidFill>
                <a:schemeClr val="dk1"/>
              </a:solidFill>
              <a:latin typeface="Helvetica Neue"/>
              <a:ea typeface="Helvetica Neue"/>
              <a:cs typeface="Helvetica Neue"/>
              <a:sym typeface="Helvetica Neue"/>
            </a:endParaRPr>
          </a:p>
          <a:p>
            <a:pPr marL="457200" marR="0" lvl="0" indent="0" algn="just" rtl="0">
              <a:lnSpc>
                <a:spcPct val="115000"/>
              </a:lnSpc>
              <a:spcBef>
                <a:spcPts val="0"/>
              </a:spcBef>
              <a:spcAft>
                <a:spcPts val="0"/>
              </a:spcAft>
              <a:buNone/>
            </a:pPr>
            <a:r>
              <a:rPr lang="ru-RU" sz="2100" dirty="0">
                <a:solidFill>
                  <a:schemeClr val="dk1"/>
                </a:solidFill>
                <a:latin typeface="Helvetica Neue"/>
                <a:ea typeface="Helvetica Neue"/>
                <a:cs typeface="Helvetica Neue"/>
                <a:sym typeface="Helvetica Neue"/>
              </a:rPr>
              <a:t>Реализованный алгоритм (ссылка на гит) и наименьшее отклонение от результатов тестов.</a:t>
            </a:r>
            <a:endParaRPr sz="2100" dirty="0">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Clr>
                <a:srgbClr val="000000"/>
              </a:buClr>
              <a:buSzPts val="2100"/>
              <a:buFont typeface="Arial"/>
              <a:buNone/>
            </a:pPr>
            <a:endParaRPr sz="2100" b="0" i="0" u="none" strike="noStrike" cap="none" dirty="0">
              <a:solidFill>
                <a:srgbClr val="000000"/>
              </a:solidFill>
              <a:latin typeface="Helvetica Neue Light"/>
              <a:ea typeface="Helvetica Neue Light"/>
              <a:cs typeface="Helvetica Neue Light"/>
              <a:sym typeface="Helvetica Neue Light"/>
            </a:endParaRPr>
          </a:p>
        </p:txBody>
      </p:sp>
      <p:sp>
        <p:nvSpPr>
          <p:cNvPr id="129" name="Google Shape;129;p4"/>
          <p:cNvSpPr txBox="1">
            <a:spLocks noGrp="1"/>
          </p:cNvSpPr>
          <p:nvPr>
            <p:ph type="sldNum" idx="12"/>
          </p:nvPr>
        </p:nvSpPr>
        <p:spPr>
          <a:xfrm>
            <a:off x="6311798" y="9251950"/>
            <a:ext cx="368400" cy="381000"/>
          </a:xfrm>
          <a:prstGeom prst="rect">
            <a:avLst/>
          </a:prstGeom>
          <a:noFill/>
          <a:ln>
            <a:noFill/>
          </a:ln>
        </p:spPr>
        <p:txBody>
          <a:bodyPr spcFirstLastPara="1" wrap="square" lIns="50800" tIns="50800" rIns="50800" bIns="50800" anchor="t" anchorCtr="0">
            <a:noAutofit/>
          </a:bodyPr>
          <a:lstStyle/>
          <a:p>
            <a:pPr marL="0" lvl="0" indent="0" algn="ctr" rtl="0">
              <a:lnSpc>
                <a:spcPct val="100000"/>
              </a:lnSpc>
              <a:spcBef>
                <a:spcPts val="0"/>
              </a:spcBef>
              <a:spcAft>
                <a:spcPts val="0"/>
              </a:spcAft>
              <a:buClr>
                <a:srgbClr val="000000"/>
              </a:buClr>
              <a:buSzPts val="1800"/>
              <a:buFont typeface="Helvetica Neue Light"/>
              <a:buNone/>
            </a:pPr>
            <a:fld id="{00000000-1234-1234-1234-123412341234}" type="slidenum">
              <a:rPr lang="ru-RU"/>
              <a:t>7</a:t>
            </a:fld>
            <a:endParaRPr/>
          </a:p>
        </p:txBody>
      </p:sp>
      <p:sp>
        <p:nvSpPr>
          <p:cNvPr id="4" name="TextBox 3">
            <a:extLst>
              <a:ext uri="{FF2B5EF4-FFF2-40B4-BE49-F238E27FC236}">
                <a16:creationId xmlns:a16="http://schemas.microsoft.com/office/drawing/2014/main" id="{5380EC49-2DEC-A88B-1DEE-708435D34757}"/>
              </a:ext>
            </a:extLst>
          </p:cNvPr>
          <p:cNvSpPr txBox="1"/>
          <p:nvPr/>
        </p:nvSpPr>
        <p:spPr>
          <a:xfrm>
            <a:off x="540300" y="4470278"/>
            <a:ext cx="6505730" cy="3402983"/>
          </a:xfrm>
          <a:prstGeom prst="rect">
            <a:avLst/>
          </a:prstGeom>
          <a:noFill/>
        </p:spPr>
        <p:txBody>
          <a:bodyPr wrap="square">
            <a:spAutoFit/>
          </a:bodyPr>
          <a:lstStyle/>
          <a:p>
            <a:pPr marL="457200" marR="0" lvl="0" indent="0" algn="just" rtl="0">
              <a:lnSpc>
                <a:spcPct val="115000"/>
              </a:lnSpc>
              <a:spcBef>
                <a:spcPts val="0"/>
              </a:spcBef>
              <a:spcAft>
                <a:spcPts val="0"/>
              </a:spcAft>
              <a:buNone/>
            </a:pPr>
            <a:r>
              <a:rPr lang="ru-RU" sz="2100" b="1" dirty="0">
                <a:solidFill>
                  <a:schemeClr val="dk1"/>
                </a:solidFill>
                <a:latin typeface="Helvetica Neue"/>
                <a:ea typeface="Helvetica Neue"/>
                <a:cs typeface="Helvetica Neue"/>
                <a:sym typeface="Helvetica Neue"/>
              </a:rPr>
              <a:t>Лучший результат при:</a:t>
            </a:r>
          </a:p>
          <a:p>
            <a:pPr marL="457200" marR="0" lvl="0" indent="0" rtl="0">
              <a:lnSpc>
                <a:spcPct val="115000"/>
              </a:lnSpc>
              <a:spcBef>
                <a:spcPts val="0"/>
              </a:spcBef>
              <a:spcAft>
                <a:spcPts val="0"/>
              </a:spcAft>
              <a:buNone/>
            </a:pPr>
            <a:r>
              <a:rPr lang="en" sz="2100" dirty="0" err="1">
                <a:solidFill>
                  <a:schemeClr val="dk1"/>
                </a:solidFill>
                <a:latin typeface="Helvetica Neue"/>
                <a:ea typeface="Helvetica Neue"/>
                <a:cs typeface="Helvetica Neue"/>
                <a:sym typeface="Helvetica Neue"/>
              </a:rPr>
              <a:t>population_size</a:t>
            </a:r>
            <a:r>
              <a:rPr lang="ru-RU" sz="2100" dirty="0">
                <a:solidFill>
                  <a:schemeClr val="dk1"/>
                </a:solidFill>
                <a:latin typeface="Helvetica Neue"/>
                <a:ea typeface="Helvetica Neue"/>
                <a:cs typeface="Helvetica Neue"/>
                <a:sym typeface="Helvetica Neue"/>
              </a:rPr>
              <a:t> </a:t>
            </a:r>
            <a:r>
              <a:rPr lang="en" sz="2100" dirty="0">
                <a:solidFill>
                  <a:schemeClr val="dk1"/>
                </a:solidFill>
                <a:latin typeface="Helvetica Neue"/>
                <a:ea typeface="Helvetica Neue"/>
                <a:cs typeface="Helvetica Neue"/>
                <a:sym typeface="Helvetica Neue"/>
              </a:rPr>
              <a:t>= 450</a:t>
            </a:r>
            <a:br>
              <a:rPr lang="en" sz="2100" dirty="0">
                <a:solidFill>
                  <a:schemeClr val="dk1"/>
                </a:solidFill>
                <a:latin typeface="Helvetica Neue"/>
                <a:ea typeface="Helvetica Neue"/>
                <a:cs typeface="Helvetica Neue"/>
                <a:sym typeface="Helvetica Neue"/>
              </a:rPr>
            </a:br>
            <a:r>
              <a:rPr lang="en" sz="2100" dirty="0">
                <a:solidFill>
                  <a:schemeClr val="dk1"/>
                </a:solidFill>
                <a:latin typeface="Helvetica Neue"/>
                <a:ea typeface="Helvetica Neue"/>
                <a:cs typeface="Helvetica Neue"/>
                <a:sym typeface="Helvetica Neue"/>
              </a:rPr>
              <a:t>generations = 800</a:t>
            </a:r>
            <a:br>
              <a:rPr lang="en" sz="2100" dirty="0">
                <a:solidFill>
                  <a:schemeClr val="dk1"/>
                </a:solidFill>
                <a:latin typeface="Helvetica Neue"/>
                <a:ea typeface="Helvetica Neue"/>
                <a:cs typeface="Helvetica Neue"/>
                <a:sym typeface="Helvetica Neue"/>
              </a:rPr>
            </a:br>
            <a:r>
              <a:rPr lang="en" sz="2100" dirty="0" err="1">
                <a:solidFill>
                  <a:schemeClr val="dk1"/>
                </a:solidFill>
                <a:latin typeface="Helvetica Neue"/>
                <a:ea typeface="Helvetica Neue"/>
                <a:cs typeface="Helvetica Neue"/>
                <a:sym typeface="Helvetica Neue"/>
              </a:rPr>
              <a:t>elite_size</a:t>
            </a:r>
            <a:r>
              <a:rPr lang="en" sz="2100" dirty="0">
                <a:solidFill>
                  <a:schemeClr val="dk1"/>
                </a:solidFill>
                <a:latin typeface="Helvetica Neue"/>
                <a:ea typeface="Helvetica Neue"/>
                <a:cs typeface="Helvetica Neue"/>
                <a:sym typeface="Helvetica Neue"/>
              </a:rPr>
              <a:t> = 250</a:t>
            </a:r>
            <a:br>
              <a:rPr lang="en" sz="2100" dirty="0">
                <a:solidFill>
                  <a:schemeClr val="dk1"/>
                </a:solidFill>
                <a:latin typeface="Helvetica Neue"/>
                <a:ea typeface="Helvetica Neue"/>
                <a:cs typeface="Helvetica Neue"/>
                <a:sym typeface="Helvetica Neue"/>
              </a:rPr>
            </a:br>
            <a:r>
              <a:rPr lang="en" sz="2100" dirty="0" err="1">
                <a:solidFill>
                  <a:schemeClr val="dk1"/>
                </a:solidFill>
                <a:latin typeface="Helvetica Neue"/>
                <a:ea typeface="Helvetica Neue"/>
                <a:cs typeface="Helvetica Neue"/>
                <a:sym typeface="Helvetica Neue"/>
              </a:rPr>
              <a:t>mutation_rate</a:t>
            </a:r>
            <a:r>
              <a:rPr lang="en" sz="2100" dirty="0">
                <a:solidFill>
                  <a:schemeClr val="dk1"/>
                </a:solidFill>
                <a:latin typeface="Helvetica Neue"/>
                <a:ea typeface="Helvetica Neue"/>
                <a:cs typeface="Helvetica Neue"/>
                <a:sym typeface="Helvetica Neue"/>
              </a:rPr>
              <a:t> = 0.35</a:t>
            </a:r>
            <a:endParaRPr lang="ru-RU" sz="2100" dirty="0">
              <a:solidFill>
                <a:schemeClr val="dk1"/>
              </a:solidFill>
              <a:latin typeface="Helvetica Neue"/>
              <a:ea typeface="Helvetica Neue"/>
              <a:cs typeface="Helvetica Neue"/>
              <a:sym typeface="Helvetica Neue"/>
            </a:endParaRPr>
          </a:p>
          <a:p>
            <a:pPr marL="457200" marR="0" lvl="0" indent="0" rtl="0">
              <a:lnSpc>
                <a:spcPct val="115000"/>
              </a:lnSpc>
              <a:spcBef>
                <a:spcPts val="0"/>
              </a:spcBef>
              <a:spcAft>
                <a:spcPts val="0"/>
              </a:spcAft>
              <a:buNone/>
            </a:pPr>
            <a:endParaRPr lang="ru-RU" sz="2100" dirty="0">
              <a:solidFill>
                <a:schemeClr val="dk1"/>
              </a:solidFill>
              <a:latin typeface="Helvetica Neue"/>
              <a:ea typeface="Helvetica Neue"/>
              <a:cs typeface="Helvetica Neue"/>
              <a:sym typeface="Helvetica Neue"/>
            </a:endParaRPr>
          </a:p>
          <a:p>
            <a:pPr marL="457200">
              <a:lnSpc>
                <a:spcPct val="115000"/>
              </a:lnSpc>
            </a:pPr>
            <a:r>
              <a:rPr lang="ru-RU" sz="2100" dirty="0">
                <a:solidFill>
                  <a:schemeClr val="dk1"/>
                </a:solidFill>
                <a:latin typeface="Helvetica Neue"/>
                <a:ea typeface="Helvetica Neue"/>
                <a:cs typeface="Helvetica Neue"/>
                <a:sym typeface="Helvetica Neue"/>
              </a:rPr>
              <a:t>Равен: 0.09731880792294861 </a:t>
            </a:r>
            <a:r>
              <a:rPr lang="en-US" sz="2100" dirty="0">
                <a:solidFill>
                  <a:schemeClr val="dk1"/>
                </a:solidFill>
                <a:latin typeface="Helvetica Neue"/>
                <a:ea typeface="Helvetica Neue"/>
                <a:cs typeface="Helvetica Neue"/>
                <a:sym typeface="Helvetica Neue"/>
              </a:rPr>
              <a:t>~ 9,7%</a:t>
            </a:r>
            <a:endParaRPr lang="ru-RU" sz="2100" dirty="0">
              <a:solidFill>
                <a:schemeClr val="dk1"/>
              </a:solidFill>
              <a:latin typeface="Helvetica Neue"/>
              <a:ea typeface="Helvetica Neue"/>
              <a:cs typeface="Helvetica Neue"/>
              <a:sym typeface="Helvetica Neue"/>
            </a:endParaRPr>
          </a:p>
          <a:p>
            <a:pPr marL="457200">
              <a:lnSpc>
                <a:spcPct val="115000"/>
              </a:lnSpc>
            </a:pPr>
            <a:endParaRPr lang="en" sz="2100" dirty="0">
              <a:solidFill>
                <a:schemeClr val="dk1"/>
              </a:solidFill>
              <a:latin typeface="Helvetica Neue"/>
              <a:ea typeface="Helvetica Neue"/>
              <a:cs typeface="Helvetica Neue"/>
              <a:sym typeface="Helvetica Neue"/>
            </a:endParaRPr>
          </a:p>
          <a:p>
            <a:pPr marL="457200" marR="0" lvl="0" indent="0" algn="just" rtl="0">
              <a:lnSpc>
                <a:spcPct val="115000"/>
              </a:lnSpc>
              <a:spcBef>
                <a:spcPts val="0"/>
              </a:spcBef>
              <a:spcAft>
                <a:spcPts val="0"/>
              </a:spcAft>
              <a:buNone/>
            </a:pPr>
            <a:endParaRPr lang="ru-RU" sz="2100" b="1" dirty="0">
              <a:solidFill>
                <a:schemeClr val="dk1"/>
              </a:solidFill>
              <a:latin typeface="Helvetica Neue"/>
              <a:ea typeface="Helvetica Neue"/>
              <a:cs typeface="Helvetica Neue"/>
              <a:sym typeface="Helvetica Neue"/>
            </a:endParaRPr>
          </a:p>
        </p:txBody>
      </p:sp>
      <p:pic>
        <p:nvPicPr>
          <p:cNvPr id="5" name="Рисунок 4">
            <a:extLst>
              <a:ext uri="{FF2B5EF4-FFF2-40B4-BE49-F238E27FC236}">
                <a16:creationId xmlns:a16="http://schemas.microsoft.com/office/drawing/2014/main" id="{3D548F10-1A8B-CF88-C352-DA90FC244B6F}"/>
              </a:ext>
            </a:extLst>
          </p:cNvPr>
          <p:cNvPicPr>
            <a:picLocks noChangeAspect="1"/>
          </p:cNvPicPr>
          <p:nvPr/>
        </p:nvPicPr>
        <p:blipFill>
          <a:blip r:embed="rId4"/>
          <a:stretch>
            <a:fillRect/>
          </a:stretch>
        </p:blipFill>
        <p:spPr>
          <a:xfrm>
            <a:off x="8081457" y="3672590"/>
            <a:ext cx="3883781" cy="39124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8" descr="Изображение"/>
          <p:cNvPicPr preferRelativeResize="0"/>
          <p:nvPr/>
        </p:nvPicPr>
        <p:blipFill rotWithShape="1">
          <a:blip r:embed="rId3">
            <a:alphaModFix/>
          </a:blip>
          <a:srcRect/>
          <a:stretch/>
        </p:blipFill>
        <p:spPr>
          <a:xfrm>
            <a:off x="5366098" y="3498712"/>
            <a:ext cx="2272604" cy="2197376"/>
          </a:xfrm>
          <a:prstGeom prst="rect">
            <a:avLst/>
          </a:prstGeom>
          <a:noFill/>
          <a:ln>
            <a:noFill/>
          </a:ln>
        </p:spPr>
      </p:pic>
      <p:sp>
        <p:nvSpPr>
          <p:cNvPr id="178" name="Google Shape;178;p8"/>
          <p:cNvSpPr txBox="1">
            <a:spLocks noGrp="1"/>
          </p:cNvSpPr>
          <p:nvPr>
            <p:ph type="sldNum" idx="12"/>
          </p:nvPr>
        </p:nvSpPr>
        <p:spPr>
          <a:xfrm>
            <a:off x="6311798" y="9251950"/>
            <a:ext cx="368400" cy="381000"/>
          </a:xfrm>
          <a:prstGeom prst="rect">
            <a:avLst/>
          </a:prstGeom>
          <a:noFill/>
          <a:ln>
            <a:noFill/>
          </a:ln>
        </p:spPr>
        <p:txBody>
          <a:bodyPr spcFirstLastPara="1" wrap="square" lIns="50800" tIns="50800" rIns="50800" bIns="50800" anchor="t" anchorCtr="0">
            <a:noAutofit/>
          </a:bodyPr>
          <a:lstStyle/>
          <a:p>
            <a:pPr marL="0" lvl="0" indent="0" algn="ctr" rtl="0">
              <a:lnSpc>
                <a:spcPct val="100000"/>
              </a:lnSpc>
              <a:spcBef>
                <a:spcPts val="0"/>
              </a:spcBef>
              <a:spcAft>
                <a:spcPts val="0"/>
              </a:spcAft>
              <a:buClr>
                <a:srgbClr val="000000"/>
              </a:buClr>
              <a:buSzPts val="1800"/>
              <a:buFont typeface="Helvetica Neue Light"/>
              <a:buNone/>
            </a:pPr>
            <a:fld id="{00000000-1234-1234-1234-123412341234}" type="slidenum">
              <a:rPr lang="ru-RU"/>
              <a:t>8</a:t>
            </a:fld>
            <a:endParaRPr/>
          </a:p>
        </p:txBody>
      </p:sp>
      <p:sp>
        <p:nvSpPr>
          <p:cNvPr id="179" name="Google Shape;179;p8"/>
          <p:cNvSpPr txBox="1"/>
          <p:nvPr/>
        </p:nvSpPr>
        <p:spPr>
          <a:xfrm>
            <a:off x="0" y="6550689"/>
            <a:ext cx="13004700" cy="107717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ru-RU" sz="2400" b="0" i="0" u="none" strike="noStrike" cap="none" dirty="0">
                <a:solidFill>
                  <a:schemeClr val="lt1"/>
                </a:solidFill>
                <a:latin typeface="Arial"/>
                <a:ea typeface="Arial"/>
                <a:cs typeface="Arial"/>
                <a:sym typeface="Arial"/>
              </a:rPr>
              <a:t>Исполнители: </a:t>
            </a:r>
            <a:r>
              <a:rPr lang="ru-RU" sz="2400" dirty="0">
                <a:solidFill>
                  <a:schemeClr val="lt1"/>
                </a:solidFill>
              </a:rPr>
              <a:t>Липатов Данила Вячеславович (МСМТ243)</a:t>
            </a:r>
            <a:r>
              <a:rPr lang="ru-RU" sz="2400" b="0" i="0" u="none" strike="noStrike" cap="none" dirty="0">
                <a:solidFill>
                  <a:schemeClr val="lt1"/>
                </a:solidFill>
                <a:latin typeface="Arial"/>
                <a:ea typeface="Arial"/>
                <a:cs typeface="Arial"/>
                <a:sym typeface="Arial"/>
              </a:rPr>
              <a:t>,</a:t>
            </a:r>
            <a:r>
              <a:rPr lang="ru-RU" sz="2400" dirty="0">
                <a:solidFill>
                  <a:schemeClr val="lt1"/>
                </a:solidFill>
              </a:rPr>
              <a:t> </a:t>
            </a:r>
            <a:endParaRPr sz="2400" dirty="0">
              <a:solidFill>
                <a:schemeClr val="lt1"/>
              </a:solidFill>
            </a:endParaRPr>
          </a:p>
          <a:p>
            <a:pPr marL="0" marR="0" lvl="0" indent="0" algn="ctr" rtl="0">
              <a:lnSpc>
                <a:spcPct val="100000"/>
              </a:lnSpc>
              <a:spcBef>
                <a:spcPts val="0"/>
              </a:spcBef>
              <a:spcAft>
                <a:spcPts val="0"/>
              </a:spcAft>
              <a:buClr>
                <a:srgbClr val="000000"/>
              </a:buClr>
              <a:buSzPts val="2400"/>
              <a:buFont typeface="Arial"/>
              <a:buNone/>
            </a:pPr>
            <a:r>
              <a:rPr lang="ru-RU" sz="2400" dirty="0" err="1">
                <a:solidFill>
                  <a:schemeClr val="lt1"/>
                </a:solidFill>
              </a:rPr>
              <a:t>d</a:t>
            </a:r>
            <a:r>
              <a:rPr lang="en-US" sz="2400" dirty="0" err="1">
                <a:solidFill>
                  <a:schemeClr val="lt1"/>
                </a:solidFill>
              </a:rPr>
              <a:t>vlipatov@edu.hse.ru</a:t>
            </a:r>
            <a:endParaRPr lang="ru-RU" sz="2400" dirty="0">
              <a:solidFill>
                <a:schemeClr val="lt1"/>
              </a:solidFill>
            </a:endParaRPr>
          </a:p>
          <a:p>
            <a:pPr marL="0" marR="0" lvl="0" indent="0" algn="ctr" rtl="0">
              <a:lnSpc>
                <a:spcPct val="100000"/>
              </a:lnSpc>
              <a:spcBef>
                <a:spcPts val="0"/>
              </a:spcBef>
              <a:spcAft>
                <a:spcPts val="0"/>
              </a:spcAft>
              <a:buClr>
                <a:srgbClr val="000000"/>
              </a:buClr>
              <a:buSzPts val="2400"/>
              <a:buFont typeface="Arial"/>
              <a:buNone/>
            </a:pPr>
            <a:endParaRPr sz="1600" b="0" i="0" u="none" strike="noStrike" cap="none" dirty="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2194</TotalTime>
  <Words>514</Words>
  <Application>Microsoft Macintosh PowerPoint</Application>
  <PresentationFormat>Произвольный</PresentationFormat>
  <Paragraphs>64</Paragraphs>
  <Slides>8</Slides>
  <Notes>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Arial</vt:lpstr>
      <vt:lpstr>Helvetica Neue</vt:lpstr>
      <vt:lpstr>Helvetica Neue Light</vt:lpstr>
      <vt:lpstr>Arial Narrow</vt:lpstr>
      <vt:lpstr>Roboto</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Данила Липатов</cp:lastModifiedBy>
  <cp:revision>56</cp:revision>
  <dcterms:modified xsi:type="dcterms:W3CDTF">2025-01-24T20:27:59Z</dcterms:modified>
</cp:coreProperties>
</file>