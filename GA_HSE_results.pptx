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6" r:id="rId6"/>
    <p:sldId id="267" r:id="rId7"/>
    <p:sldId id="261" r:id="rId8"/>
    <p:sldId id="262" r:id="rId9"/>
    <p:sldId id="263" r:id="rId10"/>
    <p:sldId id="264" r:id="rId11"/>
    <p:sldId id="265" r:id="rId12"/>
  </p:sldIdLst>
  <p:sldSz cx="13004800" cy="9753600"/>
  <p:notesSz cx="6858000" cy="9144000"/>
  <p:embeddedFontLst>
    <p:embeddedFont>
      <p:font typeface="Arial Narrow" panose="020B0604020202020204" pitchFamily="34" charset="0"/>
      <p:regular r:id="rId14"/>
      <p:bold r:id="rId15"/>
      <p:italic r:id="rId16"/>
      <p:boldItalic r:id="rId17"/>
    </p:embeddedFont>
    <p:embeddedFont>
      <p:font typeface="Helvetica Neue" panose="02000503000000020004" pitchFamily="2" charset="0"/>
      <p:regular r:id="rId18"/>
      <p:bold r:id="rId19"/>
      <p:italic r:id="rId20"/>
      <p:boldItalic r:id="rId21"/>
    </p:embeddedFont>
    <p:embeddedFont>
      <p:font typeface="Helvetica Neue Light" panose="02000403000000020004" pitchFamily="2" charset="0"/>
      <p:regular r:id="rId22"/>
      <p:bold r:id="rId23"/>
      <p:italic r:id="rId24"/>
      <p:boldItalic r:id="rId25"/>
    </p:embeddedFont>
    <p:embeddedFont>
      <p:font typeface="Roboto" panose="02000000000000000000" pitchFamily="2" charset="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harx6PWR4vqFEgJl/7s03ZvrAd6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6327"/>
  </p:normalViewPr>
  <p:slideViewPr>
    <p:cSldViewPr snapToGrid="0">
      <p:cViewPr varScale="1">
        <p:scale>
          <a:sx n="86" d="100"/>
          <a:sy n="86" d="100"/>
        </p:scale>
        <p:origin x="1912"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font" Target="fonts/font8.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font" Target="fonts/font1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font" Target="fonts/font15.fntdata"/><Relationship Id="rId10" Type="http://schemas.openxmlformats.org/officeDocument/2006/relationships/slide" Target="slides/slide9.xml"/><Relationship Id="rId19" Type="http://schemas.openxmlformats.org/officeDocument/2006/relationships/font" Target="fonts/font6.fntdata"/><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1pPr>
            <a:lvl2pPr marL="914400" marR="0" lvl="1"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2pPr>
            <a:lvl3pPr marL="1371600" marR="0" lvl="2"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3pPr>
            <a:lvl4pPr marL="1828800" marR="0" lvl="3"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4pPr>
            <a:lvl5pPr marL="2286000" marR="0" lvl="4"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5pPr>
            <a:lvl6pPr marL="2743200" marR="0" lvl="5"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6pPr>
            <a:lvl7pPr marL="3200400" marR="0" lvl="6"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7pPr>
            <a:lvl8pPr marL="3657600" marR="0" lvl="7"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8pPr>
            <a:lvl9pPr marL="4114800" marR="0" lvl="8"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54" name="Google Shape;54;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ru-RU" sz="1200">
                <a:latin typeface="Arial"/>
                <a:ea typeface="Arial"/>
                <a:cs typeface="Arial"/>
                <a:sym typeface="Arial"/>
              </a:rPr>
              <a:t>Каждому банку необходимо оценивать риски от предоставляемых ими услуг. Если рассматривать выдачу кредитов, то банк рискует потерять деньги, выданные заёмщику. Поэтому важно оценивать ожидаемые кредитные убытки.  Среди видов кредитования для физических лиц существует выдача кредитных карт. </a:t>
            </a:r>
            <a:r>
              <a:rPr lang="ru-RU" sz="1200">
                <a:solidFill>
                  <a:schemeClr val="dk1"/>
                </a:solidFill>
                <a:latin typeface="Arial"/>
                <a:ea typeface="Arial"/>
                <a:cs typeface="Arial"/>
                <a:sym typeface="Arial"/>
              </a:rPr>
              <a:t>Каждый клиент карты в свою очередь характеризуется своим поведением (как клиент пользуется кредитной картой), которое </a:t>
            </a:r>
            <a:r>
              <a:rPr lang="ru-RU" sz="1200">
                <a:solidFill>
                  <a:srgbClr val="222222"/>
                </a:solidFill>
                <a:highlight>
                  <a:schemeClr val="lt1"/>
                </a:highlight>
                <a:latin typeface="Arial"/>
                <a:ea typeface="Arial"/>
                <a:cs typeface="Arial"/>
                <a:sym typeface="Arial"/>
              </a:rPr>
              <a:t>в разные периоды времени может объясняться широким диапазоном факторов: предпочтения и возможности клиента,  внешние экономические и политические шоки, демография, уровень финансовой грамотности и т.д. Состояние профиля клиента меняется с течением времени, так, например, карта может находится в льготном периоде или по карте могут начисляться проценты. Идея нашего проекта: на основе данных о поведении клиента предсказать дальнейшие состояния его кредитного профиля.</a:t>
            </a:r>
            <a:endParaRPr sz="1200">
              <a:latin typeface="Arial"/>
              <a:ea typeface="Arial"/>
              <a:cs typeface="Arial"/>
              <a:sym typeface="Arial"/>
            </a:endParaRPr>
          </a:p>
        </p:txBody>
      </p:sp>
      <p:sp>
        <p:nvSpPr>
          <p:cNvPr id="65" name="Google Shape;65;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p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ru-RU" dirty="0"/>
              <a:t>Снизу представлены типы карточных клиентов и то, как они могут “сменять” друг друга с течением времени на основе данных, предоставленных банком и пример векторов состояний(на примере 1го - </a:t>
            </a:r>
            <a:r>
              <a:rPr lang="ru-RU" dirty="0" err="1"/>
              <a:t>G</a:t>
            </a:r>
            <a:r>
              <a:rPr lang="ru-RU" dirty="0"/>
              <a:t> -  8 месяцев клиент находится в льготном периоде, 4 месяца </a:t>
            </a:r>
            <a:r>
              <a:rPr lang="ru-RU" dirty="0" err="1"/>
              <a:t>S</a:t>
            </a:r>
            <a:r>
              <a:rPr lang="ru-RU" dirty="0"/>
              <a:t> - карта больше неактивна, и </a:t>
            </a:r>
            <a:r>
              <a:rPr lang="ru-RU" dirty="0" err="1"/>
              <a:t>C</a:t>
            </a:r>
            <a:r>
              <a:rPr lang="ru-RU" dirty="0"/>
              <a:t> - сделка по карте закрывается ). </a:t>
            </a:r>
            <a:endParaRPr dirty="0"/>
          </a:p>
        </p:txBody>
      </p:sp>
      <p:sp>
        <p:nvSpPr>
          <p:cNvPr id="79" name="Google Shape;79;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1fb41790917_0_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97" name="Google Shape;97;g1fb41790917_0_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457200" lvl="0" indent="-361950" algn="just" rtl="0">
              <a:lnSpc>
                <a:spcPct val="115000"/>
              </a:lnSpc>
              <a:spcBef>
                <a:spcPts val="0"/>
              </a:spcBef>
              <a:spcAft>
                <a:spcPts val="0"/>
              </a:spcAft>
              <a:buClr>
                <a:schemeClr val="dk1"/>
              </a:buClr>
              <a:buSzPts val="2100"/>
              <a:buFont typeface="Helvetica Neue"/>
              <a:buChar char="-"/>
            </a:pPr>
            <a:r>
              <a:rPr lang="ru-RU" sz="2100">
                <a:solidFill>
                  <a:schemeClr val="dk1"/>
                </a:solidFill>
              </a:rPr>
              <a:t>И</a:t>
            </a:r>
            <a:r>
              <a:rPr lang="ru-RU" sz="2100">
                <a:solidFill>
                  <a:srgbClr val="222222"/>
                </a:solidFill>
                <a:highlight>
                  <a:srgbClr val="FFFFFF"/>
                </a:highlight>
              </a:rPr>
              <a:t>зучение релевантной научной литературы по данной теме ( применение марковских цепей, кластеризация, многоклассовая классификация и пр.), формализация исходной задачи на язык изученных алгоритмов.</a:t>
            </a:r>
            <a:endParaRPr sz="2100">
              <a:solidFill>
                <a:srgbClr val="222222"/>
              </a:solidFill>
              <a:highlight>
                <a:srgbClr val="FFFFFF"/>
              </a:highlight>
            </a:endParaRPr>
          </a:p>
          <a:p>
            <a:pPr marL="457200" lvl="0" indent="-361950" algn="just" rtl="0">
              <a:lnSpc>
                <a:spcPct val="115000"/>
              </a:lnSpc>
              <a:spcBef>
                <a:spcPts val="0"/>
              </a:spcBef>
              <a:spcAft>
                <a:spcPts val="0"/>
              </a:spcAft>
              <a:buClr>
                <a:schemeClr val="dk1"/>
              </a:buClr>
              <a:buSzPts val="2100"/>
              <a:buFont typeface="Helvetica Neue"/>
              <a:buChar char="-"/>
            </a:pPr>
            <a:r>
              <a:rPr lang="ru-RU" sz="2100">
                <a:solidFill>
                  <a:schemeClr val="dk1"/>
                </a:solidFill>
              </a:rPr>
              <a:t>Получение данных о клиентах, их изучение и кластеризация на основе их поведения.</a:t>
            </a:r>
            <a:endParaRPr sz="2100">
              <a:solidFill>
                <a:schemeClr val="dk1"/>
              </a:solidFill>
            </a:endParaRPr>
          </a:p>
          <a:p>
            <a:pPr marL="457200" lvl="0" indent="-361950" algn="just" rtl="0">
              <a:lnSpc>
                <a:spcPct val="115000"/>
              </a:lnSpc>
              <a:spcBef>
                <a:spcPts val="0"/>
              </a:spcBef>
              <a:spcAft>
                <a:spcPts val="0"/>
              </a:spcAft>
              <a:buClr>
                <a:schemeClr val="dk1"/>
              </a:buClr>
              <a:buSzPts val="2100"/>
              <a:buChar char="-"/>
            </a:pPr>
            <a:r>
              <a:rPr lang="ru-RU" sz="2100">
                <a:solidFill>
                  <a:schemeClr val="dk1"/>
                </a:solidFill>
              </a:rPr>
              <a:t>…</a:t>
            </a:r>
            <a:endParaRPr sz="2100">
              <a:solidFill>
                <a:schemeClr val="dk1"/>
              </a:solidFill>
            </a:endParaRPr>
          </a:p>
          <a:p>
            <a:pPr marL="0" lvl="0" indent="0" algn="l" rtl="0">
              <a:lnSpc>
                <a:spcPct val="117999"/>
              </a:lnSpc>
              <a:spcBef>
                <a:spcPts val="0"/>
              </a:spcBef>
              <a:spcAft>
                <a:spcPts val="0"/>
              </a:spcAft>
              <a:buSzPts val="1400"/>
              <a:buNone/>
            </a:pPr>
            <a:endParaRPr/>
          </a:p>
        </p:txBody>
      </p:sp>
      <p:sp>
        <p:nvSpPr>
          <p:cNvPr id="122" name="Google Shape;122;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1d78c760599_0_5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sz="1200">
              <a:latin typeface="Arial"/>
              <a:ea typeface="Arial"/>
              <a:cs typeface="Arial"/>
              <a:sym typeface="Arial"/>
            </a:endParaRPr>
          </a:p>
        </p:txBody>
      </p:sp>
      <p:sp>
        <p:nvSpPr>
          <p:cNvPr id="151" name="Google Shape;151;g1d78c760599_0_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018b27e8ee_0_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sz="1200">
              <a:latin typeface="Arial"/>
              <a:ea typeface="Arial"/>
              <a:cs typeface="Arial"/>
              <a:sym typeface="Arial"/>
            </a:endParaRPr>
          </a:p>
        </p:txBody>
      </p:sp>
      <p:sp>
        <p:nvSpPr>
          <p:cNvPr id="165" name="Google Shape;165;g2018b27e8ee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175" name="Google Shape;175;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01541eaa2a_0_4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sz="1200">
              <a:latin typeface="Arial"/>
              <a:ea typeface="Arial"/>
              <a:cs typeface="Arial"/>
              <a:sym typeface="Arial"/>
            </a:endParaRPr>
          </a:p>
        </p:txBody>
      </p:sp>
      <p:sp>
        <p:nvSpPr>
          <p:cNvPr id="182" name="Google Shape;182;g201541eaa2a_0_4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Заголовок и подзаголовок" type="title">
  <p:cSld name="TITLE">
    <p:spTree>
      <p:nvGrpSpPr>
        <p:cNvPr id="1" name="Shape 9"/>
        <p:cNvGrpSpPr/>
        <p:nvPr/>
      </p:nvGrpSpPr>
      <p:grpSpPr>
        <a:xfrm>
          <a:off x="0" y="0"/>
          <a:ext cx="0" cy="0"/>
          <a:chOff x="0" y="0"/>
          <a:chExt cx="0" cy="0"/>
        </a:xfrm>
      </p:grpSpPr>
      <p:sp>
        <p:nvSpPr>
          <p:cNvPr id="10" name="Google Shape;10;p10"/>
          <p:cNvSpPr/>
          <p:nvPr/>
        </p:nvSpPr>
        <p:spPr>
          <a:xfrm>
            <a:off x="4061866" y="-135186"/>
            <a:ext cx="9121280" cy="10023972"/>
          </a:xfrm>
          <a:prstGeom prst="rect">
            <a:avLst/>
          </a:prstGeom>
          <a:solidFill>
            <a:srgbClr val="FFFFFF"/>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600"/>
              <a:buFont typeface="Helvetica Neue Light"/>
              <a:buNone/>
            </a:pPr>
            <a:endParaRPr sz="3600" b="0" i="0" u="none" strike="noStrike" cap="none">
              <a:solidFill>
                <a:srgbClr val="000000"/>
              </a:solidFill>
              <a:latin typeface="Helvetica Neue Light"/>
              <a:ea typeface="Helvetica Neue Light"/>
              <a:cs typeface="Helvetica Neue Light"/>
              <a:sym typeface="Helvetica Neue Light"/>
            </a:endParaRPr>
          </a:p>
        </p:txBody>
      </p:sp>
      <p:sp>
        <p:nvSpPr>
          <p:cNvPr id="11" name="Google Shape;11;p10"/>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Заголовок — по центру" type="tx">
  <p:cSld name="TITLE_AND_BODY">
    <p:bg>
      <p:bgPr>
        <a:solidFill>
          <a:srgbClr val="FFFFFF"/>
        </a:solidFill>
        <a:effectLst/>
      </p:bgPr>
    </p:bg>
    <p:spTree>
      <p:nvGrpSpPr>
        <p:cNvPr id="1" name="Shape 12"/>
        <p:cNvGrpSpPr/>
        <p:nvPr/>
      </p:nvGrpSpPr>
      <p:grpSpPr>
        <a:xfrm>
          <a:off x="0" y="0"/>
          <a:ext cx="0" cy="0"/>
          <a:chOff x="0" y="0"/>
          <a:chExt cx="0" cy="0"/>
        </a:xfrm>
      </p:grpSpPr>
      <p:sp>
        <p:nvSpPr>
          <p:cNvPr id="13" name="Google Shape;13;p11"/>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Заголовок — вверху">
  <p:cSld name="Заголовок — вверху">
    <p:spTree>
      <p:nvGrpSpPr>
        <p:cNvPr id="1" name="Shape 14"/>
        <p:cNvGrpSpPr/>
        <p:nvPr/>
      </p:nvGrpSpPr>
      <p:grpSpPr>
        <a:xfrm>
          <a:off x="0" y="0"/>
          <a:ext cx="0" cy="0"/>
          <a:chOff x="0" y="0"/>
          <a:chExt cx="0" cy="0"/>
        </a:xfrm>
      </p:grpSpPr>
      <p:sp>
        <p:nvSpPr>
          <p:cNvPr id="15" name="Google Shape;15;p12"/>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Фото — горизонтально">
  <p:cSld name="Фото — горизонтально">
    <p:bg>
      <p:bgPr>
        <a:solidFill>
          <a:srgbClr val="FFFFFF"/>
        </a:solidFill>
        <a:effectLst/>
      </p:bgPr>
    </p:bg>
    <p:spTree>
      <p:nvGrpSpPr>
        <p:cNvPr id="1" name="Shape 16"/>
        <p:cNvGrpSpPr/>
        <p:nvPr/>
      </p:nvGrpSpPr>
      <p:grpSpPr>
        <a:xfrm>
          <a:off x="0" y="0"/>
          <a:ext cx="0" cy="0"/>
          <a:chOff x="0" y="0"/>
          <a:chExt cx="0" cy="0"/>
        </a:xfrm>
      </p:grpSpPr>
      <p:sp>
        <p:nvSpPr>
          <p:cNvPr id="17" name="Google Shape;17;p13"/>
          <p:cNvSpPr>
            <a:spLocks noGrp="1"/>
          </p:cNvSpPr>
          <p:nvPr>
            <p:ph type="pic" idx="2"/>
          </p:nvPr>
        </p:nvSpPr>
        <p:spPr>
          <a:xfrm>
            <a:off x="1606550" y="635000"/>
            <a:ext cx="9779000" cy="5918200"/>
          </a:xfrm>
          <a:prstGeom prst="rect">
            <a:avLst/>
          </a:prstGeom>
          <a:noFill/>
          <a:ln>
            <a:noFill/>
          </a:ln>
        </p:spPr>
      </p:sp>
      <p:sp>
        <p:nvSpPr>
          <p:cNvPr id="18" name="Google Shape;18;p13"/>
          <p:cNvSpPr txBox="1">
            <a:spLocks noGrp="1"/>
          </p:cNvSpPr>
          <p:nvPr>
            <p:ph type="title"/>
          </p:nvPr>
        </p:nvSpPr>
        <p:spPr>
          <a:xfrm>
            <a:off x="1270000" y="6718300"/>
            <a:ext cx="10464800" cy="1422400"/>
          </a:xfrm>
          <a:prstGeom prst="rect">
            <a:avLst/>
          </a:prstGeom>
          <a:noFill/>
          <a:ln>
            <a:noFill/>
          </a:ln>
        </p:spPr>
        <p:txBody>
          <a:bodyPr spcFirstLastPara="1" wrap="square" lIns="50800" tIns="50800" rIns="50800" bIns="50800" anchor="b" anchorCtr="0">
            <a:no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19" name="Google Shape;19;p13"/>
          <p:cNvSpPr txBox="1">
            <a:spLocks noGrp="1"/>
          </p:cNvSpPr>
          <p:nvPr>
            <p:ph type="body" idx="1"/>
          </p:nvPr>
        </p:nvSpPr>
        <p:spPr>
          <a:xfrm>
            <a:off x="1270000" y="8191500"/>
            <a:ext cx="10464800" cy="1130300"/>
          </a:xfrm>
          <a:prstGeom prst="rect">
            <a:avLst/>
          </a:prstGeom>
          <a:noFill/>
          <a:ln>
            <a:noFill/>
          </a:ln>
        </p:spPr>
        <p:txBody>
          <a:bodyPr spcFirstLastPara="1" wrap="square" lIns="50800" tIns="50800" rIns="50800" bIns="50800" anchor="t" anchorCtr="0">
            <a:noAutofit/>
          </a:bodyPr>
          <a:lstStyle>
            <a:lvl1pPr marL="457200" lvl="0" indent="-228600" algn="ctr">
              <a:lnSpc>
                <a:spcPct val="100000"/>
              </a:lnSpc>
              <a:spcBef>
                <a:spcPts val="0"/>
              </a:spcBef>
              <a:spcAft>
                <a:spcPts val="0"/>
              </a:spcAft>
              <a:buClr>
                <a:srgbClr val="000000"/>
              </a:buClr>
              <a:buSzPts val="3200"/>
              <a:buFont typeface="Helvetica Neue Light"/>
              <a:buNone/>
              <a:defRPr sz="3200"/>
            </a:lvl1pPr>
            <a:lvl2pPr marL="914400" lvl="1" indent="-228600" algn="ctr">
              <a:lnSpc>
                <a:spcPct val="100000"/>
              </a:lnSpc>
              <a:spcBef>
                <a:spcPts val="0"/>
              </a:spcBef>
              <a:spcAft>
                <a:spcPts val="0"/>
              </a:spcAft>
              <a:buClr>
                <a:srgbClr val="000000"/>
              </a:buClr>
              <a:buSzPts val="3200"/>
              <a:buFont typeface="Helvetica Neue Light"/>
              <a:buNone/>
              <a:defRPr sz="3200"/>
            </a:lvl2pPr>
            <a:lvl3pPr marL="1371600" lvl="2" indent="-228600" algn="ctr">
              <a:lnSpc>
                <a:spcPct val="100000"/>
              </a:lnSpc>
              <a:spcBef>
                <a:spcPts val="0"/>
              </a:spcBef>
              <a:spcAft>
                <a:spcPts val="0"/>
              </a:spcAft>
              <a:buClr>
                <a:srgbClr val="000000"/>
              </a:buClr>
              <a:buSzPts val="3200"/>
              <a:buFont typeface="Helvetica Neue Light"/>
              <a:buNone/>
              <a:defRPr sz="3200"/>
            </a:lvl3pPr>
            <a:lvl4pPr marL="1828800" lvl="3" indent="-228600" algn="ctr">
              <a:lnSpc>
                <a:spcPct val="100000"/>
              </a:lnSpc>
              <a:spcBef>
                <a:spcPts val="0"/>
              </a:spcBef>
              <a:spcAft>
                <a:spcPts val="0"/>
              </a:spcAft>
              <a:buClr>
                <a:srgbClr val="000000"/>
              </a:buClr>
              <a:buSzPts val="3200"/>
              <a:buFont typeface="Helvetica Neue Light"/>
              <a:buNone/>
              <a:defRPr sz="3200"/>
            </a:lvl4pPr>
            <a:lvl5pPr marL="2286000" lvl="4" indent="-228600" algn="ctr">
              <a:lnSpc>
                <a:spcPct val="100000"/>
              </a:lnSpc>
              <a:spcBef>
                <a:spcPts val="0"/>
              </a:spcBef>
              <a:spcAft>
                <a:spcPts val="0"/>
              </a:spcAft>
              <a:buClr>
                <a:srgbClr val="000000"/>
              </a:buClr>
              <a:buSzPts val="3200"/>
              <a:buFont typeface="Helvetica Neue Light"/>
              <a:buNone/>
              <a:defRPr sz="3200"/>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20" name="Google Shape;20;p13"/>
          <p:cNvSpPr txBox="1">
            <a:spLocks noGrp="1"/>
          </p:cNvSpPr>
          <p:nvPr>
            <p:ph type="sldNum" idx="12"/>
          </p:nvPr>
        </p:nvSpPr>
        <p:spPr>
          <a:xfrm>
            <a:off x="6311798" y="924560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Фото — вертикально">
  <p:cSld name="Фото — вертикально">
    <p:bg>
      <p:bgPr>
        <a:solidFill>
          <a:srgbClr val="FFFFFF"/>
        </a:solidFill>
        <a:effectLst/>
      </p:bgPr>
    </p:bg>
    <p:spTree>
      <p:nvGrpSpPr>
        <p:cNvPr id="1" name="Shape 21"/>
        <p:cNvGrpSpPr/>
        <p:nvPr/>
      </p:nvGrpSpPr>
      <p:grpSpPr>
        <a:xfrm>
          <a:off x="0" y="0"/>
          <a:ext cx="0" cy="0"/>
          <a:chOff x="0" y="0"/>
          <a:chExt cx="0" cy="0"/>
        </a:xfrm>
      </p:grpSpPr>
      <p:sp>
        <p:nvSpPr>
          <p:cNvPr id="22" name="Google Shape;22;p14"/>
          <p:cNvSpPr>
            <a:spLocks noGrp="1"/>
          </p:cNvSpPr>
          <p:nvPr>
            <p:ph type="pic" idx="2"/>
          </p:nvPr>
        </p:nvSpPr>
        <p:spPr>
          <a:xfrm>
            <a:off x="6718300" y="635000"/>
            <a:ext cx="5334000" cy="8229600"/>
          </a:xfrm>
          <a:prstGeom prst="rect">
            <a:avLst/>
          </a:prstGeom>
          <a:noFill/>
          <a:ln>
            <a:noFill/>
          </a:ln>
        </p:spPr>
      </p:sp>
      <p:sp>
        <p:nvSpPr>
          <p:cNvPr id="23" name="Google Shape;23;p14"/>
          <p:cNvSpPr txBox="1">
            <a:spLocks noGrp="1"/>
          </p:cNvSpPr>
          <p:nvPr>
            <p:ph type="title"/>
          </p:nvPr>
        </p:nvSpPr>
        <p:spPr>
          <a:xfrm>
            <a:off x="952500" y="635000"/>
            <a:ext cx="5334000" cy="3987800"/>
          </a:xfrm>
          <a:prstGeom prst="rect">
            <a:avLst/>
          </a:prstGeom>
          <a:noFill/>
          <a:ln>
            <a:noFill/>
          </a:ln>
        </p:spPr>
        <p:txBody>
          <a:bodyPr spcFirstLastPara="1" wrap="square" lIns="50800" tIns="50800" rIns="50800" bIns="50800" anchor="b" anchorCtr="0">
            <a:noAutofit/>
          </a:bodyPr>
          <a:lstStyle>
            <a:lvl1pPr lvl="0" algn="ctr">
              <a:lnSpc>
                <a:spcPct val="100000"/>
              </a:lnSpc>
              <a:spcBef>
                <a:spcPts val="0"/>
              </a:spcBef>
              <a:spcAft>
                <a:spcPts val="0"/>
              </a:spcAft>
              <a:buClr>
                <a:srgbClr val="000000"/>
              </a:buClr>
              <a:buSzPts val="6000"/>
              <a:buFont typeface="Helvetica Neue Light"/>
              <a:buNone/>
              <a:defRPr sz="6000"/>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24" name="Google Shape;24;p14"/>
          <p:cNvSpPr txBox="1">
            <a:spLocks noGrp="1"/>
          </p:cNvSpPr>
          <p:nvPr>
            <p:ph type="body" idx="1"/>
          </p:nvPr>
        </p:nvSpPr>
        <p:spPr>
          <a:xfrm>
            <a:off x="952500" y="4762500"/>
            <a:ext cx="5334000" cy="4102100"/>
          </a:xfrm>
          <a:prstGeom prst="rect">
            <a:avLst/>
          </a:prstGeom>
          <a:noFill/>
          <a:ln>
            <a:noFill/>
          </a:ln>
        </p:spPr>
        <p:txBody>
          <a:bodyPr spcFirstLastPara="1" wrap="square" lIns="50800" tIns="50800" rIns="50800" bIns="50800" anchor="t" anchorCtr="0">
            <a:noAutofit/>
          </a:bodyPr>
          <a:lstStyle>
            <a:lvl1pPr marL="457200" lvl="0" indent="-228600" algn="ctr">
              <a:lnSpc>
                <a:spcPct val="100000"/>
              </a:lnSpc>
              <a:spcBef>
                <a:spcPts val="0"/>
              </a:spcBef>
              <a:spcAft>
                <a:spcPts val="0"/>
              </a:spcAft>
              <a:buClr>
                <a:srgbClr val="000000"/>
              </a:buClr>
              <a:buSzPts val="3200"/>
              <a:buFont typeface="Helvetica Neue Light"/>
              <a:buNone/>
              <a:defRPr sz="3200"/>
            </a:lvl1pPr>
            <a:lvl2pPr marL="914400" lvl="1" indent="-228600" algn="ctr">
              <a:lnSpc>
                <a:spcPct val="100000"/>
              </a:lnSpc>
              <a:spcBef>
                <a:spcPts val="0"/>
              </a:spcBef>
              <a:spcAft>
                <a:spcPts val="0"/>
              </a:spcAft>
              <a:buClr>
                <a:srgbClr val="000000"/>
              </a:buClr>
              <a:buSzPts val="3200"/>
              <a:buFont typeface="Helvetica Neue Light"/>
              <a:buNone/>
              <a:defRPr sz="3200"/>
            </a:lvl2pPr>
            <a:lvl3pPr marL="1371600" lvl="2" indent="-228600" algn="ctr">
              <a:lnSpc>
                <a:spcPct val="100000"/>
              </a:lnSpc>
              <a:spcBef>
                <a:spcPts val="0"/>
              </a:spcBef>
              <a:spcAft>
                <a:spcPts val="0"/>
              </a:spcAft>
              <a:buClr>
                <a:srgbClr val="000000"/>
              </a:buClr>
              <a:buSzPts val="3200"/>
              <a:buFont typeface="Helvetica Neue Light"/>
              <a:buNone/>
              <a:defRPr sz="3200"/>
            </a:lvl3pPr>
            <a:lvl4pPr marL="1828800" lvl="3" indent="-228600" algn="ctr">
              <a:lnSpc>
                <a:spcPct val="100000"/>
              </a:lnSpc>
              <a:spcBef>
                <a:spcPts val="0"/>
              </a:spcBef>
              <a:spcAft>
                <a:spcPts val="0"/>
              </a:spcAft>
              <a:buClr>
                <a:srgbClr val="000000"/>
              </a:buClr>
              <a:buSzPts val="3200"/>
              <a:buFont typeface="Helvetica Neue Light"/>
              <a:buNone/>
              <a:defRPr sz="3200"/>
            </a:lvl4pPr>
            <a:lvl5pPr marL="2286000" lvl="4" indent="-228600" algn="ctr">
              <a:lnSpc>
                <a:spcPct val="100000"/>
              </a:lnSpc>
              <a:spcBef>
                <a:spcPts val="0"/>
              </a:spcBef>
              <a:spcAft>
                <a:spcPts val="0"/>
              </a:spcAft>
              <a:buClr>
                <a:srgbClr val="000000"/>
              </a:buClr>
              <a:buSzPts val="3200"/>
              <a:buFont typeface="Helvetica Neue Light"/>
              <a:buNone/>
              <a:defRPr sz="3200"/>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25" name="Google Shape;25;p14"/>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Заголовок и пункты">
  <p:cSld name="Заголовок и пункты">
    <p:bg>
      <p:bgPr>
        <a:solidFill>
          <a:srgbClr val="FFFFFF"/>
        </a:solidFill>
        <a:effectLst/>
      </p:bgPr>
    </p:bg>
    <p:spTree>
      <p:nvGrpSpPr>
        <p:cNvPr id="1" name="Shape 26"/>
        <p:cNvGrpSpPr/>
        <p:nvPr/>
      </p:nvGrpSpPr>
      <p:grpSpPr>
        <a:xfrm>
          <a:off x="0" y="0"/>
          <a:ext cx="0" cy="0"/>
          <a:chOff x="0" y="0"/>
          <a:chExt cx="0" cy="0"/>
        </a:xfrm>
      </p:grpSpPr>
      <p:sp>
        <p:nvSpPr>
          <p:cNvPr id="27" name="Google Shape;27;p15"/>
          <p:cNvSpPr txBox="1">
            <a:spLocks noGrp="1"/>
          </p:cNvSpPr>
          <p:nvPr>
            <p:ph type="title"/>
          </p:nvPr>
        </p:nvSpPr>
        <p:spPr>
          <a:xfrm>
            <a:off x="952500" y="444500"/>
            <a:ext cx="11099800" cy="2159000"/>
          </a:xfrm>
          <a:prstGeom prst="rect">
            <a:avLst/>
          </a:prstGeom>
          <a:noFill/>
          <a:ln>
            <a:noFill/>
          </a:ln>
        </p:spPr>
        <p:txBody>
          <a:bodyPr spcFirstLastPara="1" wrap="square" lIns="50800" tIns="50800" rIns="50800" bIns="50800" anchor="ctr" anchorCtr="0">
            <a:no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28" name="Google Shape;28;p15"/>
          <p:cNvSpPr txBox="1">
            <a:spLocks noGrp="1"/>
          </p:cNvSpPr>
          <p:nvPr>
            <p:ph type="body" idx="1"/>
          </p:nvPr>
        </p:nvSpPr>
        <p:spPr>
          <a:xfrm>
            <a:off x="952500" y="2603500"/>
            <a:ext cx="11099800" cy="6286500"/>
          </a:xfrm>
          <a:prstGeom prst="rect">
            <a:avLst/>
          </a:prstGeom>
          <a:noFill/>
          <a:ln>
            <a:noFill/>
          </a:ln>
        </p:spPr>
        <p:txBody>
          <a:bodyPr spcFirstLastPara="1" wrap="square" lIns="50800" tIns="50800" rIns="50800" bIns="50800" anchor="ctr" anchorCtr="0">
            <a:noAutofit/>
          </a:bodyPr>
          <a:lstStyle>
            <a:lvl1pPr marL="457200" lvl="0" indent="-314325" algn="l">
              <a:lnSpc>
                <a:spcPct val="100000"/>
              </a:lnSpc>
              <a:spcBef>
                <a:spcPts val="4200"/>
              </a:spcBef>
              <a:spcAft>
                <a:spcPts val="0"/>
              </a:spcAft>
              <a:buClr>
                <a:srgbClr val="000000"/>
              </a:buClr>
              <a:buSzPts val="1350"/>
              <a:buChar char="•"/>
              <a:defRPr/>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29" name="Google Shape;29;p15"/>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Заголовок, пункты и фото">
  <p:cSld name="Заголовок, пункты и фото">
    <p:bg>
      <p:bgPr>
        <a:solidFill>
          <a:srgbClr val="FFFFFF"/>
        </a:solidFill>
        <a:effectLst/>
      </p:bgPr>
    </p:bg>
    <p:spTree>
      <p:nvGrpSpPr>
        <p:cNvPr id="1" name="Shape 30"/>
        <p:cNvGrpSpPr/>
        <p:nvPr/>
      </p:nvGrpSpPr>
      <p:grpSpPr>
        <a:xfrm>
          <a:off x="0" y="0"/>
          <a:ext cx="0" cy="0"/>
          <a:chOff x="0" y="0"/>
          <a:chExt cx="0" cy="0"/>
        </a:xfrm>
      </p:grpSpPr>
      <p:sp>
        <p:nvSpPr>
          <p:cNvPr id="31" name="Google Shape;31;p16"/>
          <p:cNvSpPr>
            <a:spLocks noGrp="1"/>
          </p:cNvSpPr>
          <p:nvPr>
            <p:ph type="pic" idx="2"/>
          </p:nvPr>
        </p:nvSpPr>
        <p:spPr>
          <a:xfrm>
            <a:off x="6718300" y="2603500"/>
            <a:ext cx="5334000" cy="6286500"/>
          </a:xfrm>
          <a:prstGeom prst="rect">
            <a:avLst/>
          </a:prstGeom>
          <a:noFill/>
          <a:ln>
            <a:noFill/>
          </a:ln>
        </p:spPr>
      </p:sp>
      <p:sp>
        <p:nvSpPr>
          <p:cNvPr id="32" name="Google Shape;32;p16"/>
          <p:cNvSpPr txBox="1">
            <a:spLocks noGrp="1"/>
          </p:cNvSpPr>
          <p:nvPr>
            <p:ph type="title"/>
          </p:nvPr>
        </p:nvSpPr>
        <p:spPr>
          <a:xfrm>
            <a:off x="952500" y="444500"/>
            <a:ext cx="11099800" cy="2159000"/>
          </a:xfrm>
          <a:prstGeom prst="rect">
            <a:avLst/>
          </a:prstGeom>
          <a:noFill/>
          <a:ln>
            <a:noFill/>
          </a:ln>
        </p:spPr>
        <p:txBody>
          <a:bodyPr spcFirstLastPara="1" wrap="square" lIns="50800" tIns="50800" rIns="50800" bIns="50800" anchor="ctr" anchorCtr="0">
            <a:no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33" name="Google Shape;33;p16"/>
          <p:cNvSpPr txBox="1">
            <a:spLocks noGrp="1"/>
          </p:cNvSpPr>
          <p:nvPr>
            <p:ph type="body" idx="1"/>
          </p:nvPr>
        </p:nvSpPr>
        <p:spPr>
          <a:xfrm>
            <a:off x="952500" y="2603500"/>
            <a:ext cx="5334000" cy="6286500"/>
          </a:xfrm>
          <a:prstGeom prst="rect">
            <a:avLst/>
          </a:prstGeom>
          <a:noFill/>
          <a:ln>
            <a:noFill/>
          </a:ln>
        </p:spPr>
        <p:txBody>
          <a:bodyPr spcFirstLastPara="1" wrap="square" lIns="50800" tIns="50800" rIns="50800" bIns="50800" anchor="ctr" anchorCtr="0">
            <a:noAutofit/>
          </a:bodyPr>
          <a:lstStyle>
            <a:lvl1pPr marL="457200" lvl="0" indent="-361950" algn="l">
              <a:lnSpc>
                <a:spcPct val="100000"/>
              </a:lnSpc>
              <a:spcBef>
                <a:spcPts val="3200"/>
              </a:spcBef>
              <a:spcAft>
                <a:spcPts val="0"/>
              </a:spcAft>
              <a:buClr>
                <a:srgbClr val="000000"/>
              </a:buClr>
              <a:buSzPts val="2100"/>
              <a:buFont typeface="Helvetica Neue Light"/>
              <a:buChar char="•"/>
              <a:defRPr sz="2800"/>
            </a:lvl1pPr>
            <a:lvl2pPr marL="914400" lvl="1" indent="-361950" algn="l">
              <a:lnSpc>
                <a:spcPct val="100000"/>
              </a:lnSpc>
              <a:spcBef>
                <a:spcPts val="3200"/>
              </a:spcBef>
              <a:spcAft>
                <a:spcPts val="0"/>
              </a:spcAft>
              <a:buClr>
                <a:srgbClr val="000000"/>
              </a:buClr>
              <a:buSzPts val="2100"/>
              <a:buFont typeface="Helvetica Neue Light"/>
              <a:buChar char="•"/>
              <a:defRPr sz="2800"/>
            </a:lvl2pPr>
            <a:lvl3pPr marL="1371600" lvl="2" indent="-361950" algn="l">
              <a:lnSpc>
                <a:spcPct val="100000"/>
              </a:lnSpc>
              <a:spcBef>
                <a:spcPts val="3200"/>
              </a:spcBef>
              <a:spcAft>
                <a:spcPts val="0"/>
              </a:spcAft>
              <a:buClr>
                <a:srgbClr val="000000"/>
              </a:buClr>
              <a:buSzPts val="2100"/>
              <a:buFont typeface="Helvetica Neue Light"/>
              <a:buChar char="•"/>
              <a:defRPr sz="2800"/>
            </a:lvl3pPr>
            <a:lvl4pPr marL="1828800" lvl="3" indent="-361950" algn="l">
              <a:lnSpc>
                <a:spcPct val="100000"/>
              </a:lnSpc>
              <a:spcBef>
                <a:spcPts val="3200"/>
              </a:spcBef>
              <a:spcAft>
                <a:spcPts val="0"/>
              </a:spcAft>
              <a:buClr>
                <a:srgbClr val="000000"/>
              </a:buClr>
              <a:buSzPts val="2100"/>
              <a:buFont typeface="Helvetica Neue Light"/>
              <a:buChar char="•"/>
              <a:defRPr sz="2800"/>
            </a:lvl4pPr>
            <a:lvl5pPr marL="2286000" lvl="4" indent="-361950" algn="l">
              <a:lnSpc>
                <a:spcPct val="100000"/>
              </a:lnSpc>
              <a:spcBef>
                <a:spcPts val="3200"/>
              </a:spcBef>
              <a:spcAft>
                <a:spcPts val="0"/>
              </a:spcAft>
              <a:buClr>
                <a:srgbClr val="000000"/>
              </a:buClr>
              <a:buSzPts val="2100"/>
              <a:buFont typeface="Helvetica Neue Light"/>
              <a:buChar char="•"/>
              <a:defRPr sz="2800"/>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34" name="Google Shape;34;p16"/>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Пункты">
  <p:cSld name="Пункты">
    <p:bg>
      <p:bgPr>
        <a:solidFill>
          <a:srgbClr val="FFFFFF"/>
        </a:solidFill>
        <a:effectLst/>
      </p:bgPr>
    </p:bg>
    <p:spTree>
      <p:nvGrpSpPr>
        <p:cNvPr id="1" name="Shape 35"/>
        <p:cNvGrpSpPr/>
        <p:nvPr/>
      </p:nvGrpSpPr>
      <p:grpSpPr>
        <a:xfrm>
          <a:off x="0" y="0"/>
          <a:ext cx="0" cy="0"/>
          <a:chOff x="0" y="0"/>
          <a:chExt cx="0" cy="0"/>
        </a:xfrm>
      </p:grpSpPr>
      <p:sp>
        <p:nvSpPr>
          <p:cNvPr id="36" name="Google Shape;36;p17"/>
          <p:cNvSpPr txBox="1">
            <a:spLocks noGrp="1"/>
          </p:cNvSpPr>
          <p:nvPr>
            <p:ph type="body" idx="1"/>
          </p:nvPr>
        </p:nvSpPr>
        <p:spPr>
          <a:xfrm>
            <a:off x="952500" y="1270000"/>
            <a:ext cx="11099800" cy="7213600"/>
          </a:xfrm>
          <a:prstGeom prst="rect">
            <a:avLst/>
          </a:prstGeom>
          <a:noFill/>
          <a:ln>
            <a:noFill/>
          </a:ln>
        </p:spPr>
        <p:txBody>
          <a:bodyPr spcFirstLastPara="1" wrap="square" lIns="50800" tIns="50800" rIns="50800" bIns="50800" anchor="ctr" anchorCtr="0">
            <a:noAutofit/>
          </a:bodyPr>
          <a:lstStyle>
            <a:lvl1pPr marL="457200" lvl="0" indent="-314325" algn="l">
              <a:lnSpc>
                <a:spcPct val="100000"/>
              </a:lnSpc>
              <a:spcBef>
                <a:spcPts val="4200"/>
              </a:spcBef>
              <a:spcAft>
                <a:spcPts val="0"/>
              </a:spcAft>
              <a:buClr>
                <a:srgbClr val="000000"/>
              </a:buClr>
              <a:buSzPts val="1350"/>
              <a:buChar char="•"/>
              <a:defRPr/>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37" name="Google Shape;37;p17"/>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Фото — 3 шт.">
  <p:cSld name="Фото — 3 шт.">
    <p:bg>
      <p:bgPr>
        <a:solidFill>
          <a:srgbClr val="FFFFFF"/>
        </a:solidFill>
        <a:effectLst/>
      </p:bgPr>
    </p:bg>
    <p:spTree>
      <p:nvGrpSpPr>
        <p:cNvPr id="1" name="Shape 38"/>
        <p:cNvGrpSpPr/>
        <p:nvPr/>
      </p:nvGrpSpPr>
      <p:grpSpPr>
        <a:xfrm>
          <a:off x="0" y="0"/>
          <a:ext cx="0" cy="0"/>
          <a:chOff x="0" y="0"/>
          <a:chExt cx="0" cy="0"/>
        </a:xfrm>
      </p:grpSpPr>
      <p:sp>
        <p:nvSpPr>
          <p:cNvPr id="39" name="Google Shape;39;p18"/>
          <p:cNvSpPr>
            <a:spLocks noGrp="1"/>
          </p:cNvSpPr>
          <p:nvPr>
            <p:ph type="pic" idx="2"/>
          </p:nvPr>
        </p:nvSpPr>
        <p:spPr>
          <a:xfrm>
            <a:off x="6718300" y="5092700"/>
            <a:ext cx="5334000" cy="3771900"/>
          </a:xfrm>
          <a:prstGeom prst="rect">
            <a:avLst/>
          </a:prstGeom>
          <a:noFill/>
          <a:ln>
            <a:noFill/>
          </a:ln>
        </p:spPr>
      </p:sp>
      <p:sp>
        <p:nvSpPr>
          <p:cNvPr id="40" name="Google Shape;40;p18"/>
          <p:cNvSpPr>
            <a:spLocks noGrp="1"/>
          </p:cNvSpPr>
          <p:nvPr>
            <p:ph type="pic" idx="3"/>
          </p:nvPr>
        </p:nvSpPr>
        <p:spPr>
          <a:xfrm>
            <a:off x="6724518" y="889000"/>
            <a:ext cx="5334001" cy="3771900"/>
          </a:xfrm>
          <a:prstGeom prst="rect">
            <a:avLst/>
          </a:prstGeom>
          <a:noFill/>
          <a:ln>
            <a:noFill/>
          </a:ln>
        </p:spPr>
      </p:sp>
      <p:sp>
        <p:nvSpPr>
          <p:cNvPr id="41" name="Google Shape;41;p18"/>
          <p:cNvSpPr>
            <a:spLocks noGrp="1"/>
          </p:cNvSpPr>
          <p:nvPr>
            <p:ph type="pic" idx="4"/>
          </p:nvPr>
        </p:nvSpPr>
        <p:spPr>
          <a:xfrm>
            <a:off x="952500" y="889000"/>
            <a:ext cx="5334000" cy="7975600"/>
          </a:xfrm>
          <a:prstGeom prst="rect">
            <a:avLst/>
          </a:prstGeom>
          <a:noFill/>
          <a:ln>
            <a:noFill/>
          </a:ln>
        </p:spPr>
      </p:sp>
      <p:sp>
        <p:nvSpPr>
          <p:cNvPr id="42" name="Google Shape;42;p18"/>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Цитата">
  <p:cSld name="Цитата">
    <p:bg>
      <p:bgPr>
        <a:solidFill>
          <a:srgbClr val="FFFFFF"/>
        </a:solidFill>
        <a:effectLst/>
      </p:bgPr>
    </p:bg>
    <p:spTree>
      <p:nvGrpSpPr>
        <p:cNvPr id="1" name="Shape 43"/>
        <p:cNvGrpSpPr/>
        <p:nvPr/>
      </p:nvGrpSpPr>
      <p:grpSpPr>
        <a:xfrm>
          <a:off x="0" y="0"/>
          <a:ext cx="0" cy="0"/>
          <a:chOff x="0" y="0"/>
          <a:chExt cx="0" cy="0"/>
        </a:xfrm>
      </p:grpSpPr>
      <p:sp>
        <p:nvSpPr>
          <p:cNvPr id="44" name="Google Shape;44;p19"/>
          <p:cNvSpPr txBox="1">
            <a:spLocks noGrp="1"/>
          </p:cNvSpPr>
          <p:nvPr>
            <p:ph type="body" idx="1"/>
          </p:nvPr>
        </p:nvSpPr>
        <p:spPr>
          <a:xfrm>
            <a:off x="1270000" y="6362700"/>
            <a:ext cx="10464800" cy="469900"/>
          </a:xfrm>
          <a:prstGeom prst="rect">
            <a:avLst/>
          </a:prstGeom>
          <a:noFill/>
          <a:ln>
            <a:noFill/>
          </a:ln>
        </p:spPr>
        <p:txBody>
          <a:bodyPr spcFirstLastPara="1" wrap="square" lIns="50800" tIns="50800" rIns="50800" bIns="50800" anchor="t" anchorCtr="0">
            <a:noAutofit/>
          </a:bodyPr>
          <a:lstStyle>
            <a:lvl1pPr marL="457200" lvl="0" indent="-228600" algn="ctr">
              <a:lnSpc>
                <a:spcPct val="100000"/>
              </a:lnSpc>
              <a:spcBef>
                <a:spcPts val="0"/>
              </a:spcBef>
              <a:spcAft>
                <a:spcPts val="0"/>
              </a:spcAft>
              <a:buClr>
                <a:srgbClr val="000000"/>
              </a:buClr>
              <a:buSzPts val="2400"/>
              <a:buFont typeface="Helvetica Neue"/>
              <a:buNone/>
              <a:defRPr sz="2400">
                <a:latin typeface="Helvetica Neue"/>
                <a:ea typeface="Helvetica Neue"/>
                <a:cs typeface="Helvetica Neue"/>
                <a:sym typeface="Helvetica Neue"/>
              </a:defRPr>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45" name="Google Shape;45;p19"/>
          <p:cNvSpPr txBox="1">
            <a:spLocks noGrp="1"/>
          </p:cNvSpPr>
          <p:nvPr>
            <p:ph type="body" idx="2"/>
          </p:nvPr>
        </p:nvSpPr>
        <p:spPr>
          <a:xfrm>
            <a:off x="1270000" y="4267200"/>
            <a:ext cx="10464800" cy="685800"/>
          </a:xfrm>
          <a:prstGeom prst="rect">
            <a:avLst/>
          </a:prstGeom>
          <a:noFill/>
          <a:ln>
            <a:noFill/>
          </a:ln>
        </p:spPr>
        <p:txBody>
          <a:bodyPr spcFirstLastPara="1" wrap="square" lIns="50800" tIns="50800" rIns="50800" bIns="50800" anchor="ctr" anchorCtr="0">
            <a:noAutofit/>
          </a:bodyPr>
          <a:lstStyle>
            <a:lvl1pPr marL="457200" lvl="0" indent="-228600" algn="ctr">
              <a:lnSpc>
                <a:spcPct val="100000"/>
              </a:lnSpc>
              <a:spcBef>
                <a:spcPts val="0"/>
              </a:spcBef>
              <a:spcAft>
                <a:spcPts val="0"/>
              </a:spcAft>
              <a:buClr>
                <a:srgbClr val="000000"/>
              </a:buClr>
              <a:buSzPts val="3800"/>
              <a:buFont typeface="Helvetica Neue Light"/>
              <a:buNone/>
              <a:defRPr sz="3800"/>
            </a:lvl1pPr>
            <a:lvl2pPr marL="914400" lvl="1" indent="-314325" algn="l">
              <a:lnSpc>
                <a:spcPct val="100000"/>
              </a:lnSpc>
              <a:spcBef>
                <a:spcPts val="4200"/>
              </a:spcBef>
              <a:spcAft>
                <a:spcPts val="0"/>
              </a:spcAft>
              <a:buClr>
                <a:srgbClr val="000000"/>
              </a:buClr>
              <a:buSzPts val="1350"/>
              <a:buChar char="•"/>
              <a:defRPr/>
            </a:lvl2pPr>
            <a:lvl3pPr marL="1371600" lvl="2" indent="-314325" algn="l">
              <a:lnSpc>
                <a:spcPct val="100000"/>
              </a:lnSpc>
              <a:spcBef>
                <a:spcPts val="4200"/>
              </a:spcBef>
              <a:spcAft>
                <a:spcPts val="0"/>
              </a:spcAft>
              <a:buClr>
                <a:srgbClr val="000000"/>
              </a:buClr>
              <a:buSzPts val="1350"/>
              <a:buChar char="•"/>
              <a:defRPr/>
            </a:lvl3pPr>
            <a:lvl4pPr marL="1828800" lvl="3" indent="-314325" algn="l">
              <a:lnSpc>
                <a:spcPct val="100000"/>
              </a:lnSpc>
              <a:spcBef>
                <a:spcPts val="4200"/>
              </a:spcBef>
              <a:spcAft>
                <a:spcPts val="0"/>
              </a:spcAft>
              <a:buClr>
                <a:srgbClr val="000000"/>
              </a:buClr>
              <a:buSzPts val="1350"/>
              <a:buChar char="•"/>
              <a:defRPr/>
            </a:lvl4pPr>
            <a:lvl5pPr marL="2286000" lvl="4" indent="-314325" algn="l">
              <a:lnSpc>
                <a:spcPct val="100000"/>
              </a:lnSpc>
              <a:spcBef>
                <a:spcPts val="4200"/>
              </a:spcBef>
              <a:spcAft>
                <a:spcPts val="0"/>
              </a:spcAft>
              <a:buClr>
                <a:srgbClr val="000000"/>
              </a:buClr>
              <a:buSzPts val="1350"/>
              <a:buChar char="•"/>
              <a:defRPr/>
            </a:lvl5pPr>
            <a:lvl6pPr marL="2743200" lvl="5" indent="-314325" algn="l">
              <a:lnSpc>
                <a:spcPct val="100000"/>
              </a:lnSpc>
              <a:spcBef>
                <a:spcPts val="4200"/>
              </a:spcBef>
              <a:spcAft>
                <a:spcPts val="0"/>
              </a:spcAft>
              <a:buClr>
                <a:srgbClr val="000000"/>
              </a:buClr>
              <a:buSzPts val="1350"/>
              <a:buChar char="•"/>
              <a:defRPr/>
            </a:lvl6pPr>
            <a:lvl7pPr marL="3200400" lvl="6" indent="-314325" algn="l">
              <a:lnSpc>
                <a:spcPct val="100000"/>
              </a:lnSpc>
              <a:spcBef>
                <a:spcPts val="4200"/>
              </a:spcBef>
              <a:spcAft>
                <a:spcPts val="0"/>
              </a:spcAft>
              <a:buClr>
                <a:srgbClr val="000000"/>
              </a:buClr>
              <a:buSzPts val="1350"/>
              <a:buChar char="•"/>
              <a:defRPr/>
            </a:lvl7pPr>
            <a:lvl8pPr marL="3657600" lvl="7" indent="-314325" algn="l">
              <a:lnSpc>
                <a:spcPct val="100000"/>
              </a:lnSpc>
              <a:spcBef>
                <a:spcPts val="4200"/>
              </a:spcBef>
              <a:spcAft>
                <a:spcPts val="0"/>
              </a:spcAft>
              <a:buClr>
                <a:srgbClr val="000000"/>
              </a:buClr>
              <a:buSzPts val="1350"/>
              <a:buChar char="•"/>
              <a:defRPr/>
            </a:lvl8pPr>
            <a:lvl9pPr marL="4114800" lvl="8" indent="-314325" algn="l">
              <a:lnSpc>
                <a:spcPct val="100000"/>
              </a:lnSpc>
              <a:spcBef>
                <a:spcPts val="4200"/>
              </a:spcBef>
              <a:spcAft>
                <a:spcPts val="0"/>
              </a:spcAft>
              <a:buClr>
                <a:srgbClr val="000000"/>
              </a:buClr>
              <a:buSzPts val="1350"/>
              <a:buChar char="•"/>
              <a:defRPr/>
            </a:lvl9pPr>
          </a:lstStyle>
          <a:p>
            <a:endParaRPr/>
          </a:p>
        </p:txBody>
      </p:sp>
      <p:sp>
        <p:nvSpPr>
          <p:cNvPr id="46" name="Google Shape;46;p19"/>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Фото">
  <p:cSld name="Фото">
    <p:bg>
      <p:bgPr>
        <a:solidFill>
          <a:srgbClr val="FFFFFF"/>
        </a:solidFill>
        <a:effectLst/>
      </p:bgPr>
    </p:bg>
    <p:spTree>
      <p:nvGrpSpPr>
        <p:cNvPr id="1" name="Shape 47"/>
        <p:cNvGrpSpPr/>
        <p:nvPr/>
      </p:nvGrpSpPr>
      <p:grpSpPr>
        <a:xfrm>
          <a:off x="0" y="0"/>
          <a:ext cx="0" cy="0"/>
          <a:chOff x="0" y="0"/>
          <a:chExt cx="0" cy="0"/>
        </a:xfrm>
      </p:grpSpPr>
      <p:sp>
        <p:nvSpPr>
          <p:cNvPr id="48" name="Google Shape;48;p20"/>
          <p:cNvSpPr>
            <a:spLocks noGrp="1"/>
          </p:cNvSpPr>
          <p:nvPr>
            <p:ph type="pic" idx="2"/>
          </p:nvPr>
        </p:nvSpPr>
        <p:spPr>
          <a:xfrm>
            <a:off x="0" y="0"/>
            <a:ext cx="13004800" cy="9753600"/>
          </a:xfrm>
          <a:prstGeom prst="rect">
            <a:avLst/>
          </a:prstGeom>
          <a:noFill/>
          <a:ln>
            <a:noFill/>
          </a:ln>
        </p:spPr>
      </p:sp>
      <p:sp>
        <p:nvSpPr>
          <p:cNvPr id="49" name="Google Shape;49;p20"/>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Пустой">
  <p:cSld name="Пустой">
    <p:bg>
      <p:bgPr>
        <a:solidFill>
          <a:srgbClr val="FFFFFF"/>
        </a:solidFill>
        <a:effectLst/>
      </p:bgPr>
    </p:bg>
    <p:spTree>
      <p:nvGrpSpPr>
        <p:cNvPr id="1" name="Shape 50"/>
        <p:cNvGrpSpPr/>
        <p:nvPr/>
      </p:nvGrpSpPr>
      <p:grpSpPr>
        <a:xfrm>
          <a:off x="0" y="0"/>
          <a:ext cx="0" cy="0"/>
          <a:chOff x="0" y="0"/>
          <a:chExt cx="0" cy="0"/>
        </a:xfrm>
      </p:grpSpPr>
      <p:sp>
        <p:nvSpPr>
          <p:cNvPr id="51" name="Google Shape;51;p21"/>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53957"/>
        </a:solidFill>
        <a:effectLst/>
      </p:bgPr>
    </p:bg>
    <p:spTree>
      <p:nvGrpSpPr>
        <p:cNvPr id="1" name="Shape 5"/>
        <p:cNvGrpSpPr/>
        <p:nvPr/>
      </p:nvGrpSpPr>
      <p:grpSpPr>
        <a:xfrm>
          <a:off x="0" y="0"/>
          <a:ext cx="0" cy="0"/>
          <a:chOff x="0" y="0"/>
          <a:chExt cx="0" cy="0"/>
        </a:xfrm>
      </p:grpSpPr>
      <p:sp>
        <p:nvSpPr>
          <p:cNvPr id="6" name="Google Shape;6;p9"/>
          <p:cNvSpPr txBox="1">
            <a:spLocks noGrp="1"/>
          </p:cNvSpPr>
          <p:nvPr>
            <p:ph type="title"/>
          </p:nvPr>
        </p:nvSpPr>
        <p:spPr>
          <a:xfrm>
            <a:off x="952500" y="444500"/>
            <a:ext cx="11099800" cy="2159000"/>
          </a:xfrm>
          <a:prstGeom prst="rect">
            <a:avLst/>
          </a:prstGeom>
          <a:noFill/>
          <a:ln>
            <a:noFill/>
          </a:ln>
        </p:spPr>
        <p:txBody>
          <a:bodyPr spcFirstLastPara="1" wrap="square" lIns="50800" tIns="50800" rIns="50800" bIns="50800" anchor="ctr" anchorCtr="0">
            <a:noAutofit/>
          </a:bodyPr>
          <a:lstStyle>
            <a:lvl1pPr marR="0" lvl="0"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8000"/>
              <a:buFont typeface="Helvetica Neue Light"/>
              <a:buNone/>
              <a:defRPr sz="80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 name="Google Shape;7;p9"/>
          <p:cNvSpPr txBox="1">
            <a:spLocks noGrp="1"/>
          </p:cNvSpPr>
          <p:nvPr>
            <p:ph type="body" idx="1"/>
          </p:nvPr>
        </p:nvSpPr>
        <p:spPr>
          <a:xfrm>
            <a:off x="952500" y="2603500"/>
            <a:ext cx="11099800" cy="6286500"/>
          </a:xfrm>
          <a:prstGeom prst="rect">
            <a:avLst/>
          </a:prstGeom>
          <a:noFill/>
          <a:ln>
            <a:noFill/>
          </a:ln>
        </p:spPr>
        <p:txBody>
          <a:bodyPr spcFirstLastPara="1" wrap="square" lIns="50800" tIns="50800" rIns="50800" bIns="50800" anchor="ctr" anchorCtr="0">
            <a:noAutofit/>
          </a:bodyPr>
          <a:lstStyle>
            <a:lvl1pPr marL="457200" marR="0" lvl="0"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1pPr>
            <a:lvl2pPr marL="914400" marR="0" lvl="1"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2pPr>
            <a:lvl3pPr marL="1371600" marR="0" lvl="2"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3pPr>
            <a:lvl4pPr marL="1828800" marR="0" lvl="3"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4pPr>
            <a:lvl5pPr marL="2286000" marR="0" lvl="4"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5pPr>
            <a:lvl6pPr marL="2743200" marR="0" lvl="5"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6pPr>
            <a:lvl7pPr marL="3200400" marR="0" lvl="6"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7pPr>
            <a:lvl8pPr marL="3657600" marR="0" lvl="7"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8pPr>
            <a:lvl9pPr marL="4114800" marR="0" lvl="8" indent="-400050" algn="l" rtl="0">
              <a:lnSpc>
                <a:spcPct val="100000"/>
              </a:lnSpc>
              <a:spcBef>
                <a:spcPts val="4200"/>
              </a:spcBef>
              <a:spcAft>
                <a:spcPts val="0"/>
              </a:spcAft>
              <a:buClr>
                <a:srgbClr val="000000"/>
              </a:buClr>
              <a:buSzPts val="2700"/>
              <a:buFont typeface="Helvetica Neue Light"/>
              <a:buChar char="•"/>
              <a:defRPr sz="36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 name="Google Shape;8;p9"/>
          <p:cNvSpPr txBox="1">
            <a:spLocks noGrp="1"/>
          </p:cNvSpPr>
          <p:nvPr>
            <p:ph type="sldNum" idx="12"/>
          </p:nvPr>
        </p:nvSpPr>
        <p:spPr>
          <a:xfrm>
            <a:off x="6311798" y="9251950"/>
            <a:ext cx="368504" cy="381000"/>
          </a:xfrm>
          <a:prstGeom prst="rect">
            <a:avLst/>
          </a:prstGeom>
          <a:noFill/>
          <a:ln>
            <a:noFill/>
          </a:ln>
        </p:spPr>
        <p:txBody>
          <a:bodyPr spcFirstLastPara="1" wrap="square" lIns="50800" tIns="50800" rIns="50800" bIns="50800" anchor="t" anchorCtr="0">
            <a:noAutofit/>
          </a:bodyPr>
          <a:lstStyle>
            <a:lvl1pPr marL="0" marR="0" lvl="0"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800"/>
              <a:buFont typeface="Helvetica Neue Light"/>
              <a:buNone/>
              <a:defRPr sz="18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ru-RU"/>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theblackbucks.com/emgtech/pgp-sub/AI/books/Foundations%20of%20Machine%20Learning%20-%20Mehryar%20Mohri.pdf" TargetMode="External"/><Relationship Id="rId3" Type="http://schemas.openxmlformats.org/officeDocument/2006/relationships/image" Target="../media/image2.png"/><Relationship Id="rId7" Type="http://schemas.openxmlformats.org/officeDocument/2006/relationships/hyperlink" Target="https://www.fdic.gov/analysis/cfr/2007/apr/kadamlenk.pd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hal.science/hal-03347521v4" TargetMode="External"/><Relationship Id="rId5" Type="http://schemas.openxmlformats.org/officeDocument/2006/relationships/hyperlink" Target="https://www.scielo.br/j/prod/a/9mts7ZRX3brDpLBVMW8spCN/?lang=en" TargetMode="External"/><Relationship Id="rId10" Type="http://schemas.openxmlformats.org/officeDocument/2006/relationships/hyperlink" Target="https://www.mdpi.com/0718-1876/17/4/77" TargetMode="External"/><Relationship Id="rId4" Type="http://schemas.openxmlformats.org/officeDocument/2006/relationships/hyperlink" Target="https://libcats.org/book/579381" TargetMode="External"/><Relationship Id="rId9" Type="http://schemas.openxmlformats.org/officeDocument/2006/relationships/hyperlink" Target="https://arxiv.org/abs/1205.1117"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cxnSp>
        <p:nvCxnSpPr>
          <p:cNvPr id="56" name="Google Shape;56;p1"/>
          <p:cNvCxnSpPr/>
          <p:nvPr/>
        </p:nvCxnSpPr>
        <p:spPr>
          <a:xfrm rot="10800000" flipH="1">
            <a:off x="5206999" y="1140740"/>
            <a:ext cx="1" cy="1975004"/>
          </a:xfrm>
          <a:prstGeom prst="straightConnector1">
            <a:avLst/>
          </a:prstGeom>
          <a:noFill/>
          <a:ln w="12700" cap="flat" cmpd="sng">
            <a:solidFill>
              <a:srgbClr val="FFFFFF"/>
            </a:solidFill>
            <a:prstDash val="solid"/>
            <a:miter lim="400000"/>
            <a:headEnd type="none" w="sm" len="sm"/>
            <a:tailEnd type="none" w="sm" len="sm"/>
          </a:ln>
        </p:spPr>
      </p:cxnSp>
      <p:sp>
        <p:nvSpPr>
          <p:cNvPr id="57" name="Google Shape;57;p1"/>
          <p:cNvSpPr txBox="1"/>
          <p:nvPr/>
        </p:nvSpPr>
        <p:spPr>
          <a:xfrm>
            <a:off x="5207000" y="2107121"/>
            <a:ext cx="6715325" cy="2955443"/>
          </a:xfrm>
          <a:prstGeom prst="rect">
            <a:avLst/>
          </a:prstGeom>
          <a:noFill/>
          <a:ln>
            <a:noFill/>
          </a:ln>
        </p:spPr>
        <p:txBody>
          <a:bodyPr spcFirstLastPara="1" wrap="square" lIns="50800" tIns="50800" rIns="50800" bIns="50800" anchor="ctr" anchorCtr="0">
            <a:noAutofit/>
          </a:bodyPr>
          <a:lstStyle/>
          <a:p>
            <a:pPr algn="ctr">
              <a:buClr>
                <a:srgbClr val="253957"/>
              </a:buClr>
              <a:buSzPts val="3200"/>
            </a:pPr>
            <a:r>
              <a:rPr lang="ru-RU" sz="3200" b="1" i="0" u="none" strike="noStrike" cap="none" dirty="0">
                <a:solidFill>
                  <a:srgbClr val="253957"/>
                </a:solidFill>
                <a:latin typeface="Arial Narrow"/>
                <a:ea typeface="Arial Narrow"/>
                <a:cs typeface="Arial Narrow"/>
                <a:sym typeface="Arial Narrow"/>
              </a:rPr>
              <a:t>Проект #2101, </a:t>
            </a:r>
            <a:r>
              <a:rPr lang="ru-RU" sz="3200" b="1" i="0" u="none" strike="noStrike" dirty="0">
                <a:effectLst/>
                <a:latin typeface="+mn-lt"/>
              </a:rPr>
              <a:t>Изучение временных рядов рейтингов компаний, занимающихся экономической деятельностью</a:t>
            </a:r>
          </a:p>
          <a:p>
            <a:pPr marL="0" marR="0" lvl="0" indent="0" algn="ctr" rtl="0">
              <a:lnSpc>
                <a:spcPct val="100000"/>
              </a:lnSpc>
              <a:spcBef>
                <a:spcPts val="0"/>
              </a:spcBef>
              <a:spcAft>
                <a:spcPts val="0"/>
              </a:spcAft>
              <a:buClr>
                <a:srgbClr val="253957"/>
              </a:buClr>
              <a:buSzPts val="3200"/>
              <a:buFont typeface="Arial Narrow"/>
              <a:buNone/>
            </a:pPr>
            <a:endParaRPr lang="ru-RU" sz="1400" b="0" i="0" u="none" strike="noStrike" cap="none" dirty="0">
              <a:solidFill>
                <a:srgbClr val="000000"/>
              </a:solidFill>
              <a:latin typeface="Arial"/>
              <a:ea typeface="Arial"/>
              <a:cs typeface="Arial"/>
              <a:sym typeface="Arial"/>
            </a:endParaRPr>
          </a:p>
        </p:txBody>
      </p:sp>
      <p:sp>
        <p:nvSpPr>
          <p:cNvPr id="58" name="Google Shape;58;p1"/>
          <p:cNvSpPr txBox="1"/>
          <p:nvPr/>
        </p:nvSpPr>
        <p:spPr>
          <a:xfrm>
            <a:off x="8897814" y="6349912"/>
            <a:ext cx="3011810" cy="834305"/>
          </a:xfrm>
          <a:prstGeom prst="rect">
            <a:avLst/>
          </a:prstGeom>
          <a:noFill/>
          <a:ln>
            <a:noFill/>
          </a:ln>
        </p:spPr>
        <p:txBody>
          <a:bodyPr spcFirstLastPara="1" wrap="square" lIns="50800" tIns="50800" rIns="50800" bIns="50800" anchor="t" anchorCtr="0">
            <a:noAutofit/>
          </a:bodyPr>
          <a:lstStyle/>
          <a:p>
            <a:pPr marL="0" marR="0" lvl="0" indent="0" algn="l" rtl="0">
              <a:lnSpc>
                <a:spcPct val="100000"/>
              </a:lnSpc>
              <a:spcBef>
                <a:spcPts val="0"/>
              </a:spcBef>
              <a:spcAft>
                <a:spcPts val="0"/>
              </a:spcAft>
              <a:buClr>
                <a:srgbClr val="253957"/>
              </a:buClr>
              <a:buSzPts val="3000"/>
              <a:buFont typeface="Arial Narrow"/>
              <a:buNone/>
            </a:pPr>
            <a:endParaRPr sz="3000" b="0" i="0" u="none" strike="noStrike" cap="none">
              <a:solidFill>
                <a:srgbClr val="253957"/>
              </a:solidFill>
              <a:latin typeface="Arial Narrow"/>
              <a:ea typeface="Arial Narrow"/>
              <a:cs typeface="Arial Narrow"/>
              <a:sym typeface="Arial Narrow"/>
            </a:endParaRPr>
          </a:p>
        </p:txBody>
      </p:sp>
      <p:sp>
        <p:nvSpPr>
          <p:cNvPr id="59" name="Google Shape;59;p1"/>
          <p:cNvSpPr txBox="1"/>
          <p:nvPr/>
        </p:nvSpPr>
        <p:spPr>
          <a:xfrm>
            <a:off x="4091554" y="587229"/>
            <a:ext cx="9035501" cy="718145"/>
          </a:xfrm>
          <a:prstGeom prst="rect">
            <a:avLst/>
          </a:prstGeom>
          <a:no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253957"/>
              </a:buClr>
              <a:buSzPts val="2000"/>
              <a:buFont typeface="Arial Narrow"/>
              <a:buNone/>
            </a:pPr>
            <a:r>
              <a:rPr lang="ru-RU" sz="2000" b="0" i="0" u="none" strike="noStrike" cap="none">
                <a:solidFill>
                  <a:srgbClr val="253957"/>
                </a:solidFill>
                <a:latin typeface="Arial Narrow"/>
                <a:ea typeface="Arial Narrow"/>
                <a:cs typeface="Arial Narrow"/>
                <a:sym typeface="Arial Narrow"/>
              </a:rPr>
              <a:t>Московский институт электроники и математики им. А.Н. Тихонова </a:t>
            </a:r>
            <a:endParaRPr sz="2000" b="0" i="0" u="none" strike="noStrike" cap="none">
              <a:solidFill>
                <a:srgbClr val="000000"/>
              </a:solidFill>
              <a:latin typeface="Arial Narrow"/>
              <a:ea typeface="Arial Narrow"/>
              <a:cs typeface="Arial Narrow"/>
              <a:sym typeface="Arial Narrow"/>
            </a:endParaRPr>
          </a:p>
        </p:txBody>
      </p:sp>
      <p:sp>
        <p:nvSpPr>
          <p:cNvPr id="60" name="Google Shape;60;p1"/>
          <p:cNvSpPr txBox="1"/>
          <p:nvPr/>
        </p:nvSpPr>
        <p:spPr>
          <a:xfrm>
            <a:off x="5194424" y="8630062"/>
            <a:ext cx="6715200" cy="425700"/>
          </a:xfrm>
          <a:prstGeom prst="rect">
            <a:avLst/>
          </a:prstGeom>
          <a:no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253957"/>
              </a:buClr>
              <a:buSzPts val="2100"/>
              <a:buFont typeface="Arial Narrow"/>
              <a:buNone/>
            </a:pPr>
            <a:r>
              <a:rPr lang="ru-RU" sz="2100" b="0" i="0" u="none" strike="noStrike" cap="none" dirty="0">
                <a:solidFill>
                  <a:srgbClr val="253957"/>
                </a:solidFill>
                <a:latin typeface="Arial Narrow"/>
                <a:ea typeface="Arial Narrow"/>
                <a:cs typeface="Arial Narrow"/>
                <a:sym typeface="Arial Narrow"/>
              </a:rPr>
              <a:t>Москва, 2024</a:t>
            </a:r>
            <a:endParaRPr sz="2100" b="0" i="0" u="none" strike="noStrike" cap="none" dirty="0">
              <a:solidFill>
                <a:srgbClr val="253957"/>
              </a:solidFill>
              <a:latin typeface="Arial Narrow"/>
              <a:ea typeface="Arial Narrow"/>
              <a:cs typeface="Arial Narrow"/>
              <a:sym typeface="Arial Narrow"/>
            </a:endParaRPr>
          </a:p>
        </p:txBody>
      </p:sp>
      <p:pic>
        <p:nvPicPr>
          <p:cNvPr id="61" name="Google Shape;61;p1" descr="Изображение"/>
          <p:cNvPicPr preferRelativeResize="0"/>
          <p:nvPr/>
        </p:nvPicPr>
        <p:blipFill rotWithShape="1">
          <a:blip r:embed="rId3">
            <a:alphaModFix/>
          </a:blip>
          <a:srcRect/>
          <a:stretch/>
        </p:blipFill>
        <p:spPr>
          <a:xfrm>
            <a:off x="968298" y="946303"/>
            <a:ext cx="1945686" cy="1881278"/>
          </a:xfrm>
          <a:prstGeom prst="rect">
            <a:avLst/>
          </a:prstGeom>
          <a:noFill/>
          <a:ln>
            <a:noFill/>
          </a:ln>
        </p:spPr>
      </p:pic>
      <p:sp>
        <p:nvSpPr>
          <p:cNvPr id="62" name="Google Shape;62;p1"/>
          <p:cNvSpPr/>
          <p:nvPr/>
        </p:nvSpPr>
        <p:spPr>
          <a:xfrm>
            <a:off x="8035675" y="5628036"/>
            <a:ext cx="4689900" cy="2493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2400"/>
              <a:buFont typeface="Helvetica Neue Light"/>
              <a:buNone/>
            </a:pPr>
            <a:r>
              <a:rPr lang="ru-RU" sz="2200" dirty="0">
                <a:solidFill>
                  <a:srgbClr val="22375A"/>
                </a:solidFill>
              </a:rPr>
              <a:t>Подготовил</a:t>
            </a:r>
            <a:r>
              <a:rPr lang="ru-RU" sz="2200" b="0" i="0" u="none" strike="noStrike" cap="none" dirty="0">
                <a:solidFill>
                  <a:srgbClr val="22375A"/>
                </a:solidFill>
                <a:latin typeface="Arial"/>
                <a:ea typeface="Arial"/>
                <a:cs typeface="Arial"/>
                <a:sym typeface="Arial"/>
              </a:rPr>
              <a:t>:</a:t>
            </a:r>
            <a:endParaRPr sz="2200" b="0" i="0" u="none" strike="noStrike" cap="none" dirty="0">
              <a:solidFill>
                <a:srgbClr val="22375A"/>
              </a:solidFill>
              <a:latin typeface="Arial"/>
              <a:ea typeface="Arial"/>
              <a:cs typeface="Arial"/>
              <a:sym typeface="Arial"/>
            </a:endParaRPr>
          </a:p>
          <a:p>
            <a:pPr marL="0" marR="0" lvl="0" indent="0" algn="r" rtl="0">
              <a:lnSpc>
                <a:spcPct val="100000"/>
              </a:lnSpc>
              <a:spcBef>
                <a:spcPts val="0"/>
              </a:spcBef>
              <a:spcAft>
                <a:spcPts val="0"/>
              </a:spcAft>
              <a:buClr>
                <a:schemeClr val="dk1"/>
              </a:buClr>
              <a:buSzPts val="2400"/>
              <a:buFont typeface="Helvetica Neue Light"/>
              <a:buNone/>
            </a:pPr>
            <a:r>
              <a:rPr lang="ru-RU" sz="2200" b="0" i="0" u="none" strike="noStrike" cap="none" dirty="0">
                <a:solidFill>
                  <a:srgbClr val="22375A"/>
                </a:solidFill>
                <a:latin typeface="Arial"/>
                <a:ea typeface="Arial"/>
                <a:cs typeface="Arial"/>
                <a:sym typeface="Arial"/>
              </a:rPr>
              <a:t> </a:t>
            </a:r>
            <a:r>
              <a:rPr lang="ru-RU" sz="2200" dirty="0">
                <a:solidFill>
                  <a:srgbClr val="22375A"/>
                </a:solidFill>
              </a:rPr>
              <a:t>Липатов Данила Вячеславович</a:t>
            </a:r>
            <a:r>
              <a:rPr lang="ru-RU" sz="2200" b="0" i="0" u="none" strike="noStrike" cap="none" dirty="0">
                <a:solidFill>
                  <a:srgbClr val="22375A"/>
                </a:solidFill>
                <a:latin typeface="Arial"/>
                <a:ea typeface="Arial"/>
                <a:cs typeface="Arial"/>
                <a:sym typeface="Arial"/>
              </a:rPr>
              <a:t>, МСМТ243</a:t>
            </a:r>
            <a:endParaRPr sz="2200" b="0" i="0" u="none" strike="noStrike" cap="none" dirty="0">
              <a:solidFill>
                <a:srgbClr val="22375A"/>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cxnSp>
        <p:nvCxnSpPr>
          <p:cNvPr id="67" name="Google Shape;67;p2"/>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68" name="Google Shape;68;p2"/>
          <p:cNvSpPr txBox="1"/>
          <p:nvPr/>
        </p:nvSpPr>
        <p:spPr>
          <a:xfrm>
            <a:off x="787400" y="1014401"/>
            <a:ext cx="11430000" cy="5604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Суть проекта</a:t>
            </a:r>
            <a:endParaRPr sz="1400" b="0" i="0" u="none" strike="noStrike" cap="none" dirty="0">
              <a:solidFill>
                <a:srgbClr val="000000"/>
              </a:solidFill>
              <a:latin typeface="Arial"/>
              <a:ea typeface="Arial"/>
              <a:cs typeface="Arial"/>
              <a:sym typeface="Arial"/>
            </a:endParaRPr>
          </a:p>
        </p:txBody>
      </p:sp>
      <p:sp>
        <p:nvSpPr>
          <p:cNvPr id="69" name="Google Shape;69;p2"/>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pic>
        <p:nvPicPr>
          <p:cNvPr id="70" name="Google Shape;70;p2"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71" name="Google Shape;71;p2"/>
          <p:cNvSpPr txBox="1"/>
          <p:nvPr/>
        </p:nvSpPr>
        <p:spPr>
          <a:xfrm>
            <a:off x="1053550" y="2330950"/>
            <a:ext cx="11089500" cy="4385786"/>
          </a:xfrm>
          <a:prstGeom prst="rect">
            <a:avLst/>
          </a:prstGeom>
          <a:noFill/>
          <a:ln>
            <a:noFill/>
          </a:ln>
        </p:spPr>
        <p:txBody>
          <a:bodyPr spcFirstLastPara="1" wrap="square" lIns="91425" tIns="91425" rIns="91425" bIns="91425" anchor="t" anchorCtr="0">
            <a:spAutoFit/>
          </a:bodyPr>
          <a:lstStyle/>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Оценка качества моделей рейтингования. Матрицы миграции позволяют анализировать, насколько точно и своевременно кредитные рейтинговые агентства предсказывают изменения в кредитном качестве оцениваемых компаний.</a:t>
            </a:r>
          </a:p>
          <a:p>
            <a:pPr marL="457200" lvl="0" indent="0" algn="l" rtl="0">
              <a:spcBef>
                <a:spcPts val="0"/>
              </a:spcBef>
              <a:spcAft>
                <a:spcPts val="0"/>
              </a:spcAft>
              <a:buNone/>
            </a:pP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Повышение прозрачности и доверия. Раскрытие информации о матрицах миграции способствует повышению прозрачности рынка и доверия к кредитным рейтингам </a:t>
            </a:r>
          </a:p>
          <a:p>
            <a:pPr marL="457200" lvl="0" indent="0" algn="l" rtl="0">
              <a:spcBef>
                <a:spcPts val="0"/>
              </a:spcBef>
              <a:spcAft>
                <a:spcPts val="0"/>
              </a:spcAft>
              <a:buNone/>
            </a:pP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Прогнозирование рисков. Понимание того, как компании перемещаются между различными категориями кредитных рейтингов, помогает инвесторам и кредиторам оценить риски и принять обоснованные решения об инвестировании или кредитовании. </a:t>
            </a:r>
          </a:p>
        </p:txBody>
      </p:sp>
      <p:sp>
        <p:nvSpPr>
          <p:cNvPr id="72" name="Google Shape;72;p2"/>
          <p:cNvSpPr txBox="1"/>
          <p:nvPr/>
        </p:nvSpPr>
        <p:spPr>
          <a:xfrm>
            <a:off x="11318375" y="8422747"/>
            <a:ext cx="721500" cy="6912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ru-RU" sz="1000">
                <a:solidFill>
                  <a:srgbClr val="434343"/>
                </a:solidFill>
                <a:latin typeface="Roboto"/>
                <a:ea typeface="Roboto"/>
                <a:cs typeface="Roboto"/>
                <a:sym typeface="Roboto"/>
              </a:rPr>
              <a:t>2</a:t>
            </a:fld>
            <a:endParaRPr sz="1000">
              <a:solidFill>
                <a:srgbClr val="434343"/>
              </a:solidFill>
              <a:latin typeface="Roboto"/>
              <a:ea typeface="Roboto"/>
              <a:cs typeface="Roboto"/>
              <a:sym typeface="Roboto"/>
            </a:endParaRPr>
          </a:p>
        </p:txBody>
      </p:sp>
      <p:sp>
        <p:nvSpPr>
          <p:cNvPr id="74" name="Google Shape;74;p2"/>
          <p:cNvSpPr txBox="1"/>
          <p:nvPr/>
        </p:nvSpPr>
        <p:spPr>
          <a:xfrm>
            <a:off x="846604" y="6762849"/>
            <a:ext cx="110895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000" b="1" u="sng" dirty="0">
                <a:latin typeface="Helvetica Neue"/>
                <a:ea typeface="Helvetica Neue"/>
                <a:cs typeface="Helvetica Neue"/>
                <a:sym typeface="Helvetica Neue"/>
              </a:rPr>
              <a:t>Основная идея:</a:t>
            </a:r>
            <a:r>
              <a:rPr lang="ru-RU" sz="2000" dirty="0">
                <a:latin typeface="Helvetica Neue"/>
                <a:ea typeface="Helvetica Neue"/>
                <a:cs typeface="Helvetica Neue"/>
                <a:sym typeface="Helvetica Neue"/>
              </a:rPr>
              <a:t> Важно уметь </a:t>
            </a:r>
            <a:r>
              <a:rPr lang="ru-RU" sz="2000" dirty="0">
                <a:solidFill>
                  <a:srgbClr val="222222"/>
                </a:solidFill>
                <a:highlight>
                  <a:schemeClr val="lt1"/>
                </a:highlight>
                <a:latin typeface="Helvetica Neue"/>
                <a:ea typeface="Helvetica Neue"/>
                <a:cs typeface="Helvetica Neue"/>
                <a:sym typeface="Helvetica Neue"/>
              </a:rPr>
              <a:t>предсказывать дальнейшие состояния кредитного рейтинга компании (объекта) на основе данных о его поведении. </a:t>
            </a:r>
            <a:endParaRPr sz="2000" dirty="0">
              <a:latin typeface="Helvetica Neue"/>
              <a:ea typeface="Helvetica Neue"/>
              <a:cs typeface="Helvetica Neue"/>
              <a:sym typeface="Helvetica Neue"/>
            </a:endParaRPr>
          </a:p>
        </p:txBody>
      </p:sp>
      <p:sp>
        <p:nvSpPr>
          <p:cNvPr id="75" name="Google Shape;75;p2"/>
          <p:cNvSpPr txBox="1"/>
          <p:nvPr/>
        </p:nvSpPr>
        <p:spPr>
          <a:xfrm>
            <a:off x="1053550" y="1654325"/>
            <a:ext cx="3000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000" b="1" u="sng">
                <a:solidFill>
                  <a:schemeClr val="dk1"/>
                </a:solidFill>
                <a:latin typeface="Helvetica Neue"/>
                <a:ea typeface="Helvetica Neue"/>
                <a:cs typeface="Helvetica Neue"/>
                <a:sym typeface="Helvetica Neue"/>
              </a:rPr>
              <a:t>Мотивация:</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cxnSp>
        <p:nvCxnSpPr>
          <p:cNvPr id="81" name="Google Shape;81;p3"/>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82" name="Google Shape;82;p3"/>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a:solidFill>
                  <a:srgbClr val="253957"/>
                </a:solidFill>
                <a:latin typeface="Arial Narrow"/>
                <a:ea typeface="Arial Narrow"/>
                <a:cs typeface="Arial Narrow"/>
                <a:sym typeface="Arial Narrow"/>
              </a:rPr>
              <a:t>Цель и задачи проекта</a:t>
            </a:r>
            <a:endParaRPr sz="1400" b="0" i="0" u="none" strike="noStrike" cap="none">
              <a:solidFill>
                <a:srgbClr val="000000"/>
              </a:solidFill>
              <a:latin typeface="Arial"/>
              <a:ea typeface="Arial"/>
              <a:cs typeface="Arial"/>
              <a:sym typeface="Arial"/>
            </a:endParaRPr>
          </a:p>
        </p:txBody>
      </p:sp>
      <p:sp>
        <p:nvSpPr>
          <p:cNvPr id="83" name="Google Shape;83;p3"/>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84" name="Google Shape;84;p3"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85" name="Google Shape;85;p3"/>
          <p:cNvSpPr txBox="1"/>
          <p:nvPr/>
        </p:nvSpPr>
        <p:spPr>
          <a:xfrm>
            <a:off x="805550" y="1713800"/>
            <a:ext cx="12048000" cy="7637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2700"/>
              <a:buFont typeface="Arial"/>
              <a:buNone/>
            </a:pPr>
            <a:r>
              <a:rPr lang="ru-RU" sz="2000" b="1" i="0" u="sng" strike="noStrike" cap="none" dirty="0">
                <a:solidFill>
                  <a:schemeClr val="dk1"/>
                </a:solidFill>
                <a:latin typeface="Helvetica Neue"/>
                <a:ea typeface="Helvetica Neue"/>
                <a:cs typeface="Helvetica Neue"/>
                <a:sym typeface="Helvetica Neue"/>
              </a:rPr>
              <a:t>Цель проекта:</a:t>
            </a:r>
            <a:r>
              <a:rPr lang="ru-RU" sz="2000" i="0" u="none" strike="noStrike" cap="none" dirty="0">
                <a:solidFill>
                  <a:schemeClr val="dk1"/>
                </a:solidFill>
                <a:latin typeface="Helvetica Neue Light"/>
                <a:ea typeface="Helvetica Neue Light"/>
                <a:cs typeface="Helvetica Neue Light"/>
                <a:sym typeface="Helvetica Neue Light"/>
              </a:rPr>
              <a:t> </a:t>
            </a:r>
            <a:r>
              <a:rPr lang="ru-RU" sz="2000" dirty="0">
                <a:solidFill>
                  <a:srgbClr val="222222"/>
                </a:solidFill>
                <a:highlight>
                  <a:srgbClr val="FFFFFF"/>
                </a:highlight>
                <a:latin typeface="Helvetica Neue"/>
                <a:ea typeface="Helvetica Neue"/>
                <a:cs typeface="Helvetica Neue"/>
                <a:sym typeface="Helvetica Neue"/>
              </a:rPr>
              <a:t>предложить алгоритм прогнозирования кредитного рейтинга объекта на несколько будущих периодов</a:t>
            </a:r>
            <a:endParaRPr sz="2000" dirty="0">
              <a:solidFill>
                <a:srgbClr val="222222"/>
              </a:solidFill>
              <a:highlight>
                <a:srgbClr val="FFFFFF"/>
              </a:highlight>
              <a:latin typeface="Helvetica Neue"/>
              <a:ea typeface="Helvetica Neue"/>
              <a:cs typeface="Helvetica Neue"/>
              <a:sym typeface="Helvetica Neue"/>
            </a:endParaRPr>
          </a:p>
          <a:p>
            <a:pPr marL="457200" marR="0" lvl="0" indent="0" algn="l" rtl="0">
              <a:lnSpc>
                <a:spcPct val="100000"/>
              </a:lnSpc>
              <a:spcBef>
                <a:spcPts val="0"/>
              </a:spcBef>
              <a:spcAft>
                <a:spcPts val="0"/>
              </a:spcAft>
              <a:buClr>
                <a:srgbClr val="000000"/>
              </a:buClr>
              <a:buSzPts val="2700"/>
              <a:buFont typeface="Arial"/>
              <a:buNone/>
            </a:pPr>
            <a:endParaRPr sz="2000" dirty="0">
              <a:solidFill>
                <a:srgbClr val="222222"/>
              </a:solidFill>
              <a:highlight>
                <a:srgbClr val="FFFFFF"/>
              </a:highlight>
              <a:latin typeface="Helvetica Neue"/>
              <a:ea typeface="Helvetica Neue"/>
              <a:cs typeface="Helvetica Neue"/>
              <a:sym typeface="Helvetica Neue"/>
            </a:endParaRPr>
          </a:p>
          <a:p>
            <a:pPr marL="457200" marR="0" lvl="0" indent="0" algn="l" rtl="0">
              <a:lnSpc>
                <a:spcPct val="100000"/>
              </a:lnSpc>
              <a:spcBef>
                <a:spcPts val="0"/>
              </a:spcBef>
              <a:spcAft>
                <a:spcPts val="0"/>
              </a:spcAft>
              <a:buClr>
                <a:srgbClr val="000000"/>
              </a:buClr>
              <a:buSzPts val="2700"/>
              <a:buFont typeface="Arial"/>
              <a:buNone/>
            </a:pPr>
            <a:r>
              <a:rPr lang="ru-RU" sz="2000" b="1" i="0" u="sng" strike="noStrike" cap="none" dirty="0">
                <a:solidFill>
                  <a:schemeClr val="dk1"/>
                </a:solidFill>
                <a:latin typeface="Helvetica Neue"/>
                <a:ea typeface="Helvetica Neue"/>
                <a:cs typeface="Helvetica Neue"/>
                <a:sym typeface="Helvetica Neue"/>
              </a:rPr>
              <a:t>Задачи проекта:</a:t>
            </a:r>
            <a:endParaRPr sz="2000" b="1" i="0" u="sng" strike="noStrike" cap="none" dirty="0">
              <a:solidFill>
                <a:srgbClr val="000000"/>
              </a:solidFill>
              <a:latin typeface="Helvetica Neue"/>
              <a:ea typeface="Helvetica Neue"/>
              <a:cs typeface="Helvetica Neue"/>
              <a:sym typeface="Helvetica Neue"/>
            </a:endParaRPr>
          </a:p>
          <a:p>
            <a:pPr marL="457200" lvl="0" indent="-355600" algn="l" rtl="0">
              <a:lnSpc>
                <a:spcPct val="156000"/>
              </a:lnSpc>
              <a:spcBef>
                <a:spcPts val="1000"/>
              </a:spcBef>
              <a:spcAft>
                <a:spcPts val="0"/>
              </a:spcAft>
              <a:buClr>
                <a:srgbClr val="222222"/>
              </a:buClr>
              <a:buSzPts val="2000"/>
              <a:buFont typeface="Helvetica Neue"/>
              <a:buChar char="●"/>
            </a:pPr>
            <a:r>
              <a:rPr lang="ru-RU" sz="2000" dirty="0">
                <a:solidFill>
                  <a:srgbClr val="222222"/>
                </a:solidFill>
                <a:latin typeface="Helvetica Neue"/>
                <a:ea typeface="Helvetica Neue"/>
                <a:cs typeface="Helvetica Neue"/>
                <a:sym typeface="Helvetica Neue"/>
              </a:rPr>
              <a:t>изучить возможные состояния кредитных рейтингов и переходы между ними</a:t>
            </a:r>
            <a:endParaRPr sz="2000" dirty="0">
              <a:solidFill>
                <a:srgbClr val="222222"/>
              </a:solidFill>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latin typeface="Helvetica Neue"/>
                <a:ea typeface="Helvetica Neue"/>
                <a:cs typeface="Helvetica Neue"/>
                <a:sym typeface="Helvetica Neue"/>
              </a:rPr>
              <a:t>провести </a:t>
            </a:r>
            <a:r>
              <a:rPr lang="ru-RU" sz="2000" dirty="0">
                <a:solidFill>
                  <a:schemeClr val="dk1"/>
                </a:solidFill>
                <a:highlight>
                  <a:srgbClr val="FFFFFF"/>
                </a:highlight>
                <a:latin typeface="Helvetica Neue"/>
                <a:ea typeface="Helvetica Neue"/>
                <a:cs typeface="Helvetica Neue"/>
                <a:sym typeface="Helvetica Neue"/>
              </a:rPr>
              <a:t>сбор данных из официальных источников</a:t>
            </a:r>
            <a:endParaRPr sz="2000" dirty="0">
              <a:solidFill>
                <a:srgbClr val="222222"/>
              </a:solidFill>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latin typeface="Helvetica Neue"/>
                <a:ea typeface="Helvetica Neue"/>
                <a:cs typeface="Helvetica Neue"/>
                <a:sym typeface="Helvetica Neue"/>
              </a:rPr>
              <a:t>получить качественное описание собранных данных</a:t>
            </a:r>
            <a:endParaRPr sz="2000" dirty="0">
              <a:solidFill>
                <a:srgbClr val="222222"/>
              </a:solidFill>
              <a:latin typeface="Helvetica Neue"/>
              <a:ea typeface="Helvetica Neue"/>
              <a:cs typeface="Helvetica Neue"/>
              <a:sym typeface="Helvetica Neue"/>
            </a:endParaRPr>
          </a:p>
          <a:p>
            <a:pPr marL="0" lvl="0" indent="0" algn="l" rtl="0">
              <a:lnSpc>
                <a:spcPct val="156000"/>
              </a:lnSpc>
              <a:spcBef>
                <a:spcPts val="3900"/>
              </a:spcBef>
              <a:spcAft>
                <a:spcPts val="0"/>
              </a:spcAft>
              <a:buNone/>
            </a:pPr>
            <a:endParaRPr sz="2100" dirty="0">
              <a:solidFill>
                <a:srgbClr val="222222"/>
              </a:solidFill>
              <a:latin typeface="Helvetica Neue"/>
              <a:ea typeface="Helvetica Neue"/>
              <a:cs typeface="Helvetica Neue"/>
              <a:sym typeface="Helvetica Neue"/>
            </a:endParaRPr>
          </a:p>
          <a:p>
            <a:pPr marL="457200" marR="0" lvl="0" indent="0" algn="l" rtl="0">
              <a:lnSpc>
                <a:spcPct val="100000"/>
              </a:lnSpc>
              <a:spcBef>
                <a:spcPts val="1600"/>
              </a:spcBef>
              <a:spcAft>
                <a:spcPts val="0"/>
              </a:spcAft>
              <a:buNone/>
            </a:pPr>
            <a:endParaRPr sz="2100" dirty="0">
              <a:latin typeface="Helvetica Neue Light"/>
              <a:ea typeface="Helvetica Neue Light"/>
              <a:cs typeface="Helvetica Neue Light"/>
              <a:sym typeface="Helvetica Neue Light"/>
            </a:endParaRPr>
          </a:p>
        </p:txBody>
      </p:sp>
      <p:sp>
        <p:nvSpPr>
          <p:cNvPr id="89" name="Google Shape;89;p3"/>
          <p:cNvSpPr txBox="1"/>
          <p:nvPr/>
        </p:nvSpPr>
        <p:spPr>
          <a:xfrm>
            <a:off x="6973929" y="4834973"/>
            <a:ext cx="8745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b="1" i="1" dirty="0">
                <a:solidFill>
                  <a:schemeClr val="dk1"/>
                </a:solidFill>
                <a:latin typeface="Helvetica Neue"/>
                <a:ea typeface="Helvetica Neue"/>
                <a:cs typeface="Helvetica Neue"/>
                <a:sym typeface="Helvetica Neue"/>
              </a:rPr>
              <a:t>Данные открытого репозитория</a:t>
            </a:r>
            <a:endParaRPr b="1" i="1" dirty="0">
              <a:solidFill>
                <a:schemeClr val="dk1"/>
              </a:solidFill>
              <a:latin typeface="Helvetica Neue"/>
              <a:ea typeface="Helvetica Neue"/>
              <a:cs typeface="Helvetica Neue"/>
              <a:sym typeface="Helvetica Neue"/>
            </a:endParaRPr>
          </a:p>
        </p:txBody>
      </p:sp>
      <p:sp>
        <p:nvSpPr>
          <p:cNvPr id="90" name="Google Shape;90;p3"/>
          <p:cNvSpPr txBox="1"/>
          <p:nvPr/>
        </p:nvSpPr>
        <p:spPr>
          <a:xfrm>
            <a:off x="1486250" y="8653550"/>
            <a:ext cx="10032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pic>
        <p:nvPicPr>
          <p:cNvPr id="2" name="Рисунок 1">
            <a:extLst>
              <a:ext uri="{FF2B5EF4-FFF2-40B4-BE49-F238E27FC236}">
                <a16:creationId xmlns:a16="http://schemas.microsoft.com/office/drawing/2014/main" id="{07D90F23-FC48-6069-90EB-6780DB18013A}"/>
              </a:ext>
            </a:extLst>
          </p:cNvPr>
          <p:cNvPicPr>
            <a:picLocks noChangeAspect="1"/>
          </p:cNvPicPr>
          <p:nvPr/>
        </p:nvPicPr>
        <p:blipFill>
          <a:blip r:embed="rId4"/>
          <a:stretch>
            <a:fillRect/>
          </a:stretch>
        </p:blipFill>
        <p:spPr>
          <a:xfrm>
            <a:off x="5942114" y="5430112"/>
            <a:ext cx="6904752" cy="3223438"/>
          </a:xfrm>
          <a:prstGeom prst="rect">
            <a:avLst/>
          </a:prstGeom>
        </p:spPr>
      </p:pic>
      <p:sp>
        <p:nvSpPr>
          <p:cNvPr id="6" name="TextBox 5">
            <a:extLst>
              <a:ext uri="{FF2B5EF4-FFF2-40B4-BE49-F238E27FC236}">
                <a16:creationId xmlns:a16="http://schemas.microsoft.com/office/drawing/2014/main" id="{C4FFE8E3-B1B8-8074-9A6A-996C89931142}"/>
              </a:ext>
            </a:extLst>
          </p:cNvPr>
          <p:cNvSpPr txBox="1"/>
          <p:nvPr/>
        </p:nvSpPr>
        <p:spPr>
          <a:xfrm>
            <a:off x="927403" y="4710300"/>
            <a:ext cx="4244161" cy="383695"/>
          </a:xfrm>
          <a:prstGeom prst="rect">
            <a:avLst/>
          </a:prstGeom>
          <a:noFill/>
        </p:spPr>
        <p:txBody>
          <a:bodyPr wrap="square">
            <a:spAutoFit/>
          </a:bodyPr>
          <a:lstStyle/>
          <a:p>
            <a:pPr>
              <a:lnSpc>
                <a:spcPct val="156000"/>
              </a:lnSpc>
              <a:spcBef>
                <a:spcPts val="3900"/>
              </a:spcBef>
            </a:pPr>
            <a:r>
              <a:rPr lang="ru-RU" b="1" i="1" dirty="0">
                <a:solidFill>
                  <a:schemeClr val="dk1"/>
                </a:solidFill>
                <a:latin typeface="Helvetica Neue"/>
                <a:ea typeface="Helvetica Neue"/>
                <a:cs typeface="Helvetica Neue"/>
                <a:sym typeface="Helvetica Neue"/>
              </a:rPr>
              <a:t>Пример переходов между состояниями</a:t>
            </a:r>
          </a:p>
        </p:txBody>
      </p:sp>
      <p:pic>
        <p:nvPicPr>
          <p:cNvPr id="58" name="Рисунок 57">
            <a:extLst>
              <a:ext uri="{FF2B5EF4-FFF2-40B4-BE49-F238E27FC236}">
                <a16:creationId xmlns:a16="http://schemas.microsoft.com/office/drawing/2014/main" id="{5DF8805D-0114-5F40-8FB3-76E56771BBEC}"/>
              </a:ext>
            </a:extLst>
          </p:cNvPr>
          <p:cNvPicPr>
            <a:picLocks noChangeAspect="1"/>
          </p:cNvPicPr>
          <p:nvPr/>
        </p:nvPicPr>
        <p:blipFill rotWithShape="1">
          <a:blip r:embed="rId5"/>
          <a:srcRect l="5375"/>
          <a:stretch/>
        </p:blipFill>
        <p:spPr>
          <a:xfrm>
            <a:off x="682961" y="5265232"/>
            <a:ext cx="4488603" cy="355319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cxnSp>
        <p:nvCxnSpPr>
          <p:cNvPr id="99" name="Google Shape;99;g1fb41790917_0_4"/>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00" name="Google Shape;100;g1fb41790917_0_4"/>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Цель и задачи проекта</a:t>
            </a:r>
            <a:endParaRPr sz="1400" b="0" i="0" u="none" strike="noStrike" cap="none" dirty="0">
              <a:solidFill>
                <a:srgbClr val="000000"/>
              </a:solidFill>
              <a:latin typeface="Arial"/>
              <a:ea typeface="Arial"/>
              <a:cs typeface="Arial"/>
              <a:sym typeface="Arial"/>
            </a:endParaRPr>
          </a:p>
        </p:txBody>
      </p:sp>
      <p:sp>
        <p:nvSpPr>
          <p:cNvPr id="101" name="Google Shape;101;g1fb41790917_0_4"/>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pic>
        <p:nvPicPr>
          <p:cNvPr id="102" name="Google Shape;102;g1fb41790917_0_4"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03" name="Google Shape;103;g1fb41790917_0_4"/>
          <p:cNvSpPr txBox="1"/>
          <p:nvPr/>
        </p:nvSpPr>
        <p:spPr>
          <a:xfrm>
            <a:off x="787400" y="1879725"/>
            <a:ext cx="12048000" cy="2106300"/>
          </a:xfrm>
          <a:prstGeom prst="rect">
            <a:avLst/>
          </a:prstGeom>
          <a:noFill/>
          <a:ln>
            <a:noFill/>
          </a:ln>
        </p:spPr>
        <p:txBody>
          <a:bodyPr spcFirstLastPara="1" wrap="square" lIns="91425" tIns="91425" rIns="91425" bIns="91425" anchor="t" anchorCtr="0">
            <a:noAutofit/>
          </a:bodyPr>
          <a:lstStyle/>
          <a:p>
            <a:pPr marL="457200" lvl="0" indent="-355600" algn="l" rtl="0">
              <a:lnSpc>
                <a:spcPct val="156000"/>
              </a:lnSpc>
              <a:spcBef>
                <a:spcPts val="1000"/>
              </a:spcBef>
              <a:spcAft>
                <a:spcPts val="0"/>
              </a:spcAft>
              <a:buClr>
                <a:srgbClr val="222222"/>
              </a:buClr>
              <a:buSzPts val="2000"/>
              <a:buFont typeface="Helvetica Neue"/>
              <a:buChar char="●"/>
            </a:pPr>
            <a:r>
              <a:rPr lang="ru-RU" sz="2000" dirty="0">
                <a:solidFill>
                  <a:schemeClr val="dk1"/>
                </a:solidFill>
                <a:highlight>
                  <a:srgbClr val="FFFFFF"/>
                </a:highlight>
                <a:latin typeface="Helvetica Neue"/>
                <a:ea typeface="Helvetica Neue"/>
                <a:cs typeface="Helvetica Neue"/>
                <a:sym typeface="Helvetica Neue"/>
              </a:rPr>
              <a:t>изучить и применить </a:t>
            </a:r>
            <a:r>
              <a:rPr lang="ru-RU" sz="2000" dirty="0">
                <a:solidFill>
                  <a:srgbClr val="222222"/>
                </a:solidFill>
                <a:highlight>
                  <a:srgbClr val="FFFFFF"/>
                </a:highlight>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марковские модел</a:t>
            </a:r>
            <a:r>
              <a:rPr lang="ru-RU" sz="2000" dirty="0">
                <a:solidFill>
                  <a:srgbClr val="222222"/>
                </a:solidFill>
                <a:highlight>
                  <a:srgbClr val="FFFFFF"/>
                </a:highlight>
                <a:latin typeface="Helvetica Neue"/>
                <a:ea typeface="Helvetica Neue"/>
                <a:cs typeface="Helvetica Neue"/>
                <a:sym typeface="Helvetica Neue"/>
              </a:rPr>
              <a:t>и и модели классификации </a:t>
            </a:r>
            <a:r>
              <a:rPr lang="ru-RU" sz="2000" dirty="0">
                <a:solidFill>
                  <a:srgbClr val="222222"/>
                </a:solidFill>
                <a:highlight>
                  <a:schemeClr val="lt1"/>
                </a:highlight>
                <a:latin typeface="Helvetica Neue"/>
                <a:ea typeface="Helvetica Neue"/>
                <a:cs typeface="Helvetica Neue"/>
                <a:sym typeface="Helvetica Neue"/>
              </a:rPr>
              <a:t>с помощью моделирования в Python,  на доступных данных</a:t>
            </a:r>
            <a:endParaRPr sz="2000" dirty="0">
              <a:solidFill>
                <a:srgbClr val="222222"/>
              </a:solidFill>
              <a:highlight>
                <a:srgbClr val="FFFFFF"/>
              </a:highlight>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highlight>
                  <a:srgbClr val="FFFFFF"/>
                </a:highlight>
                <a:latin typeface="Helvetica Neue"/>
                <a:ea typeface="Helvetica Neue"/>
                <a:cs typeface="Helvetica Neue"/>
                <a:sym typeface="Helvetica Neue"/>
              </a:rPr>
              <a:t>провести тестирование, оценить их качество</a:t>
            </a:r>
            <a:endParaRPr sz="2000" dirty="0">
              <a:solidFill>
                <a:srgbClr val="222222"/>
              </a:solidFill>
              <a:highlight>
                <a:srgbClr val="FFFFFF"/>
              </a:highlight>
              <a:latin typeface="Helvetica Neue"/>
              <a:ea typeface="Helvetica Neue"/>
              <a:cs typeface="Helvetica Neue"/>
              <a:sym typeface="Helvetica Neue"/>
            </a:endParaRPr>
          </a:p>
          <a:p>
            <a:pPr marL="457200" lvl="0" indent="-355600" algn="l" rtl="0">
              <a:lnSpc>
                <a:spcPct val="156000"/>
              </a:lnSpc>
              <a:spcBef>
                <a:spcPts val="0"/>
              </a:spcBef>
              <a:spcAft>
                <a:spcPts val="0"/>
              </a:spcAft>
              <a:buClr>
                <a:srgbClr val="222222"/>
              </a:buClr>
              <a:buSzPts val="2000"/>
              <a:buFont typeface="Helvetica Neue"/>
              <a:buChar char="●"/>
            </a:pPr>
            <a:r>
              <a:rPr lang="ru-RU" sz="2000" dirty="0">
                <a:solidFill>
                  <a:srgbClr val="222222"/>
                </a:solidFill>
                <a:highlight>
                  <a:srgbClr val="FFFFFF"/>
                </a:highlight>
                <a:latin typeface="Helvetica Neue"/>
                <a:ea typeface="Helvetica Neue"/>
                <a:cs typeface="Helvetica Neue"/>
                <a:sym typeface="Helvetica Neue"/>
              </a:rPr>
              <a:t>сравнить результаты </a:t>
            </a:r>
            <a:endParaRPr sz="2000" dirty="0">
              <a:latin typeface="Helvetica Neue Light"/>
              <a:ea typeface="Helvetica Neue Light"/>
              <a:cs typeface="Helvetica Neue Light"/>
              <a:sym typeface="Helvetica Neue Light"/>
            </a:endParaRPr>
          </a:p>
        </p:txBody>
      </p:sp>
      <p:pic>
        <p:nvPicPr>
          <p:cNvPr id="2" name="Рисунок 1">
            <a:extLst>
              <a:ext uri="{FF2B5EF4-FFF2-40B4-BE49-F238E27FC236}">
                <a16:creationId xmlns:a16="http://schemas.microsoft.com/office/drawing/2014/main" id="{7668E532-D7D0-1154-A3A2-44F1E3BD97B3}"/>
              </a:ext>
            </a:extLst>
          </p:cNvPr>
          <p:cNvPicPr>
            <a:picLocks noChangeAspect="1"/>
          </p:cNvPicPr>
          <p:nvPr/>
        </p:nvPicPr>
        <p:blipFill rotWithShape="1">
          <a:blip r:embed="rId4"/>
          <a:srcRect t="4252" r="7449" b="25441"/>
          <a:stretch/>
        </p:blipFill>
        <p:spPr>
          <a:xfrm>
            <a:off x="182899" y="4562475"/>
            <a:ext cx="4260514" cy="3895794"/>
          </a:xfrm>
          <a:prstGeom prst="rect">
            <a:avLst/>
          </a:prstGeom>
        </p:spPr>
      </p:pic>
      <p:pic>
        <p:nvPicPr>
          <p:cNvPr id="3" name="Рисунок 2">
            <a:extLst>
              <a:ext uri="{FF2B5EF4-FFF2-40B4-BE49-F238E27FC236}">
                <a16:creationId xmlns:a16="http://schemas.microsoft.com/office/drawing/2014/main" id="{AA671D9F-CC78-2C01-F822-45FFE8330F5F}"/>
              </a:ext>
            </a:extLst>
          </p:cNvPr>
          <p:cNvPicPr>
            <a:picLocks noChangeAspect="1"/>
          </p:cNvPicPr>
          <p:nvPr/>
        </p:nvPicPr>
        <p:blipFill>
          <a:blip r:embed="rId5"/>
          <a:stretch>
            <a:fillRect/>
          </a:stretch>
        </p:blipFill>
        <p:spPr>
          <a:xfrm>
            <a:off x="4657725" y="4196844"/>
            <a:ext cx="8347075" cy="418384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Номер слайда 1">
            <a:extLst>
              <a:ext uri="{FF2B5EF4-FFF2-40B4-BE49-F238E27FC236}">
                <a16:creationId xmlns:a16="http://schemas.microsoft.com/office/drawing/2014/main" id="{4C9143A1-9F4F-FAC3-49A8-508CAE06049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ru-RU" smtClean="0"/>
              <a:t>5</a:t>
            </a:fld>
            <a:endParaRPr lang="ru-RU"/>
          </a:p>
        </p:txBody>
      </p:sp>
      <p:pic>
        <p:nvPicPr>
          <p:cNvPr id="3" name="Google Shape;102;g1fb41790917_0_4" descr="Изображение">
            <a:extLst>
              <a:ext uri="{FF2B5EF4-FFF2-40B4-BE49-F238E27FC236}">
                <a16:creationId xmlns:a16="http://schemas.microsoft.com/office/drawing/2014/main" id="{EB9B502D-CFD2-E1A2-B4AF-F50025B88C0F}"/>
              </a:ext>
            </a:extLst>
          </p:cNvPr>
          <p:cNvPicPr preferRelativeResize="0"/>
          <p:nvPr/>
        </p:nvPicPr>
        <p:blipFill rotWithShape="1">
          <a:blip r:embed="rId2">
            <a:alphaModFix/>
          </a:blip>
          <a:srcRect/>
          <a:stretch/>
        </p:blipFill>
        <p:spPr>
          <a:xfrm>
            <a:off x="805562" y="416839"/>
            <a:ext cx="853034" cy="853034"/>
          </a:xfrm>
          <a:prstGeom prst="rect">
            <a:avLst/>
          </a:prstGeom>
          <a:noFill/>
          <a:ln>
            <a:noFill/>
          </a:ln>
        </p:spPr>
      </p:pic>
      <p:sp>
        <p:nvSpPr>
          <p:cNvPr id="5" name="Google Shape;101;g1fb41790917_0_4">
            <a:extLst>
              <a:ext uri="{FF2B5EF4-FFF2-40B4-BE49-F238E27FC236}">
                <a16:creationId xmlns:a16="http://schemas.microsoft.com/office/drawing/2014/main" id="{54D034AA-9B5D-0563-7344-4DE1E62B4AE2}"/>
              </a:ext>
            </a:extLst>
          </p:cNvPr>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sp>
        <p:nvSpPr>
          <p:cNvPr id="6" name="Google Shape;100;g1fb41790917_0_4">
            <a:extLst>
              <a:ext uri="{FF2B5EF4-FFF2-40B4-BE49-F238E27FC236}">
                <a16:creationId xmlns:a16="http://schemas.microsoft.com/office/drawing/2014/main" id="{351F0374-32F8-2311-B542-828163E13B74}"/>
              </a:ext>
            </a:extLst>
          </p:cNvPr>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Цель и задачи проекта</a:t>
            </a:r>
            <a:endParaRPr sz="1400" b="0" i="0" u="none" strike="noStrike" cap="none" dirty="0">
              <a:solidFill>
                <a:srgbClr val="000000"/>
              </a:solidFill>
              <a:latin typeface="Arial"/>
              <a:ea typeface="Arial"/>
              <a:cs typeface="Arial"/>
              <a:sym typeface="Arial"/>
            </a:endParaRPr>
          </a:p>
        </p:txBody>
      </p:sp>
      <p:cxnSp>
        <p:nvCxnSpPr>
          <p:cNvPr id="9" name="Google Shape;99;g1fb41790917_0_4">
            <a:extLst>
              <a:ext uri="{FF2B5EF4-FFF2-40B4-BE49-F238E27FC236}">
                <a16:creationId xmlns:a16="http://schemas.microsoft.com/office/drawing/2014/main" id="{FDA3C462-D1AB-EF4C-7B67-F8FB31F81D9D}"/>
              </a:ext>
            </a:extLst>
          </p:cNvPr>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pic>
        <p:nvPicPr>
          <p:cNvPr id="10" name="Рисунок 9">
            <a:extLst>
              <a:ext uri="{FF2B5EF4-FFF2-40B4-BE49-F238E27FC236}">
                <a16:creationId xmlns:a16="http://schemas.microsoft.com/office/drawing/2014/main" id="{4289AA4C-5049-4E2B-2F7C-BE9F697DE709}"/>
              </a:ext>
            </a:extLst>
          </p:cNvPr>
          <p:cNvPicPr>
            <a:picLocks noChangeAspect="1"/>
          </p:cNvPicPr>
          <p:nvPr/>
        </p:nvPicPr>
        <p:blipFill>
          <a:blip r:embed="rId3"/>
          <a:stretch>
            <a:fillRect/>
          </a:stretch>
        </p:blipFill>
        <p:spPr>
          <a:xfrm>
            <a:off x="692189" y="1879728"/>
            <a:ext cx="5146336" cy="3938309"/>
          </a:xfrm>
          <a:prstGeom prst="rect">
            <a:avLst/>
          </a:prstGeom>
        </p:spPr>
      </p:pic>
      <p:pic>
        <p:nvPicPr>
          <p:cNvPr id="11" name="Рисунок 10">
            <a:extLst>
              <a:ext uri="{FF2B5EF4-FFF2-40B4-BE49-F238E27FC236}">
                <a16:creationId xmlns:a16="http://schemas.microsoft.com/office/drawing/2014/main" id="{89259B84-50C2-670A-D758-106AE0959035}"/>
              </a:ext>
            </a:extLst>
          </p:cNvPr>
          <p:cNvPicPr>
            <a:picLocks noChangeAspect="1"/>
          </p:cNvPicPr>
          <p:nvPr/>
        </p:nvPicPr>
        <p:blipFill rotWithShape="1">
          <a:blip r:embed="rId4"/>
          <a:srcRect t="7186"/>
          <a:stretch/>
        </p:blipFill>
        <p:spPr>
          <a:xfrm>
            <a:off x="7011737" y="1574799"/>
            <a:ext cx="5252549" cy="3938309"/>
          </a:xfrm>
          <a:prstGeom prst="rect">
            <a:avLst/>
          </a:prstGeom>
        </p:spPr>
      </p:pic>
      <p:pic>
        <p:nvPicPr>
          <p:cNvPr id="12" name="Рисунок 11">
            <a:extLst>
              <a:ext uri="{FF2B5EF4-FFF2-40B4-BE49-F238E27FC236}">
                <a16:creationId xmlns:a16="http://schemas.microsoft.com/office/drawing/2014/main" id="{0BC8DAB8-13A9-0729-1D91-27BE65750EDC}"/>
              </a:ext>
            </a:extLst>
          </p:cNvPr>
          <p:cNvPicPr>
            <a:picLocks noChangeAspect="1"/>
          </p:cNvPicPr>
          <p:nvPr/>
        </p:nvPicPr>
        <p:blipFill rotWithShape="1">
          <a:blip r:embed="rId5"/>
          <a:srcRect t="8346"/>
          <a:stretch/>
        </p:blipFill>
        <p:spPr>
          <a:xfrm>
            <a:off x="682961" y="5743417"/>
            <a:ext cx="5100137" cy="3537961"/>
          </a:xfrm>
          <a:prstGeom prst="rect">
            <a:avLst/>
          </a:prstGeom>
        </p:spPr>
      </p:pic>
      <p:pic>
        <p:nvPicPr>
          <p:cNvPr id="13" name="Рисунок 12">
            <a:extLst>
              <a:ext uri="{FF2B5EF4-FFF2-40B4-BE49-F238E27FC236}">
                <a16:creationId xmlns:a16="http://schemas.microsoft.com/office/drawing/2014/main" id="{9F0ED200-67AA-23B0-A65D-610742D3223F}"/>
              </a:ext>
            </a:extLst>
          </p:cNvPr>
          <p:cNvPicPr>
            <a:picLocks noChangeAspect="1"/>
          </p:cNvPicPr>
          <p:nvPr/>
        </p:nvPicPr>
        <p:blipFill>
          <a:blip r:embed="rId6"/>
          <a:stretch>
            <a:fillRect/>
          </a:stretch>
        </p:blipFill>
        <p:spPr>
          <a:xfrm>
            <a:off x="7011737" y="5582346"/>
            <a:ext cx="5522806" cy="3860104"/>
          </a:xfrm>
          <a:prstGeom prst="rect">
            <a:avLst/>
          </a:prstGeom>
        </p:spPr>
      </p:pic>
    </p:spTree>
    <p:extLst>
      <p:ext uri="{BB962C8B-B14F-4D97-AF65-F5344CB8AC3E}">
        <p14:creationId xmlns:p14="http://schemas.microsoft.com/office/powerpoint/2010/main" val="426535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Номер слайда 1">
            <a:extLst>
              <a:ext uri="{FF2B5EF4-FFF2-40B4-BE49-F238E27FC236}">
                <a16:creationId xmlns:a16="http://schemas.microsoft.com/office/drawing/2014/main" id="{84AB642F-D2C5-E3DE-3CB7-429F3F79B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ru-RU" smtClean="0"/>
              <a:t>6</a:t>
            </a:fld>
            <a:endParaRPr lang="ru-RU"/>
          </a:p>
        </p:txBody>
      </p:sp>
      <p:pic>
        <p:nvPicPr>
          <p:cNvPr id="3" name="Рисунок 2">
            <a:extLst>
              <a:ext uri="{FF2B5EF4-FFF2-40B4-BE49-F238E27FC236}">
                <a16:creationId xmlns:a16="http://schemas.microsoft.com/office/drawing/2014/main" id="{C99D60BD-6DEE-FF98-2499-5564922E3A2C}"/>
              </a:ext>
            </a:extLst>
          </p:cNvPr>
          <p:cNvPicPr>
            <a:picLocks noChangeAspect="1"/>
          </p:cNvPicPr>
          <p:nvPr/>
        </p:nvPicPr>
        <p:blipFill>
          <a:blip r:embed="rId2"/>
          <a:stretch>
            <a:fillRect/>
          </a:stretch>
        </p:blipFill>
        <p:spPr>
          <a:xfrm>
            <a:off x="6975542" y="5534527"/>
            <a:ext cx="6029258" cy="3346450"/>
          </a:xfrm>
          <a:prstGeom prst="rect">
            <a:avLst/>
          </a:prstGeom>
        </p:spPr>
      </p:pic>
      <p:pic>
        <p:nvPicPr>
          <p:cNvPr id="4" name="Рисунок 3">
            <a:extLst>
              <a:ext uri="{FF2B5EF4-FFF2-40B4-BE49-F238E27FC236}">
                <a16:creationId xmlns:a16="http://schemas.microsoft.com/office/drawing/2014/main" id="{F75253C7-F03F-5BA9-1BF1-817082766A42}"/>
              </a:ext>
            </a:extLst>
          </p:cNvPr>
          <p:cNvPicPr>
            <a:picLocks noChangeAspect="1"/>
          </p:cNvPicPr>
          <p:nvPr/>
        </p:nvPicPr>
        <p:blipFill>
          <a:blip r:embed="rId3"/>
          <a:stretch>
            <a:fillRect/>
          </a:stretch>
        </p:blipFill>
        <p:spPr>
          <a:xfrm>
            <a:off x="403171" y="5534527"/>
            <a:ext cx="5853996" cy="3346450"/>
          </a:xfrm>
          <a:prstGeom prst="rect">
            <a:avLst/>
          </a:prstGeom>
        </p:spPr>
      </p:pic>
      <p:pic>
        <p:nvPicPr>
          <p:cNvPr id="5" name="Рисунок 4">
            <a:extLst>
              <a:ext uri="{FF2B5EF4-FFF2-40B4-BE49-F238E27FC236}">
                <a16:creationId xmlns:a16="http://schemas.microsoft.com/office/drawing/2014/main" id="{EA066423-7719-5AAC-95A9-FB9A6373868B}"/>
              </a:ext>
            </a:extLst>
          </p:cNvPr>
          <p:cNvPicPr>
            <a:picLocks noChangeAspect="1"/>
          </p:cNvPicPr>
          <p:nvPr/>
        </p:nvPicPr>
        <p:blipFill>
          <a:blip r:embed="rId4"/>
          <a:stretch>
            <a:fillRect/>
          </a:stretch>
        </p:blipFill>
        <p:spPr>
          <a:xfrm>
            <a:off x="6447336" y="1832002"/>
            <a:ext cx="6424617" cy="3614162"/>
          </a:xfrm>
          <a:prstGeom prst="rect">
            <a:avLst/>
          </a:prstGeom>
        </p:spPr>
      </p:pic>
      <p:pic>
        <p:nvPicPr>
          <p:cNvPr id="6" name="Рисунок 5">
            <a:extLst>
              <a:ext uri="{FF2B5EF4-FFF2-40B4-BE49-F238E27FC236}">
                <a16:creationId xmlns:a16="http://schemas.microsoft.com/office/drawing/2014/main" id="{4EFBB3D1-5B3F-BEA3-14C1-399F9A125F8F}"/>
              </a:ext>
            </a:extLst>
          </p:cNvPr>
          <p:cNvPicPr>
            <a:picLocks noChangeAspect="1"/>
          </p:cNvPicPr>
          <p:nvPr/>
        </p:nvPicPr>
        <p:blipFill>
          <a:blip r:embed="rId5"/>
          <a:stretch>
            <a:fillRect/>
          </a:stretch>
        </p:blipFill>
        <p:spPr>
          <a:xfrm>
            <a:off x="112818" y="1832002"/>
            <a:ext cx="6198980" cy="3512431"/>
          </a:xfrm>
          <a:prstGeom prst="rect">
            <a:avLst/>
          </a:prstGeom>
        </p:spPr>
      </p:pic>
      <p:pic>
        <p:nvPicPr>
          <p:cNvPr id="7" name="Google Shape;102;g1fb41790917_0_4" descr="Изображение">
            <a:extLst>
              <a:ext uri="{FF2B5EF4-FFF2-40B4-BE49-F238E27FC236}">
                <a16:creationId xmlns:a16="http://schemas.microsoft.com/office/drawing/2014/main" id="{28DB0639-1B0B-EEA8-E9C6-98615826AEA3}"/>
              </a:ext>
            </a:extLst>
          </p:cNvPr>
          <p:cNvPicPr preferRelativeResize="0"/>
          <p:nvPr/>
        </p:nvPicPr>
        <p:blipFill rotWithShape="1">
          <a:blip r:embed="rId6">
            <a:alphaModFix/>
          </a:blip>
          <a:srcRect/>
          <a:stretch/>
        </p:blipFill>
        <p:spPr>
          <a:xfrm>
            <a:off x="805562" y="416839"/>
            <a:ext cx="853034" cy="853034"/>
          </a:xfrm>
          <a:prstGeom prst="rect">
            <a:avLst/>
          </a:prstGeom>
          <a:noFill/>
          <a:ln>
            <a:noFill/>
          </a:ln>
        </p:spPr>
      </p:pic>
      <p:sp>
        <p:nvSpPr>
          <p:cNvPr id="8" name="Google Shape;100;g1fb41790917_0_4">
            <a:extLst>
              <a:ext uri="{FF2B5EF4-FFF2-40B4-BE49-F238E27FC236}">
                <a16:creationId xmlns:a16="http://schemas.microsoft.com/office/drawing/2014/main" id="{2838429B-1E0C-4113-F459-5EC7DC42491B}"/>
              </a:ext>
            </a:extLst>
          </p:cNvPr>
          <p:cNvSpPr txBox="1"/>
          <p:nvPr/>
        </p:nvSpPr>
        <p:spPr>
          <a:xfrm>
            <a:off x="6829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b="0" i="0" u="none" strike="noStrike" cap="none" dirty="0">
                <a:solidFill>
                  <a:srgbClr val="253957"/>
                </a:solidFill>
                <a:latin typeface="Arial Narrow"/>
                <a:ea typeface="Arial Narrow"/>
                <a:cs typeface="Arial Narrow"/>
                <a:sym typeface="Arial Narrow"/>
              </a:rPr>
              <a:t>Цель и задачи проекта</a:t>
            </a:r>
            <a:endParaRPr sz="1400" b="0" i="0" u="none" strike="noStrike" cap="none" dirty="0">
              <a:solidFill>
                <a:srgbClr val="000000"/>
              </a:solidFill>
              <a:latin typeface="Arial"/>
              <a:ea typeface="Arial"/>
              <a:cs typeface="Arial"/>
              <a:sym typeface="Arial"/>
            </a:endParaRPr>
          </a:p>
        </p:txBody>
      </p:sp>
      <p:sp>
        <p:nvSpPr>
          <p:cNvPr id="9" name="Google Shape;101;g1fb41790917_0_4">
            <a:extLst>
              <a:ext uri="{FF2B5EF4-FFF2-40B4-BE49-F238E27FC236}">
                <a16:creationId xmlns:a16="http://schemas.microsoft.com/office/drawing/2014/main" id="{8FA2EE40-F20A-3CD9-4220-C67508316A9D}"/>
              </a:ext>
            </a:extLst>
          </p:cNvPr>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dirty="0">
                <a:solidFill>
                  <a:srgbClr val="253957"/>
                </a:solidFill>
                <a:latin typeface="Arial Narrow"/>
                <a:ea typeface="Arial Narrow"/>
                <a:cs typeface="Arial Narrow"/>
                <a:sym typeface="Arial Narrow"/>
              </a:rPr>
              <a:t>МИЭМ НИУ ВШЭ</a:t>
            </a:r>
            <a:endParaRPr sz="1800" b="0" i="0" u="none" strike="noStrike" cap="none" dirty="0">
              <a:solidFill>
                <a:srgbClr val="253957"/>
              </a:solidFill>
              <a:latin typeface="Arial Narrow"/>
              <a:ea typeface="Arial Narrow"/>
              <a:cs typeface="Arial Narrow"/>
              <a:sym typeface="Arial Narrow"/>
            </a:endParaRPr>
          </a:p>
        </p:txBody>
      </p:sp>
      <p:cxnSp>
        <p:nvCxnSpPr>
          <p:cNvPr id="10" name="Google Shape;99;g1fb41790917_0_4">
            <a:extLst>
              <a:ext uri="{FF2B5EF4-FFF2-40B4-BE49-F238E27FC236}">
                <a16:creationId xmlns:a16="http://schemas.microsoft.com/office/drawing/2014/main" id="{3F7B02A3-8034-93B5-8CE6-282D90AA53D2}"/>
              </a:ext>
            </a:extLst>
          </p:cNvPr>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Tree>
    <p:extLst>
      <p:ext uri="{BB962C8B-B14F-4D97-AF65-F5344CB8AC3E}">
        <p14:creationId xmlns:p14="http://schemas.microsoft.com/office/powerpoint/2010/main" val="1249355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cxnSp>
        <p:nvCxnSpPr>
          <p:cNvPr id="124" name="Google Shape;124;p4"/>
          <p:cNvCxnSpPr/>
          <p:nvPr/>
        </p:nvCxnSpPr>
        <p:spPr>
          <a:xfrm>
            <a:off x="787400" y="1574800"/>
            <a:ext cx="11430001" cy="0"/>
          </a:xfrm>
          <a:prstGeom prst="straightConnector1">
            <a:avLst/>
          </a:prstGeom>
          <a:noFill/>
          <a:ln w="12700" cap="flat" cmpd="sng">
            <a:solidFill>
              <a:srgbClr val="253957"/>
            </a:solidFill>
            <a:prstDash val="solid"/>
            <a:miter lim="400000"/>
            <a:headEnd type="none" w="sm" len="sm"/>
            <a:tailEnd type="none" w="sm" len="sm"/>
          </a:ln>
        </p:spPr>
      </p:cxnSp>
      <p:sp>
        <p:nvSpPr>
          <p:cNvPr id="125" name="Google Shape;125;p4"/>
          <p:cNvSpPr txBox="1"/>
          <p:nvPr/>
        </p:nvSpPr>
        <p:spPr>
          <a:xfrm>
            <a:off x="661661" y="981006"/>
            <a:ext cx="11430000" cy="6879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a:solidFill>
                  <a:srgbClr val="253957"/>
                </a:solidFill>
                <a:latin typeface="Arial Narrow"/>
                <a:ea typeface="Arial Narrow"/>
                <a:cs typeface="Arial Narrow"/>
                <a:sym typeface="Arial Narrow"/>
              </a:rPr>
              <a:t>Ожидаемые результаты и этапы реализации</a:t>
            </a:r>
            <a:endParaRPr sz="1400" b="0" i="0" u="none" strike="noStrike" cap="none">
              <a:solidFill>
                <a:srgbClr val="000000"/>
              </a:solidFill>
              <a:latin typeface="Arial"/>
              <a:ea typeface="Arial"/>
              <a:cs typeface="Arial"/>
              <a:sym typeface="Arial"/>
            </a:endParaRPr>
          </a:p>
        </p:txBody>
      </p:sp>
      <p:sp>
        <p:nvSpPr>
          <p:cNvPr id="126" name="Google Shape;126;p4"/>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27" name="Google Shape;127;p4"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28" name="Google Shape;128;p4"/>
          <p:cNvSpPr txBox="1"/>
          <p:nvPr/>
        </p:nvSpPr>
        <p:spPr>
          <a:xfrm>
            <a:off x="540300" y="2168602"/>
            <a:ext cx="11672700" cy="1363800"/>
          </a:xfrm>
          <a:prstGeom prst="rect">
            <a:avLst/>
          </a:prstGeom>
          <a:noFill/>
          <a:ln>
            <a:noFill/>
          </a:ln>
        </p:spPr>
        <p:txBody>
          <a:bodyPr spcFirstLastPara="1" wrap="square" lIns="91425" tIns="91425" rIns="91425" bIns="91425" anchor="t" anchorCtr="0">
            <a:noAutofit/>
          </a:bodyPr>
          <a:lstStyle/>
          <a:p>
            <a:pPr marL="457200" marR="0" lvl="0" indent="0" algn="just" rtl="0">
              <a:lnSpc>
                <a:spcPct val="115000"/>
              </a:lnSpc>
              <a:spcBef>
                <a:spcPts val="0"/>
              </a:spcBef>
              <a:spcAft>
                <a:spcPts val="0"/>
              </a:spcAft>
              <a:buNone/>
            </a:pPr>
            <a:r>
              <a:rPr lang="ru-RU" sz="2100" b="1" dirty="0">
                <a:solidFill>
                  <a:schemeClr val="dk1"/>
                </a:solidFill>
                <a:latin typeface="Helvetica Neue"/>
                <a:ea typeface="Helvetica Neue"/>
                <a:cs typeface="Helvetica Neue"/>
                <a:sym typeface="Helvetica Neue"/>
              </a:rPr>
              <a:t>Ожидаемый результат:</a:t>
            </a:r>
            <a:endParaRPr sz="2100" b="1" dirty="0">
              <a:solidFill>
                <a:schemeClr val="dk1"/>
              </a:solidFill>
              <a:latin typeface="Helvetica Neue"/>
              <a:ea typeface="Helvetica Neue"/>
              <a:cs typeface="Helvetica Neue"/>
              <a:sym typeface="Helvetica Neue"/>
            </a:endParaRPr>
          </a:p>
          <a:p>
            <a:pPr marL="457200" marR="0" lvl="0" indent="0" algn="just"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Методология (алгоритм) для прогнозирования состояний кредитного рейтинга на несколько периодов для любого набора данных.</a:t>
            </a:r>
            <a:endParaRPr sz="2100" dirty="0">
              <a:solidFill>
                <a:schemeClr val="dk1"/>
              </a:solidFill>
              <a:latin typeface="Helvetica Neue"/>
              <a:ea typeface="Helvetica Neue"/>
              <a:cs typeface="Helvetica Neue"/>
              <a:sym typeface="Helvetica Neue"/>
            </a:endParaRPr>
          </a:p>
          <a:p>
            <a:pPr marL="0" marR="0" lvl="0" indent="0" algn="l" rtl="0">
              <a:lnSpc>
                <a:spcPct val="115000"/>
              </a:lnSpc>
              <a:spcBef>
                <a:spcPts val="0"/>
              </a:spcBef>
              <a:spcAft>
                <a:spcPts val="0"/>
              </a:spcAft>
              <a:buClr>
                <a:srgbClr val="000000"/>
              </a:buClr>
              <a:buSzPts val="2100"/>
              <a:buFont typeface="Arial"/>
              <a:buNone/>
            </a:pPr>
            <a:endParaRPr sz="2100" b="0" i="0" u="none" strike="noStrike" cap="none" dirty="0">
              <a:solidFill>
                <a:srgbClr val="000000"/>
              </a:solidFill>
              <a:latin typeface="Helvetica Neue Light"/>
              <a:ea typeface="Helvetica Neue Light"/>
              <a:cs typeface="Helvetica Neue Light"/>
              <a:sym typeface="Helvetica Neue Light"/>
            </a:endParaRPr>
          </a:p>
        </p:txBody>
      </p:sp>
      <p:sp>
        <p:nvSpPr>
          <p:cNvPr id="129" name="Google Shape;129;p4"/>
          <p:cNvSpPr txBox="1">
            <a:spLocks noGrp="1"/>
          </p:cNvSpPr>
          <p:nvPr>
            <p:ph type="sldNum" idx="12"/>
          </p:nvPr>
        </p:nvSpPr>
        <p:spPr>
          <a:xfrm>
            <a:off x="6311798" y="9251950"/>
            <a:ext cx="368400" cy="381000"/>
          </a:xfrm>
          <a:prstGeom prst="rect">
            <a:avLst/>
          </a:prstGeom>
          <a:noFill/>
          <a:ln>
            <a:noFill/>
          </a:ln>
        </p:spPr>
        <p:txBody>
          <a:bodyPr spcFirstLastPara="1" wrap="square" lIns="50800" tIns="50800" rIns="50800" bIns="50800" anchor="t" anchorCtr="0">
            <a:noAutofit/>
          </a:bodyPr>
          <a:lstStyle/>
          <a:p>
            <a:pPr marL="0" lvl="0" indent="0" algn="ctr" rtl="0">
              <a:lnSpc>
                <a:spcPct val="100000"/>
              </a:lnSpc>
              <a:spcBef>
                <a:spcPts val="0"/>
              </a:spcBef>
              <a:spcAft>
                <a:spcPts val="0"/>
              </a:spcAft>
              <a:buClr>
                <a:srgbClr val="000000"/>
              </a:buClr>
              <a:buSzPts val="1800"/>
              <a:buFont typeface="Helvetica Neue Light"/>
              <a:buNone/>
            </a:pPr>
            <a:fld id="{00000000-1234-1234-1234-123412341234}" type="slidenum">
              <a:rPr lang="ru-RU"/>
              <a:t>7</a:t>
            </a:fld>
            <a:endParaRPr/>
          </a:p>
        </p:txBody>
      </p:sp>
      <p:sp>
        <p:nvSpPr>
          <p:cNvPr id="130" name="Google Shape;130;p4"/>
          <p:cNvSpPr txBox="1"/>
          <p:nvPr/>
        </p:nvSpPr>
        <p:spPr>
          <a:xfrm>
            <a:off x="540300" y="3532397"/>
            <a:ext cx="11672700" cy="489600"/>
          </a:xfrm>
          <a:prstGeom prst="rect">
            <a:avLst/>
          </a:prstGeom>
          <a:noFill/>
          <a:ln>
            <a:noFill/>
          </a:ln>
        </p:spPr>
        <p:txBody>
          <a:bodyPr spcFirstLastPara="1" wrap="square" lIns="91425" tIns="91425" rIns="91425" bIns="91425" anchor="t" anchorCtr="0">
            <a:noAutofit/>
          </a:bodyPr>
          <a:lstStyle/>
          <a:p>
            <a:pPr marL="457200" marR="0" lvl="0" indent="0" algn="just" rtl="0">
              <a:lnSpc>
                <a:spcPct val="115000"/>
              </a:lnSpc>
              <a:spcBef>
                <a:spcPts val="0"/>
              </a:spcBef>
              <a:spcAft>
                <a:spcPts val="0"/>
              </a:spcAft>
              <a:buNone/>
            </a:pPr>
            <a:r>
              <a:rPr lang="ru-RU" sz="2100" b="1">
                <a:solidFill>
                  <a:schemeClr val="dk1"/>
                </a:solidFill>
                <a:latin typeface="Helvetica Neue"/>
                <a:ea typeface="Helvetica Neue"/>
                <a:cs typeface="Helvetica Neue"/>
                <a:sym typeface="Helvetica Neue"/>
              </a:rPr>
              <a:t>Основные этапы: </a:t>
            </a:r>
            <a:endParaRPr sz="2100">
              <a:solidFill>
                <a:schemeClr val="dk1"/>
              </a:solidFill>
              <a:latin typeface="Helvetica Neue"/>
              <a:ea typeface="Helvetica Neue"/>
              <a:cs typeface="Helvetica Neue"/>
              <a:sym typeface="Helvetica Neue"/>
            </a:endParaRPr>
          </a:p>
          <a:p>
            <a:pPr marL="0" marR="0" lvl="0" indent="0" algn="l" rtl="0">
              <a:lnSpc>
                <a:spcPct val="115000"/>
              </a:lnSpc>
              <a:spcBef>
                <a:spcPts val="0"/>
              </a:spcBef>
              <a:spcAft>
                <a:spcPts val="0"/>
              </a:spcAft>
              <a:buClr>
                <a:srgbClr val="000000"/>
              </a:buClr>
              <a:buSzPts val="2100"/>
              <a:buFont typeface="Arial"/>
              <a:buNone/>
            </a:pPr>
            <a:endParaRPr sz="2100" b="0" i="0" u="none" strike="noStrike" cap="none">
              <a:solidFill>
                <a:srgbClr val="000000"/>
              </a:solidFill>
              <a:latin typeface="Helvetica Neue Light"/>
              <a:ea typeface="Helvetica Neue Light"/>
              <a:cs typeface="Helvetica Neue Light"/>
              <a:sym typeface="Helvetica Neue Light"/>
            </a:endParaRPr>
          </a:p>
        </p:txBody>
      </p:sp>
      <p:sp>
        <p:nvSpPr>
          <p:cNvPr id="131" name="Google Shape;131;p4"/>
          <p:cNvSpPr/>
          <p:nvPr/>
        </p:nvSpPr>
        <p:spPr>
          <a:xfrm>
            <a:off x="453708"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1</a:t>
            </a:r>
            <a:endParaRPr sz="1800">
              <a:solidFill>
                <a:schemeClr val="lt1"/>
              </a:solidFill>
            </a:endParaRPr>
          </a:p>
        </p:txBody>
      </p:sp>
      <p:sp>
        <p:nvSpPr>
          <p:cNvPr id="132" name="Google Shape;132;p4"/>
          <p:cNvSpPr/>
          <p:nvPr/>
        </p:nvSpPr>
        <p:spPr>
          <a:xfrm>
            <a:off x="2712175"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2</a:t>
            </a:r>
            <a:endParaRPr sz="1800">
              <a:solidFill>
                <a:schemeClr val="lt1"/>
              </a:solidFill>
            </a:endParaRPr>
          </a:p>
        </p:txBody>
      </p:sp>
      <p:sp>
        <p:nvSpPr>
          <p:cNvPr id="133" name="Google Shape;133;p4"/>
          <p:cNvSpPr/>
          <p:nvPr/>
        </p:nvSpPr>
        <p:spPr>
          <a:xfrm>
            <a:off x="4636963"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3</a:t>
            </a:r>
            <a:endParaRPr sz="1800">
              <a:solidFill>
                <a:schemeClr val="lt1"/>
              </a:solidFill>
            </a:endParaRPr>
          </a:p>
        </p:txBody>
      </p:sp>
      <p:sp>
        <p:nvSpPr>
          <p:cNvPr id="134" name="Google Shape;134;p4"/>
          <p:cNvSpPr/>
          <p:nvPr/>
        </p:nvSpPr>
        <p:spPr>
          <a:xfrm>
            <a:off x="6584938"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4</a:t>
            </a:r>
            <a:endParaRPr sz="1800">
              <a:solidFill>
                <a:schemeClr val="lt1"/>
              </a:solidFill>
            </a:endParaRPr>
          </a:p>
        </p:txBody>
      </p:sp>
      <p:sp>
        <p:nvSpPr>
          <p:cNvPr id="135" name="Google Shape;135;p4"/>
          <p:cNvSpPr/>
          <p:nvPr/>
        </p:nvSpPr>
        <p:spPr>
          <a:xfrm>
            <a:off x="8579325"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dirty="0">
                <a:solidFill>
                  <a:schemeClr val="lt1"/>
                </a:solidFill>
              </a:rPr>
              <a:t>шаг 5</a:t>
            </a:r>
            <a:endParaRPr sz="1800" dirty="0">
              <a:solidFill>
                <a:schemeClr val="lt1"/>
              </a:solidFill>
            </a:endParaRPr>
          </a:p>
        </p:txBody>
      </p:sp>
      <p:sp>
        <p:nvSpPr>
          <p:cNvPr id="136" name="Google Shape;136;p4"/>
          <p:cNvSpPr/>
          <p:nvPr/>
        </p:nvSpPr>
        <p:spPr>
          <a:xfrm>
            <a:off x="10573700" y="6501500"/>
            <a:ext cx="1643700" cy="489600"/>
          </a:xfrm>
          <a:prstGeom prst="homePlate">
            <a:avLst>
              <a:gd name="adj" fmla="val 50000"/>
            </a:avLst>
          </a:prstGeom>
          <a:solidFill>
            <a:srgbClr val="253957"/>
          </a:solidFill>
          <a:ln w="19050"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ru-RU" sz="1800">
                <a:solidFill>
                  <a:schemeClr val="lt1"/>
                </a:solidFill>
              </a:rPr>
              <a:t>шаг 6</a:t>
            </a:r>
            <a:endParaRPr sz="1800">
              <a:solidFill>
                <a:schemeClr val="lt1"/>
              </a:solidFill>
            </a:endParaRPr>
          </a:p>
        </p:txBody>
      </p:sp>
      <p:cxnSp>
        <p:nvCxnSpPr>
          <p:cNvPr id="137" name="Google Shape;137;p4"/>
          <p:cNvCxnSpPr>
            <a:stCxn id="131" idx="0"/>
          </p:cNvCxnSpPr>
          <p:nvPr/>
        </p:nvCxnSpPr>
        <p:spPr>
          <a:xfrm rot="10800000" flipH="1">
            <a:off x="1153158" y="5505800"/>
            <a:ext cx="900" cy="995700"/>
          </a:xfrm>
          <a:prstGeom prst="straightConnector1">
            <a:avLst/>
          </a:prstGeom>
          <a:noFill/>
          <a:ln w="28575" cap="flat" cmpd="sng">
            <a:solidFill>
              <a:srgbClr val="253957"/>
            </a:solidFill>
            <a:prstDash val="solid"/>
            <a:round/>
            <a:headEnd type="none" w="med" len="med"/>
            <a:tailEnd type="oval" w="med" len="med"/>
          </a:ln>
        </p:spPr>
      </p:cxnSp>
      <p:cxnSp>
        <p:nvCxnSpPr>
          <p:cNvPr id="138" name="Google Shape;138;p4"/>
          <p:cNvCxnSpPr/>
          <p:nvPr/>
        </p:nvCxnSpPr>
        <p:spPr>
          <a:xfrm rot="10800000" flipH="1">
            <a:off x="3441550" y="6991100"/>
            <a:ext cx="900" cy="995700"/>
          </a:xfrm>
          <a:prstGeom prst="straightConnector1">
            <a:avLst/>
          </a:prstGeom>
          <a:noFill/>
          <a:ln w="28575" cap="flat" cmpd="sng">
            <a:solidFill>
              <a:srgbClr val="253957"/>
            </a:solidFill>
            <a:prstDash val="solid"/>
            <a:round/>
            <a:headEnd type="oval" w="med" len="med"/>
            <a:tailEnd type="none" w="med" len="med"/>
          </a:ln>
        </p:spPr>
      </p:cxnSp>
      <p:cxnSp>
        <p:nvCxnSpPr>
          <p:cNvPr id="139" name="Google Shape;139;p4"/>
          <p:cNvCxnSpPr/>
          <p:nvPr/>
        </p:nvCxnSpPr>
        <p:spPr>
          <a:xfrm rot="10800000" flipH="1">
            <a:off x="7304550" y="6943250"/>
            <a:ext cx="900" cy="995700"/>
          </a:xfrm>
          <a:prstGeom prst="straightConnector1">
            <a:avLst/>
          </a:prstGeom>
          <a:noFill/>
          <a:ln w="28575" cap="flat" cmpd="sng">
            <a:solidFill>
              <a:srgbClr val="253957"/>
            </a:solidFill>
            <a:prstDash val="solid"/>
            <a:round/>
            <a:headEnd type="oval" w="med" len="med"/>
            <a:tailEnd type="none" w="med" len="med"/>
          </a:ln>
        </p:spPr>
      </p:cxnSp>
      <p:cxnSp>
        <p:nvCxnSpPr>
          <p:cNvPr id="140" name="Google Shape;140;p4"/>
          <p:cNvCxnSpPr/>
          <p:nvPr/>
        </p:nvCxnSpPr>
        <p:spPr>
          <a:xfrm rot="10800000" flipH="1">
            <a:off x="11395100" y="6943250"/>
            <a:ext cx="900" cy="995700"/>
          </a:xfrm>
          <a:prstGeom prst="straightConnector1">
            <a:avLst/>
          </a:prstGeom>
          <a:noFill/>
          <a:ln w="28575" cap="flat" cmpd="sng">
            <a:solidFill>
              <a:srgbClr val="253957"/>
            </a:solidFill>
            <a:prstDash val="solid"/>
            <a:round/>
            <a:headEnd type="oval" w="med" len="med"/>
            <a:tailEnd type="none" w="med" len="med"/>
          </a:ln>
        </p:spPr>
      </p:cxnSp>
      <p:cxnSp>
        <p:nvCxnSpPr>
          <p:cNvPr id="141" name="Google Shape;141;p4"/>
          <p:cNvCxnSpPr/>
          <p:nvPr/>
        </p:nvCxnSpPr>
        <p:spPr>
          <a:xfrm rot="10800000" flipH="1">
            <a:off x="5349875" y="5505800"/>
            <a:ext cx="900" cy="995700"/>
          </a:xfrm>
          <a:prstGeom prst="straightConnector1">
            <a:avLst/>
          </a:prstGeom>
          <a:noFill/>
          <a:ln w="28575" cap="flat" cmpd="sng">
            <a:solidFill>
              <a:srgbClr val="253957"/>
            </a:solidFill>
            <a:prstDash val="solid"/>
            <a:round/>
            <a:headEnd type="none" w="med" len="med"/>
            <a:tailEnd type="oval" w="med" len="med"/>
          </a:ln>
        </p:spPr>
      </p:cxnSp>
      <p:cxnSp>
        <p:nvCxnSpPr>
          <p:cNvPr id="142" name="Google Shape;142;p4"/>
          <p:cNvCxnSpPr/>
          <p:nvPr/>
        </p:nvCxnSpPr>
        <p:spPr>
          <a:xfrm rot="10800000" flipH="1">
            <a:off x="9318900" y="5505800"/>
            <a:ext cx="900" cy="995700"/>
          </a:xfrm>
          <a:prstGeom prst="straightConnector1">
            <a:avLst/>
          </a:prstGeom>
          <a:noFill/>
          <a:ln w="28575" cap="flat" cmpd="sng">
            <a:solidFill>
              <a:srgbClr val="253957"/>
            </a:solidFill>
            <a:prstDash val="solid"/>
            <a:round/>
            <a:headEnd type="none" w="med" len="med"/>
            <a:tailEnd type="oval" w="med" len="med"/>
          </a:ln>
        </p:spPr>
      </p:cxnSp>
      <p:sp>
        <p:nvSpPr>
          <p:cNvPr id="143" name="Google Shape;143;p4"/>
          <p:cNvSpPr txBox="1"/>
          <p:nvPr/>
        </p:nvSpPr>
        <p:spPr>
          <a:xfrm>
            <a:off x="0" y="4714371"/>
            <a:ext cx="3600300" cy="55627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Изучение литературы</a:t>
            </a:r>
            <a:endParaRPr dirty="0"/>
          </a:p>
        </p:txBody>
      </p:sp>
      <p:sp>
        <p:nvSpPr>
          <p:cNvPr id="144" name="Google Shape;144;p4"/>
          <p:cNvSpPr txBox="1"/>
          <p:nvPr/>
        </p:nvSpPr>
        <p:spPr>
          <a:xfrm>
            <a:off x="2224725" y="8103050"/>
            <a:ext cx="3000000" cy="129955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err="1">
                <a:solidFill>
                  <a:schemeClr val="dk1"/>
                </a:solidFill>
                <a:latin typeface="Helvetica Neue"/>
                <a:ea typeface="Helvetica Neue"/>
                <a:cs typeface="Helvetica Neue"/>
                <a:sym typeface="Helvetica Neue"/>
              </a:rPr>
              <a:t>Парсинг</a:t>
            </a:r>
            <a:r>
              <a:rPr lang="ru-RU" sz="2100" dirty="0">
                <a:solidFill>
                  <a:schemeClr val="dk1"/>
                </a:solidFill>
                <a:latin typeface="Helvetica Neue"/>
                <a:ea typeface="Helvetica Neue"/>
                <a:cs typeface="Helvetica Neue"/>
                <a:sym typeface="Helvetica Neue"/>
              </a:rPr>
              <a:t> данных из открытых источников и их изучение</a:t>
            </a:r>
            <a:endParaRPr dirty="0"/>
          </a:p>
        </p:txBody>
      </p:sp>
      <p:sp>
        <p:nvSpPr>
          <p:cNvPr id="146" name="Google Shape;146;p4"/>
          <p:cNvSpPr txBox="1"/>
          <p:nvPr/>
        </p:nvSpPr>
        <p:spPr>
          <a:xfrm>
            <a:off x="4508382" y="4626141"/>
            <a:ext cx="2996391" cy="92791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Реализация марковских моделей</a:t>
            </a:r>
            <a:endParaRPr dirty="0"/>
          </a:p>
        </p:txBody>
      </p:sp>
      <p:sp>
        <p:nvSpPr>
          <p:cNvPr id="147" name="Google Shape;147;p4"/>
          <p:cNvSpPr txBox="1"/>
          <p:nvPr/>
        </p:nvSpPr>
        <p:spPr>
          <a:xfrm>
            <a:off x="7874561" y="4400103"/>
            <a:ext cx="4217100" cy="92791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Реализация методов классификации</a:t>
            </a:r>
            <a:endParaRPr sz="2100" dirty="0">
              <a:solidFill>
                <a:schemeClr val="dk1"/>
              </a:solidFill>
              <a:latin typeface="Helvetica Neue"/>
              <a:ea typeface="Helvetica Neue"/>
              <a:cs typeface="Helvetica Neue"/>
              <a:sym typeface="Helvetica Neue"/>
            </a:endParaRPr>
          </a:p>
        </p:txBody>
      </p:sp>
      <p:sp>
        <p:nvSpPr>
          <p:cNvPr id="148" name="Google Shape;148;p4"/>
          <p:cNvSpPr txBox="1"/>
          <p:nvPr/>
        </p:nvSpPr>
        <p:spPr>
          <a:xfrm>
            <a:off x="9895550" y="8035850"/>
            <a:ext cx="3000000" cy="879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a:solidFill>
                  <a:schemeClr val="dk1"/>
                </a:solidFill>
                <a:latin typeface="Helvetica Neue"/>
                <a:ea typeface="Helvetica Neue"/>
                <a:cs typeface="Helvetica Neue"/>
                <a:sym typeface="Helvetica Neue"/>
              </a:rPr>
              <a:t>Оценка и сравнение методов</a:t>
            </a:r>
            <a:endParaRPr/>
          </a:p>
        </p:txBody>
      </p:sp>
      <p:sp>
        <p:nvSpPr>
          <p:cNvPr id="2" name="Google Shape;146;p4">
            <a:extLst>
              <a:ext uri="{FF2B5EF4-FFF2-40B4-BE49-F238E27FC236}">
                <a16:creationId xmlns:a16="http://schemas.microsoft.com/office/drawing/2014/main" id="{03302910-6508-69A0-0CE4-EC19977E7797}"/>
              </a:ext>
            </a:extLst>
          </p:cNvPr>
          <p:cNvSpPr txBox="1"/>
          <p:nvPr/>
        </p:nvSpPr>
        <p:spPr>
          <a:xfrm>
            <a:off x="6280663" y="8033560"/>
            <a:ext cx="2996391" cy="1299556"/>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2100" dirty="0">
                <a:solidFill>
                  <a:schemeClr val="dk1"/>
                </a:solidFill>
                <a:latin typeface="Helvetica Neue"/>
                <a:ea typeface="Helvetica Neue"/>
                <a:cs typeface="Helvetica Neue"/>
                <a:sym typeface="Helvetica Neue"/>
              </a:rPr>
              <a:t>Реализация оценок матриц переходных вероятностей.</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cxnSp>
        <p:nvCxnSpPr>
          <p:cNvPr id="153" name="Google Shape;153;g1d78c760599_0_57"/>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54" name="Google Shape;154;g1d78c760599_0_57"/>
          <p:cNvSpPr txBox="1"/>
          <p:nvPr/>
        </p:nvSpPr>
        <p:spPr>
          <a:xfrm>
            <a:off x="787400" y="1014401"/>
            <a:ext cx="11430000" cy="5604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a:solidFill>
                  <a:srgbClr val="253957"/>
                </a:solidFill>
                <a:latin typeface="Arial Narrow"/>
                <a:ea typeface="Arial Narrow"/>
                <a:cs typeface="Arial Narrow"/>
                <a:sym typeface="Arial Narrow"/>
              </a:rPr>
              <a:t>Роли в команде</a:t>
            </a:r>
            <a:endParaRPr sz="1400" b="0" i="0" u="none" strike="noStrike" cap="none">
              <a:solidFill>
                <a:srgbClr val="000000"/>
              </a:solidFill>
              <a:latin typeface="Arial"/>
              <a:ea typeface="Arial"/>
              <a:cs typeface="Arial"/>
              <a:sym typeface="Arial"/>
            </a:endParaRPr>
          </a:p>
        </p:txBody>
      </p:sp>
      <p:sp>
        <p:nvSpPr>
          <p:cNvPr id="155" name="Google Shape;155;g1d78c760599_0_57"/>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56" name="Google Shape;156;g1d78c760599_0_57"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57" name="Google Shape;157;g1d78c760599_0_57"/>
          <p:cNvSpPr txBox="1"/>
          <p:nvPr/>
        </p:nvSpPr>
        <p:spPr>
          <a:xfrm>
            <a:off x="2629107" y="2587288"/>
            <a:ext cx="9588300" cy="3739455"/>
          </a:xfrm>
          <a:prstGeom prst="rect">
            <a:avLst/>
          </a:prstGeom>
          <a:noFill/>
          <a:ln>
            <a:noFill/>
          </a:ln>
        </p:spPr>
        <p:txBody>
          <a:bodyPr spcFirstLastPara="1" wrap="square" lIns="91425" tIns="91425" rIns="91425" bIns="91425" anchor="t" anchorCtr="0">
            <a:spAutoFit/>
          </a:bodyPr>
          <a:lstStyle/>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Изучение литературы</a:t>
            </a:r>
          </a:p>
          <a:p>
            <a:pPr marL="457200" lvl="0" indent="-361950" algn="l" rtl="0">
              <a:spcBef>
                <a:spcPts val="0"/>
              </a:spcBef>
              <a:spcAft>
                <a:spcPts val="0"/>
              </a:spcAft>
              <a:buSzPts val="2100"/>
              <a:buFont typeface="Helvetica Neue"/>
              <a:buChar char="●"/>
            </a:pPr>
            <a:r>
              <a:rPr lang="ru-RU" sz="2100" dirty="0" err="1">
                <a:latin typeface="Helvetica Neue"/>
                <a:ea typeface="Helvetica Neue"/>
                <a:cs typeface="Helvetica Neue"/>
                <a:sym typeface="Helvetica Neue"/>
              </a:rPr>
              <a:t>Парсинг</a:t>
            </a:r>
            <a:r>
              <a:rPr lang="ru-RU" sz="2100" dirty="0">
                <a:latin typeface="Helvetica Neue"/>
                <a:ea typeface="Helvetica Neue"/>
                <a:cs typeface="Helvetica Neue"/>
                <a:sym typeface="Helvetica Neue"/>
              </a:rPr>
              <a:t> данных</a:t>
            </a:r>
          </a:p>
          <a:p>
            <a:pPr marL="457200" indent="-361950">
              <a:buSzPts val="2100"/>
              <a:buFont typeface="Helvetica Neue"/>
              <a:buChar char="●"/>
            </a:pPr>
            <a:r>
              <a:rPr lang="ru-RU" sz="2100" dirty="0">
                <a:latin typeface="Helvetica Neue"/>
                <a:ea typeface="Helvetica Neue"/>
                <a:cs typeface="Helvetica Neue"/>
                <a:sym typeface="Helvetica Neue"/>
              </a:rPr>
              <a:t>Обработка и изучение данных</a:t>
            </a:r>
          </a:p>
          <a:p>
            <a:pPr marL="457200" indent="-361950">
              <a:buSzPts val="2100"/>
              <a:buFont typeface="Helvetica Neue"/>
              <a:buChar char="●"/>
            </a:pPr>
            <a:r>
              <a:rPr lang="ru-RU" sz="2100" dirty="0">
                <a:solidFill>
                  <a:schemeClr val="dk1"/>
                </a:solidFill>
                <a:latin typeface="Helvetica Neue"/>
                <a:ea typeface="Helvetica Neue"/>
                <a:cs typeface="Helvetica Neue"/>
                <a:sym typeface="Helvetica Neue"/>
              </a:rPr>
              <a:t>Изучение и применение марковских моделей (построение графов переходов, матрицы переходных вероятностей)</a:t>
            </a: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Изучение и реализация на Python алгоритмов кластеризации данных (</a:t>
            </a:r>
            <a:r>
              <a:rPr lang="ru-RU" sz="2100" dirty="0" err="1">
                <a:latin typeface="Helvetica Neue"/>
                <a:ea typeface="Helvetica Neue"/>
                <a:cs typeface="Helvetica Neue"/>
                <a:sym typeface="Helvetica Neue"/>
              </a:rPr>
              <a:t>k</a:t>
            </a:r>
            <a:r>
              <a:rPr lang="ru-RU" sz="2100" dirty="0">
                <a:latin typeface="Helvetica Neue"/>
                <a:ea typeface="Helvetica Neue"/>
                <a:cs typeface="Helvetica Neue"/>
                <a:sym typeface="Helvetica Neue"/>
              </a:rPr>
              <a:t>-средних и </a:t>
            </a:r>
            <a:r>
              <a:rPr lang="ru-RU" sz="2100" dirty="0" err="1">
                <a:latin typeface="Helvetica Neue"/>
                <a:ea typeface="Helvetica Neue"/>
                <a:cs typeface="Helvetica Neue"/>
                <a:sym typeface="Helvetica Neue"/>
              </a:rPr>
              <a:t>тд</a:t>
            </a:r>
            <a:r>
              <a:rPr lang="ru-RU" sz="2100" dirty="0">
                <a:latin typeface="Helvetica Neue"/>
                <a:ea typeface="Helvetica Neue"/>
                <a:cs typeface="Helvetica Neue"/>
                <a:sym typeface="Helvetica Neue"/>
              </a:rPr>
              <a:t>.) </a:t>
            </a:r>
            <a:endParaRPr sz="2100" dirty="0">
              <a:latin typeface="Helvetica Neue"/>
              <a:ea typeface="Helvetica Neue"/>
              <a:cs typeface="Helvetica Neue"/>
              <a:sym typeface="Helvetica Neue"/>
            </a:endParaRPr>
          </a:p>
          <a:p>
            <a:pPr marL="457200" lvl="0" indent="-361950" algn="l" rtl="0">
              <a:spcBef>
                <a:spcPts val="0"/>
              </a:spcBef>
              <a:spcAft>
                <a:spcPts val="0"/>
              </a:spcAft>
              <a:buSzPts val="2100"/>
              <a:buFont typeface="Helvetica Neue"/>
              <a:buChar char="●"/>
            </a:pPr>
            <a:r>
              <a:rPr lang="ru-RU" sz="2100" dirty="0">
                <a:solidFill>
                  <a:schemeClr val="dk1"/>
                </a:solidFill>
                <a:latin typeface="Helvetica Neue"/>
                <a:ea typeface="Helvetica Neue"/>
                <a:cs typeface="Helvetica Neue"/>
                <a:sym typeface="Helvetica Neue"/>
              </a:rPr>
              <a:t>Изучение и реализация на Python </a:t>
            </a:r>
            <a:r>
              <a:rPr lang="ru-RU" sz="2100" dirty="0">
                <a:latin typeface="Helvetica Neue"/>
                <a:ea typeface="Helvetica Neue"/>
                <a:cs typeface="Helvetica Neue"/>
                <a:sym typeface="Helvetica Neue"/>
              </a:rPr>
              <a:t>методов оценки матриц переходных вероятностей (метод Вальда, </a:t>
            </a:r>
            <a:r>
              <a:rPr lang="ru-RU" sz="2100" dirty="0" err="1">
                <a:latin typeface="Helvetica Neue"/>
                <a:ea typeface="Helvetica Neue"/>
                <a:cs typeface="Helvetica Neue"/>
                <a:sym typeface="Helvetica Neue"/>
              </a:rPr>
              <a:t>бутстрап</a:t>
            </a:r>
            <a:r>
              <a:rPr lang="ru-RU" sz="2100" dirty="0">
                <a:latin typeface="Helvetica Neue"/>
                <a:ea typeface="Helvetica Neue"/>
                <a:cs typeface="Helvetica Neue"/>
                <a:sym typeface="Helvetica Neue"/>
              </a:rPr>
              <a:t>, МСМС)</a:t>
            </a:r>
          </a:p>
          <a:p>
            <a:pPr marL="457200" lvl="0" indent="-361950" algn="l" rtl="0">
              <a:spcBef>
                <a:spcPts val="0"/>
              </a:spcBef>
              <a:spcAft>
                <a:spcPts val="0"/>
              </a:spcAft>
              <a:buSzPts val="2100"/>
              <a:buFont typeface="Helvetica Neue"/>
              <a:buChar char="●"/>
            </a:pPr>
            <a:r>
              <a:rPr lang="ru-RU" sz="2100" dirty="0">
                <a:latin typeface="Helvetica Neue"/>
                <a:ea typeface="Helvetica Neue"/>
                <a:cs typeface="Helvetica Neue"/>
                <a:sym typeface="Helvetica Neue"/>
              </a:rPr>
              <a:t>Реализация веб-интерфейса для расчета (опционально)</a:t>
            </a:r>
          </a:p>
          <a:p>
            <a:pPr marL="457200" lvl="0" indent="-361950" algn="l" rtl="0">
              <a:spcBef>
                <a:spcPts val="0"/>
              </a:spcBef>
              <a:spcAft>
                <a:spcPts val="0"/>
              </a:spcAft>
              <a:buSzPts val="2100"/>
              <a:buFont typeface="Helvetica Neue"/>
              <a:buChar char="●"/>
            </a:pPr>
            <a:endParaRPr sz="2100" dirty="0">
              <a:latin typeface="Helvetica Neue"/>
              <a:ea typeface="Helvetica Neue"/>
              <a:cs typeface="Helvetica Neue"/>
              <a:sym typeface="Helvetica Neue"/>
            </a:endParaRPr>
          </a:p>
        </p:txBody>
      </p:sp>
      <p:sp>
        <p:nvSpPr>
          <p:cNvPr id="158" name="Google Shape;158;g1d78c760599_0_57"/>
          <p:cNvSpPr txBox="1"/>
          <p:nvPr/>
        </p:nvSpPr>
        <p:spPr>
          <a:xfrm>
            <a:off x="2371825" y="1884520"/>
            <a:ext cx="1137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sp>
        <p:nvSpPr>
          <p:cNvPr id="159" name="Google Shape;159;g1d78c760599_0_57"/>
          <p:cNvSpPr txBox="1"/>
          <p:nvPr/>
        </p:nvSpPr>
        <p:spPr>
          <a:xfrm>
            <a:off x="354769" y="2810881"/>
            <a:ext cx="2193000" cy="104641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ru-RU" sz="2800" dirty="0">
                <a:latin typeface="Helvetica Neue"/>
                <a:ea typeface="Helvetica Neue"/>
                <a:cs typeface="Helvetica Neue"/>
                <a:sym typeface="Helvetica Neue"/>
              </a:rPr>
              <a:t>Липатов Данила</a:t>
            </a:r>
            <a:endParaRPr sz="2800" dirty="0">
              <a:latin typeface="Helvetica Neue"/>
              <a:ea typeface="Helvetica Neue"/>
              <a:cs typeface="Helvetica Neue"/>
              <a:sym typeface="Helvetica Neue"/>
            </a:endParaRPr>
          </a:p>
        </p:txBody>
      </p:sp>
      <p:sp>
        <p:nvSpPr>
          <p:cNvPr id="161" name="Google Shape;161;g1d78c760599_0_57"/>
          <p:cNvSpPr txBox="1"/>
          <p:nvPr/>
        </p:nvSpPr>
        <p:spPr>
          <a:xfrm>
            <a:off x="2448853" y="3514699"/>
            <a:ext cx="1137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cxnSp>
        <p:nvCxnSpPr>
          <p:cNvPr id="167" name="Google Shape;167;g2018b27e8ee_0_7"/>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68" name="Google Shape;168;g2018b27e8ee_0_7"/>
          <p:cNvSpPr txBox="1"/>
          <p:nvPr/>
        </p:nvSpPr>
        <p:spPr>
          <a:xfrm>
            <a:off x="787400" y="1014401"/>
            <a:ext cx="11430000" cy="560400"/>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253957"/>
              </a:buClr>
              <a:buSzPts val="3000"/>
              <a:buFont typeface="Arial Narrow"/>
              <a:buNone/>
            </a:pPr>
            <a:r>
              <a:rPr lang="ru-RU" sz="3000">
                <a:solidFill>
                  <a:srgbClr val="253957"/>
                </a:solidFill>
                <a:latin typeface="Arial Narrow"/>
                <a:ea typeface="Arial Narrow"/>
                <a:cs typeface="Arial Narrow"/>
                <a:sym typeface="Arial Narrow"/>
              </a:rPr>
              <a:t>Список литературы</a:t>
            </a:r>
            <a:endParaRPr sz="1400" b="0" i="0" u="none" strike="noStrike" cap="none">
              <a:solidFill>
                <a:srgbClr val="000000"/>
              </a:solidFill>
              <a:latin typeface="Arial"/>
              <a:ea typeface="Arial"/>
              <a:cs typeface="Arial"/>
              <a:sym typeface="Arial"/>
            </a:endParaRPr>
          </a:p>
        </p:txBody>
      </p:sp>
      <p:sp>
        <p:nvSpPr>
          <p:cNvPr id="169" name="Google Shape;169;g2018b27e8ee_0_7"/>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70" name="Google Shape;170;g2018b27e8ee_0_7"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71" name="Google Shape;171;g2018b27e8ee_0_7"/>
          <p:cNvSpPr txBox="1"/>
          <p:nvPr/>
        </p:nvSpPr>
        <p:spPr>
          <a:xfrm>
            <a:off x="2371825" y="1884520"/>
            <a:ext cx="1137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Helvetica Neue Light"/>
              <a:ea typeface="Helvetica Neue Light"/>
              <a:cs typeface="Helvetica Neue Light"/>
              <a:sym typeface="Helvetica Neue Light"/>
            </a:endParaRPr>
          </a:p>
        </p:txBody>
      </p:sp>
      <p:sp>
        <p:nvSpPr>
          <p:cNvPr id="172" name="Google Shape;172;g2018b27e8ee_0_7"/>
          <p:cNvSpPr txBox="1"/>
          <p:nvPr/>
        </p:nvSpPr>
        <p:spPr>
          <a:xfrm>
            <a:off x="805550" y="1724550"/>
            <a:ext cx="11884800" cy="6001613"/>
          </a:xfrm>
          <a:prstGeom prst="rect">
            <a:avLst/>
          </a:prstGeom>
          <a:noFill/>
          <a:ln>
            <a:noFill/>
          </a:ln>
        </p:spPr>
        <p:txBody>
          <a:bodyPr spcFirstLastPara="1" wrap="square" lIns="91425" tIns="91425" rIns="91425" bIns="91425" anchor="t" anchorCtr="0">
            <a:spAutoFit/>
          </a:bodyPr>
          <a:lstStyle/>
          <a:p>
            <a:pPr marL="457200" lvl="0" indent="-342900" algn="l" rtl="0">
              <a:lnSpc>
                <a:spcPct val="150000"/>
              </a:lnSpc>
              <a:spcBef>
                <a:spcPts val="0"/>
              </a:spcBef>
              <a:spcAft>
                <a:spcPts val="0"/>
              </a:spcAft>
              <a:buClr>
                <a:schemeClr val="dk1"/>
              </a:buClr>
              <a:buSzPts val="1800"/>
              <a:buFont typeface="Helvetica Neue"/>
              <a:buChar char="●"/>
            </a:pPr>
            <a:r>
              <a:rPr lang="ru-RU" sz="1800" dirty="0">
                <a:solidFill>
                  <a:schemeClr val="dk1"/>
                </a:solidFill>
                <a:latin typeface="Helvetica Neue"/>
                <a:ea typeface="Helvetica Neue"/>
                <a:cs typeface="Helvetica Neue"/>
                <a:sym typeface="Helvetica Neue"/>
              </a:rPr>
              <a:t>Афанасьева Л.Г., </a:t>
            </a:r>
            <a:r>
              <a:rPr lang="ru-RU" sz="1800" dirty="0" err="1">
                <a:solidFill>
                  <a:schemeClr val="dk1"/>
                </a:solidFill>
                <a:latin typeface="Helvetica Neue"/>
                <a:ea typeface="Helvetica Neue"/>
                <a:cs typeface="Helvetica Neue"/>
                <a:sym typeface="Helvetica Neue"/>
              </a:rPr>
              <a:t>Булинская</a:t>
            </a:r>
            <a:r>
              <a:rPr lang="ru-RU" sz="1800" dirty="0">
                <a:solidFill>
                  <a:schemeClr val="dk1"/>
                </a:solidFill>
                <a:latin typeface="Helvetica Neue"/>
                <a:ea typeface="Helvetica Neue"/>
                <a:cs typeface="Helvetica Neue"/>
                <a:sym typeface="Helvetica Neue"/>
              </a:rPr>
              <a:t> Е.В. Случайные процессы в теории массового обслуживания и управления запасами. - М.: изд-во МГУ, 1980 - Гл. 3, </a:t>
            </a:r>
            <a:r>
              <a:rPr lang="ru-RU" sz="1800" u="sng" dirty="0">
                <a:solidFill>
                  <a:schemeClr val="hlink"/>
                </a:solidFill>
                <a:latin typeface="Helvetica Neue"/>
                <a:ea typeface="Helvetica Neue"/>
                <a:cs typeface="Helvetica Neue"/>
                <a:sym typeface="Helvetica Neue"/>
                <a:hlinkClick r:id="rId4"/>
              </a:rPr>
              <a:t>ссылка</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latin typeface="Helvetica Neue"/>
                <a:ea typeface="Helvetica Neue"/>
                <a:cs typeface="Helvetica Neue"/>
                <a:sym typeface="Helvetica Neue"/>
              </a:rPr>
              <a:t>Régis</a:t>
            </a:r>
            <a:r>
              <a:rPr lang="ru-RU" sz="1800" dirty="0">
                <a:solidFill>
                  <a:schemeClr val="dk1"/>
                </a:solidFill>
                <a:latin typeface="Helvetica Neue"/>
                <a:ea typeface="Helvetica Neue"/>
                <a:cs typeface="Helvetica Neue"/>
                <a:sym typeface="Helvetica Neue"/>
              </a:rPr>
              <a:t>, Daniel </a:t>
            </a:r>
            <a:r>
              <a:rPr lang="ru-RU" sz="1800" dirty="0" err="1">
                <a:solidFill>
                  <a:schemeClr val="dk1"/>
                </a:solidFill>
                <a:latin typeface="Helvetica Neue"/>
                <a:ea typeface="Helvetica Neue"/>
                <a:cs typeface="Helvetica Neue"/>
                <a:sym typeface="Helvetica Neue"/>
              </a:rPr>
              <a:t>Evangelista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Artes</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Rinaldo</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Using</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multi-state</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markov</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models</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to</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identify</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credit</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card</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risk</a:t>
            </a:r>
            <a:r>
              <a:rPr lang="ru-RU" sz="1800" dirty="0">
                <a:solidFill>
                  <a:schemeClr val="dk1"/>
                </a:solidFill>
                <a:latin typeface="Helvetica Neue"/>
                <a:ea typeface="Helvetica Neue"/>
                <a:cs typeface="Helvetica Neue"/>
                <a:sym typeface="Helvetica Neue"/>
              </a:rPr>
              <a:t> // 2016, </a:t>
            </a:r>
            <a:r>
              <a:rPr lang="ru-RU" sz="1800" u="sng" dirty="0">
                <a:solidFill>
                  <a:schemeClr val="hlink"/>
                </a:solidFill>
                <a:latin typeface="Helvetica Neue"/>
                <a:ea typeface="Helvetica Neue"/>
                <a:cs typeface="Helvetica Neue"/>
                <a:sym typeface="Helvetica Neue"/>
                <a:hlinkClick r:id="rId5"/>
              </a:rPr>
              <a:t>link</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en" sz="1800" dirty="0">
                <a:solidFill>
                  <a:schemeClr val="dk1"/>
                </a:solidFill>
                <a:latin typeface="Helvetica Neue"/>
                <a:ea typeface="Helvetica Neue"/>
                <a:cs typeface="Helvetica Neue"/>
                <a:sym typeface="Helvetica Neue"/>
              </a:rPr>
              <a:t>David </a:t>
            </a:r>
            <a:r>
              <a:rPr lang="en" sz="1800" dirty="0" err="1">
                <a:solidFill>
                  <a:schemeClr val="dk1"/>
                </a:solidFill>
                <a:latin typeface="Helvetica Neue"/>
                <a:ea typeface="Helvetica Neue"/>
                <a:cs typeface="Helvetica Neue"/>
                <a:sym typeface="Helvetica Neue"/>
              </a:rPr>
              <a:t>Lando</a:t>
            </a:r>
            <a:r>
              <a:rPr lang="en" sz="1800" dirty="0">
                <a:solidFill>
                  <a:schemeClr val="dk1"/>
                </a:solidFill>
                <a:latin typeface="Helvetica Neue"/>
                <a:ea typeface="Helvetica Neue"/>
                <a:cs typeface="Helvetica Neue"/>
                <a:sym typeface="Helvetica Neue"/>
              </a:rPr>
              <a:t> Analyzing rating transitions and rating drift with continuous observations // Journal of Banking &amp; Finance. – 2002. – No26. – </a:t>
            </a:r>
            <a:r>
              <a:rPr lang="ru-RU" sz="1800" dirty="0">
                <a:solidFill>
                  <a:schemeClr val="dk1"/>
                </a:solidFill>
                <a:latin typeface="Helvetica Neue"/>
                <a:ea typeface="Helvetica Neue"/>
                <a:cs typeface="Helvetica Neue"/>
                <a:sym typeface="Helvetica Neue"/>
              </a:rPr>
              <a:t>С. 423 – 444. </a:t>
            </a:r>
          </a:p>
          <a:p>
            <a:pPr marL="457200" lvl="0" indent="-342900" algn="l" rtl="0">
              <a:lnSpc>
                <a:spcPct val="150000"/>
              </a:lnSpc>
              <a:spcBef>
                <a:spcPts val="0"/>
              </a:spcBef>
              <a:spcAft>
                <a:spcPts val="0"/>
              </a:spcAft>
              <a:buClr>
                <a:schemeClr val="dk1"/>
              </a:buClr>
              <a:buSzPts val="1800"/>
              <a:buFont typeface="Helvetica Neue"/>
              <a:buChar char="●"/>
            </a:pPr>
            <a:r>
              <a:rPr lang="en" sz="1800" dirty="0">
                <a:solidFill>
                  <a:schemeClr val="dk1"/>
                </a:solidFill>
                <a:latin typeface="Helvetica Neue"/>
                <a:ea typeface="Helvetica Neue"/>
                <a:cs typeface="Helvetica Neue"/>
                <a:sym typeface="Helvetica Neue"/>
              </a:rPr>
              <a:t>Rating transitions forecasting: a filtering approach. - </a:t>
            </a:r>
            <a:r>
              <a:rPr lang="en" sz="1800" dirty="0" err="1">
                <a:solidFill>
                  <a:schemeClr val="dk1"/>
                </a:solidFill>
                <a:latin typeface="Helvetica Neue"/>
                <a:ea typeface="Helvetica Neue"/>
                <a:cs typeface="Helvetica Neue"/>
                <a:sym typeface="Helvetica Neue"/>
              </a:rPr>
              <a:t>hal.science</a:t>
            </a:r>
            <a:r>
              <a:rPr lang="en" sz="1800" dirty="0">
                <a:solidFill>
                  <a:schemeClr val="dk1"/>
                </a:solidFill>
                <a:latin typeface="Helvetica Neue"/>
                <a:ea typeface="Helvetica Neue"/>
                <a:cs typeface="Helvetica Neue"/>
                <a:sym typeface="Helvetica Neue"/>
              </a:rPr>
              <a:t>, </a:t>
            </a:r>
            <a:r>
              <a:rPr lang="en" sz="1800" dirty="0">
                <a:solidFill>
                  <a:schemeClr val="dk1"/>
                </a:solidFill>
                <a:latin typeface="Helvetica Neue"/>
                <a:ea typeface="Helvetica Neue"/>
                <a:cs typeface="Helvetica Neue"/>
                <a:sym typeface="Helvetica Neue"/>
                <a:hlinkClick r:id="rId6"/>
              </a:rPr>
              <a:t>link</a:t>
            </a:r>
            <a:r>
              <a:rPr lang="ru-RU" sz="1800" dirty="0">
                <a:solidFill>
                  <a:schemeClr val="dk1"/>
                </a:solidFill>
                <a:latin typeface="Helvetica Neue"/>
                <a:ea typeface="Helvetica Neue"/>
                <a:cs typeface="Helvetica Neue"/>
                <a:sym typeface="Helvetica Neue"/>
                <a:hlinkClick r:id="rId6"/>
              </a:rPr>
              <a:t> </a:t>
            </a:r>
            <a:endParaRPr lang="ru-RU"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en" sz="1800" dirty="0">
                <a:solidFill>
                  <a:schemeClr val="dk1"/>
                </a:solidFill>
                <a:latin typeface="Helvetica Neue"/>
                <a:ea typeface="Helvetica Neue"/>
                <a:cs typeface="Helvetica Neue"/>
                <a:sym typeface="Helvetica Neue"/>
              </a:rPr>
              <a:t>Bayesian Inference for Issuer Heterogeneity in Credit Ratings Migration. – </a:t>
            </a:r>
            <a:r>
              <a:rPr lang="en" sz="1800" dirty="0" err="1">
                <a:solidFill>
                  <a:schemeClr val="dk1"/>
                </a:solidFill>
                <a:latin typeface="Helvetica Neue"/>
                <a:ea typeface="Helvetica Neue"/>
                <a:cs typeface="Helvetica Neue"/>
                <a:sym typeface="Helvetica Neue"/>
              </a:rPr>
              <a:t>fdic</a:t>
            </a:r>
            <a:r>
              <a:rPr lang="en" sz="1800" dirty="0">
                <a:solidFill>
                  <a:schemeClr val="dk1"/>
                </a:solidFill>
                <a:latin typeface="Helvetica Neue"/>
                <a:ea typeface="Helvetica Neue"/>
                <a:cs typeface="Helvetica Neue"/>
                <a:sym typeface="Helvetica Neue"/>
              </a:rPr>
              <a:t>, </a:t>
            </a:r>
            <a:r>
              <a:rPr lang="en" sz="1800" dirty="0">
                <a:solidFill>
                  <a:schemeClr val="dk1"/>
                </a:solidFill>
                <a:latin typeface="Helvetica Neue"/>
                <a:ea typeface="Helvetica Neue"/>
                <a:cs typeface="Helvetica Neue"/>
                <a:sym typeface="Helvetica Neue"/>
                <a:hlinkClick r:id="rId7"/>
              </a:rPr>
              <a:t>link</a:t>
            </a:r>
            <a:r>
              <a:rPr lang="ru-RU" sz="1800" dirty="0">
                <a:solidFill>
                  <a:schemeClr val="dk1"/>
                </a:solidFill>
                <a:latin typeface="Helvetica Neue"/>
                <a:ea typeface="Helvetica Neue"/>
                <a:cs typeface="Helvetica Neue"/>
                <a:sym typeface="Helvetica Neue"/>
              </a:rPr>
              <a:t> </a:t>
            </a: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latin typeface="Helvetica Neue"/>
                <a:ea typeface="Helvetica Neue"/>
                <a:cs typeface="Helvetica Neue"/>
                <a:sym typeface="Helvetica Neue"/>
              </a:rPr>
              <a:t>Mohri</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Rostamizadeh</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Talwalkar</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Foundations</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of</a:t>
            </a:r>
            <a:r>
              <a:rPr lang="ru-RU" sz="1800" dirty="0">
                <a:solidFill>
                  <a:schemeClr val="dk1"/>
                </a:solidFill>
                <a:latin typeface="Helvetica Neue"/>
                <a:ea typeface="Helvetica Neue"/>
                <a:cs typeface="Helvetica Neue"/>
                <a:sym typeface="Helvetica Neue"/>
              </a:rPr>
              <a:t> Machine Learning. - MIT Press, 2012, </a:t>
            </a:r>
            <a:r>
              <a:rPr lang="ru-RU" sz="1800" u="sng" dirty="0">
                <a:solidFill>
                  <a:schemeClr val="hlink"/>
                </a:solidFill>
                <a:latin typeface="Helvetica Neue"/>
                <a:ea typeface="Helvetica Neue"/>
                <a:cs typeface="Helvetica Neue"/>
                <a:sym typeface="Helvetica Neue"/>
                <a:hlinkClick r:id="rId8"/>
              </a:rPr>
              <a:t>link</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latin typeface="Helvetica Neue"/>
                <a:ea typeface="Helvetica Neue"/>
                <a:cs typeface="Helvetica Neue"/>
                <a:sym typeface="Helvetica Neue"/>
              </a:rPr>
              <a:t>T</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Soni</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Madhulatha</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An</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overview</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on</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clustering</a:t>
            </a:r>
            <a:r>
              <a:rPr lang="ru-RU" sz="1800" dirty="0">
                <a:solidFill>
                  <a:schemeClr val="dk1"/>
                </a:solidFill>
                <a:latin typeface="Helvetica Neue"/>
                <a:ea typeface="Helvetica Neue"/>
                <a:cs typeface="Helvetica Neue"/>
                <a:sym typeface="Helvetica Neue"/>
              </a:rPr>
              <a:t> </a:t>
            </a:r>
            <a:r>
              <a:rPr lang="ru-RU" sz="1800" dirty="0" err="1">
                <a:solidFill>
                  <a:schemeClr val="dk1"/>
                </a:solidFill>
                <a:latin typeface="Helvetica Neue"/>
                <a:ea typeface="Helvetica Neue"/>
                <a:cs typeface="Helvetica Neue"/>
                <a:sym typeface="Helvetica Neue"/>
              </a:rPr>
              <a:t>methods</a:t>
            </a:r>
            <a:r>
              <a:rPr lang="ru-RU" sz="1800" dirty="0">
                <a:solidFill>
                  <a:schemeClr val="dk1"/>
                </a:solidFill>
                <a:latin typeface="Helvetica Neue"/>
                <a:ea typeface="Helvetica Neue"/>
                <a:cs typeface="Helvetica Neue"/>
                <a:sym typeface="Helvetica Neue"/>
              </a:rPr>
              <a:t> // IOSR Journal </a:t>
            </a:r>
            <a:r>
              <a:rPr lang="ru-RU" sz="1800" dirty="0" err="1">
                <a:solidFill>
                  <a:schemeClr val="dk1"/>
                </a:solidFill>
                <a:latin typeface="Helvetica Neue"/>
                <a:ea typeface="Helvetica Neue"/>
                <a:cs typeface="Helvetica Neue"/>
                <a:sym typeface="Helvetica Neue"/>
              </a:rPr>
              <a:t>of</a:t>
            </a:r>
            <a:r>
              <a:rPr lang="ru-RU" sz="1800" dirty="0">
                <a:solidFill>
                  <a:schemeClr val="dk1"/>
                </a:solidFill>
                <a:latin typeface="Helvetica Neue"/>
                <a:ea typeface="Helvetica Neue"/>
                <a:cs typeface="Helvetica Neue"/>
                <a:sym typeface="Helvetica Neue"/>
              </a:rPr>
              <a:t> Engineering. - </a:t>
            </a:r>
            <a:r>
              <a:rPr lang="ru-RU" sz="1800" dirty="0" err="1">
                <a:solidFill>
                  <a:schemeClr val="dk1"/>
                </a:solidFill>
                <a:latin typeface="Helvetica Neue"/>
                <a:ea typeface="Helvetica Neue"/>
                <a:cs typeface="Helvetica Neue"/>
                <a:sym typeface="Helvetica Neue"/>
              </a:rPr>
              <a:t>Apr</a:t>
            </a:r>
            <a:r>
              <a:rPr lang="ru-RU" sz="1800" dirty="0">
                <a:solidFill>
                  <a:schemeClr val="dk1"/>
                </a:solidFill>
                <a:latin typeface="Helvetica Neue"/>
                <a:ea typeface="Helvetica Neue"/>
                <a:cs typeface="Helvetica Neue"/>
                <a:sym typeface="Helvetica Neue"/>
              </a:rPr>
              <a:t>. 2012. - №2(4). - С. </a:t>
            </a:r>
            <a:r>
              <a:rPr lang="ru-RU" sz="1800" dirty="0" err="1">
                <a:solidFill>
                  <a:schemeClr val="dk1"/>
                </a:solidFill>
                <a:latin typeface="Helvetica Neue"/>
                <a:ea typeface="Helvetica Neue"/>
                <a:cs typeface="Helvetica Neue"/>
                <a:sym typeface="Helvetica Neue"/>
              </a:rPr>
              <a:t>pp</a:t>
            </a:r>
            <a:r>
              <a:rPr lang="ru-RU" sz="1800" dirty="0">
                <a:solidFill>
                  <a:schemeClr val="dk1"/>
                </a:solidFill>
                <a:latin typeface="Helvetica Neue"/>
                <a:ea typeface="Helvetica Neue"/>
                <a:cs typeface="Helvetica Neue"/>
                <a:sym typeface="Helvetica Neue"/>
              </a:rPr>
              <a:t>: 1529–1542, </a:t>
            </a:r>
            <a:r>
              <a:rPr lang="ru-RU" sz="1800" u="sng" dirty="0">
                <a:solidFill>
                  <a:schemeClr val="hlink"/>
                </a:solidFill>
                <a:latin typeface="Helvetica Neue"/>
                <a:ea typeface="Helvetica Neue"/>
                <a:cs typeface="Helvetica Neue"/>
                <a:sym typeface="Helvetica Neue"/>
                <a:hlinkClick r:id="rId9"/>
              </a:rPr>
              <a:t>link</a:t>
            </a:r>
            <a:endParaRPr sz="1800" dirty="0">
              <a:solidFill>
                <a:schemeClr val="dk1"/>
              </a:solidFill>
              <a:latin typeface="Helvetica Neue"/>
              <a:ea typeface="Helvetica Neue"/>
              <a:cs typeface="Helvetica Neue"/>
              <a:sym typeface="Helvetica Neue"/>
            </a:endParaRPr>
          </a:p>
          <a:p>
            <a:pPr marL="457200" lvl="0" indent="-342900" algn="l" rtl="0">
              <a:lnSpc>
                <a:spcPct val="150000"/>
              </a:lnSpc>
              <a:spcBef>
                <a:spcPts val="0"/>
              </a:spcBef>
              <a:spcAft>
                <a:spcPts val="0"/>
              </a:spcAft>
              <a:buClr>
                <a:schemeClr val="dk1"/>
              </a:buClr>
              <a:buSzPts val="1800"/>
              <a:buFont typeface="Helvetica Neue"/>
              <a:buChar char="●"/>
            </a:pPr>
            <a:r>
              <a:rPr lang="ru-RU" sz="1800" dirty="0" err="1">
                <a:solidFill>
                  <a:schemeClr val="dk1"/>
                </a:solidFill>
                <a:highlight>
                  <a:schemeClr val="lt1"/>
                </a:highlight>
                <a:latin typeface="Helvetica Neue"/>
                <a:ea typeface="Helvetica Neue"/>
                <a:cs typeface="Helvetica Neue"/>
                <a:sym typeface="Helvetica Neue"/>
              </a:rPr>
              <a:t>Dana</a:t>
            </a:r>
            <a:r>
              <a:rPr lang="ru-RU" sz="1800" dirty="0">
                <a:solidFill>
                  <a:schemeClr val="dk1"/>
                </a:solidFill>
                <a:highlight>
                  <a:schemeClr val="lt1"/>
                </a:highlight>
                <a:latin typeface="Helvetica Neue"/>
                <a:ea typeface="Helvetica Neue"/>
                <a:cs typeface="Helvetica Neue"/>
                <a:sym typeface="Helvetica Neue"/>
              </a:rPr>
              <a:t> AL-</a:t>
            </a:r>
            <a:r>
              <a:rPr lang="ru-RU" sz="1800" dirty="0" err="1">
                <a:solidFill>
                  <a:schemeClr val="dk1"/>
                </a:solidFill>
                <a:highlight>
                  <a:schemeClr val="lt1"/>
                </a:highlight>
                <a:latin typeface="Helvetica Neue"/>
                <a:ea typeface="Helvetica Neue"/>
                <a:cs typeface="Helvetica Neue"/>
                <a:sym typeface="Helvetica Neue"/>
              </a:rPr>
              <a:t>Najjar</a:t>
            </a:r>
            <a:r>
              <a:rPr lang="ru-RU" sz="1800" dirty="0">
                <a:solidFill>
                  <a:schemeClr val="dk1"/>
                </a:solidFill>
                <a:highlight>
                  <a:schemeClr val="lt1"/>
                </a:highlight>
                <a:latin typeface="Helvetica Neue"/>
                <a:ea typeface="Helvetica Neue"/>
                <a:cs typeface="Helvetica Neue"/>
                <a:sym typeface="Helvetica Neue"/>
              </a:rPr>
              <a:t> , </a:t>
            </a:r>
            <a:r>
              <a:rPr lang="ru-RU" sz="1800" dirty="0" err="1">
                <a:solidFill>
                  <a:schemeClr val="dk1"/>
                </a:solidFill>
                <a:highlight>
                  <a:schemeClr val="lt1"/>
                </a:highlight>
                <a:latin typeface="Helvetica Neue"/>
                <a:ea typeface="Helvetica Neue"/>
                <a:cs typeface="Helvetica Neue"/>
                <a:sym typeface="Helvetica Neue"/>
              </a:rPr>
              <a:t>Nadia</a:t>
            </a:r>
            <a:r>
              <a:rPr lang="ru-RU" sz="1800" dirty="0">
                <a:solidFill>
                  <a:schemeClr val="dk1"/>
                </a:solidFill>
                <a:highlight>
                  <a:schemeClr val="lt1"/>
                </a:highlight>
                <a:latin typeface="Helvetica Neue"/>
                <a:ea typeface="Helvetica Neue"/>
                <a:cs typeface="Helvetica Neue"/>
                <a:sym typeface="Helvetica Neue"/>
              </a:rPr>
              <a:t> Al-</a:t>
            </a:r>
            <a:r>
              <a:rPr lang="ru-RU" sz="1800" dirty="0" err="1">
                <a:solidFill>
                  <a:schemeClr val="dk1"/>
                </a:solidFill>
                <a:highlight>
                  <a:schemeClr val="lt1"/>
                </a:highlight>
                <a:latin typeface="Helvetica Neue"/>
                <a:ea typeface="Helvetica Neue"/>
                <a:cs typeface="Helvetica Neue"/>
                <a:sym typeface="Helvetica Neue"/>
              </a:rPr>
              <a:t>Rousa</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Hazem</a:t>
            </a:r>
            <a:r>
              <a:rPr lang="ru-RU" sz="1800" dirty="0">
                <a:solidFill>
                  <a:schemeClr val="dk1"/>
                </a:solidFill>
                <a:highlight>
                  <a:schemeClr val="lt1"/>
                </a:highlight>
                <a:latin typeface="Helvetica Neue"/>
                <a:ea typeface="Helvetica Neue"/>
                <a:cs typeface="Helvetica Neue"/>
                <a:sym typeface="Helvetica Neue"/>
              </a:rPr>
              <a:t> AL-</a:t>
            </a:r>
            <a:r>
              <a:rPr lang="ru-RU" sz="1800" dirty="0" err="1">
                <a:solidFill>
                  <a:schemeClr val="dk1"/>
                </a:solidFill>
                <a:highlight>
                  <a:schemeClr val="lt1"/>
                </a:highlight>
                <a:latin typeface="Helvetica Neue"/>
                <a:ea typeface="Helvetica Neue"/>
                <a:cs typeface="Helvetica Neue"/>
                <a:sym typeface="Helvetica Neue"/>
              </a:rPr>
              <a:t>Najjar</a:t>
            </a:r>
            <a:r>
              <a:rPr lang="ru-RU" sz="1800" dirty="0">
                <a:solidFill>
                  <a:schemeClr val="dk1"/>
                </a:solidFill>
                <a:highlight>
                  <a:schemeClr val="lt1"/>
                </a:highlight>
                <a:latin typeface="Helvetica Neue"/>
                <a:ea typeface="Helvetica Neue"/>
                <a:cs typeface="Helvetica Neue"/>
                <a:sym typeface="Helvetica Neue"/>
              </a:rPr>
              <a:t> Machine Learning </a:t>
            </a:r>
            <a:r>
              <a:rPr lang="ru-RU" sz="1800" dirty="0" err="1">
                <a:solidFill>
                  <a:schemeClr val="dk1"/>
                </a:solidFill>
                <a:highlight>
                  <a:schemeClr val="lt1"/>
                </a:highlight>
                <a:latin typeface="Helvetica Neue"/>
                <a:ea typeface="Helvetica Neue"/>
                <a:cs typeface="Helvetica Neue"/>
                <a:sym typeface="Helvetica Neue"/>
              </a:rPr>
              <a:t>to</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Develop</a:t>
            </a:r>
            <a:r>
              <a:rPr lang="ru-RU" sz="1800" dirty="0">
                <a:solidFill>
                  <a:schemeClr val="dk1"/>
                </a:solidFill>
                <a:highlight>
                  <a:schemeClr val="lt1"/>
                </a:highlight>
                <a:latin typeface="Helvetica Neue"/>
                <a:ea typeface="Helvetica Neue"/>
                <a:cs typeface="Helvetica Neue"/>
                <a:sym typeface="Helvetica Neue"/>
              </a:rPr>
              <a:t> Credit Card Customer </a:t>
            </a:r>
            <a:r>
              <a:rPr lang="ru-RU" sz="1800" dirty="0" err="1">
                <a:solidFill>
                  <a:schemeClr val="dk1"/>
                </a:solidFill>
                <a:highlight>
                  <a:schemeClr val="lt1"/>
                </a:highlight>
                <a:latin typeface="Helvetica Neue"/>
                <a:ea typeface="Helvetica Neue"/>
                <a:cs typeface="Helvetica Neue"/>
                <a:sym typeface="Helvetica Neue"/>
              </a:rPr>
              <a:t>Churn</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Prediction</a:t>
            </a:r>
            <a:r>
              <a:rPr lang="ru-RU" sz="1800" dirty="0">
                <a:solidFill>
                  <a:schemeClr val="dk1"/>
                </a:solidFill>
                <a:highlight>
                  <a:schemeClr val="lt1"/>
                </a:highlight>
                <a:latin typeface="Helvetica Neue"/>
                <a:ea typeface="Helvetica Neue"/>
                <a:cs typeface="Helvetica Neue"/>
                <a:sym typeface="Helvetica Neue"/>
              </a:rPr>
              <a:t> // Journal </a:t>
            </a:r>
            <a:r>
              <a:rPr lang="ru-RU" sz="1800" dirty="0" err="1">
                <a:solidFill>
                  <a:schemeClr val="dk1"/>
                </a:solidFill>
                <a:highlight>
                  <a:schemeClr val="lt1"/>
                </a:highlight>
                <a:latin typeface="Helvetica Neue"/>
                <a:ea typeface="Helvetica Neue"/>
                <a:cs typeface="Helvetica Neue"/>
                <a:sym typeface="Helvetica Neue"/>
              </a:rPr>
              <a:t>of</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Theoretical</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and</a:t>
            </a:r>
            <a:r>
              <a:rPr lang="ru-RU" sz="1800" dirty="0">
                <a:solidFill>
                  <a:schemeClr val="dk1"/>
                </a:solidFill>
                <a:highlight>
                  <a:schemeClr val="lt1"/>
                </a:highlight>
                <a:latin typeface="Helvetica Neue"/>
                <a:ea typeface="Helvetica Neue"/>
                <a:cs typeface="Helvetica Neue"/>
                <a:sym typeface="Helvetica Neue"/>
              </a:rPr>
              <a:t> </a:t>
            </a:r>
            <a:r>
              <a:rPr lang="ru-RU" sz="1800" dirty="0" err="1">
                <a:solidFill>
                  <a:schemeClr val="dk1"/>
                </a:solidFill>
                <a:highlight>
                  <a:schemeClr val="lt1"/>
                </a:highlight>
                <a:latin typeface="Helvetica Neue"/>
                <a:ea typeface="Helvetica Neue"/>
                <a:cs typeface="Helvetica Neue"/>
                <a:sym typeface="Helvetica Neue"/>
              </a:rPr>
              <a:t>Applied</a:t>
            </a:r>
            <a:r>
              <a:rPr lang="ru-RU" sz="1800" dirty="0">
                <a:solidFill>
                  <a:schemeClr val="dk1"/>
                </a:solidFill>
                <a:highlight>
                  <a:schemeClr val="lt1"/>
                </a:highlight>
                <a:latin typeface="Helvetica Neue"/>
                <a:ea typeface="Helvetica Neue"/>
                <a:cs typeface="Helvetica Neue"/>
                <a:sym typeface="Helvetica Neue"/>
              </a:rPr>
              <a:t> Electronic Commerce Research. - 2022. - №17. - С. </a:t>
            </a:r>
            <a:r>
              <a:rPr lang="ru-RU" sz="1800" dirty="0" err="1">
                <a:solidFill>
                  <a:schemeClr val="dk1"/>
                </a:solidFill>
                <a:highlight>
                  <a:schemeClr val="lt1"/>
                </a:highlight>
                <a:latin typeface="Helvetica Neue"/>
                <a:ea typeface="Helvetica Neue"/>
                <a:cs typeface="Helvetica Neue"/>
                <a:sym typeface="Helvetica Neue"/>
              </a:rPr>
              <a:t>pp</a:t>
            </a:r>
            <a:r>
              <a:rPr lang="ru-RU" sz="1800" dirty="0">
                <a:solidFill>
                  <a:schemeClr val="dk1"/>
                </a:solidFill>
                <a:highlight>
                  <a:schemeClr val="lt1"/>
                </a:highlight>
                <a:latin typeface="Helvetica Neue"/>
                <a:ea typeface="Helvetica Neue"/>
                <a:cs typeface="Helvetica Neue"/>
                <a:sym typeface="Helvetica Neue"/>
              </a:rPr>
              <a:t>: 719-725, </a:t>
            </a:r>
            <a:r>
              <a:rPr lang="ru-RU" sz="1800" u="sng" dirty="0">
                <a:solidFill>
                  <a:schemeClr val="hlink"/>
                </a:solidFill>
                <a:highlight>
                  <a:schemeClr val="lt1"/>
                </a:highlight>
                <a:latin typeface="Helvetica Neue"/>
                <a:ea typeface="Helvetica Neue"/>
                <a:cs typeface="Helvetica Neue"/>
                <a:sym typeface="Helvetica Neue"/>
                <a:hlinkClick r:id="rId10"/>
              </a:rPr>
              <a:t>link</a:t>
            </a:r>
            <a:endParaRPr sz="1800" dirty="0">
              <a:solidFill>
                <a:srgbClr val="999999"/>
              </a:solidFill>
              <a:highlight>
                <a:schemeClr val="lt1"/>
              </a:highlight>
              <a:latin typeface="Helvetica Neue"/>
              <a:ea typeface="Helvetica Neue"/>
              <a:cs typeface="Helvetica Neue"/>
              <a:sym typeface="Helvetica Neue"/>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pic>
        <p:nvPicPr>
          <p:cNvPr id="177" name="Google Shape;177;p8" descr="Изображение"/>
          <p:cNvPicPr preferRelativeResize="0"/>
          <p:nvPr/>
        </p:nvPicPr>
        <p:blipFill rotWithShape="1">
          <a:blip r:embed="rId3">
            <a:alphaModFix/>
          </a:blip>
          <a:srcRect/>
          <a:stretch/>
        </p:blipFill>
        <p:spPr>
          <a:xfrm>
            <a:off x="5366098" y="3498712"/>
            <a:ext cx="2272604" cy="2197376"/>
          </a:xfrm>
          <a:prstGeom prst="rect">
            <a:avLst/>
          </a:prstGeom>
          <a:noFill/>
          <a:ln>
            <a:noFill/>
          </a:ln>
        </p:spPr>
      </p:pic>
      <p:sp>
        <p:nvSpPr>
          <p:cNvPr id="178" name="Google Shape;178;p8"/>
          <p:cNvSpPr txBox="1">
            <a:spLocks noGrp="1"/>
          </p:cNvSpPr>
          <p:nvPr>
            <p:ph type="sldNum" idx="12"/>
          </p:nvPr>
        </p:nvSpPr>
        <p:spPr>
          <a:xfrm>
            <a:off x="6311798" y="9251950"/>
            <a:ext cx="368400" cy="381000"/>
          </a:xfrm>
          <a:prstGeom prst="rect">
            <a:avLst/>
          </a:prstGeom>
          <a:noFill/>
          <a:ln>
            <a:noFill/>
          </a:ln>
        </p:spPr>
        <p:txBody>
          <a:bodyPr spcFirstLastPara="1" wrap="square" lIns="50800" tIns="50800" rIns="50800" bIns="50800" anchor="t" anchorCtr="0">
            <a:noAutofit/>
          </a:bodyPr>
          <a:lstStyle/>
          <a:p>
            <a:pPr marL="0" lvl="0" indent="0" algn="ctr" rtl="0">
              <a:lnSpc>
                <a:spcPct val="100000"/>
              </a:lnSpc>
              <a:spcBef>
                <a:spcPts val="0"/>
              </a:spcBef>
              <a:spcAft>
                <a:spcPts val="0"/>
              </a:spcAft>
              <a:buClr>
                <a:srgbClr val="000000"/>
              </a:buClr>
              <a:buSzPts val="1800"/>
              <a:buFont typeface="Helvetica Neue Light"/>
              <a:buNone/>
            </a:pPr>
            <a:fld id="{00000000-1234-1234-1234-123412341234}" type="slidenum">
              <a:rPr lang="ru-RU"/>
              <a:t>10</a:t>
            </a:fld>
            <a:endParaRPr/>
          </a:p>
        </p:txBody>
      </p:sp>
      <p:sp>
        <p:nvSpPr>
          <p:cNvPr id="179" name="Google Shape;179;p8"/>
          <p:cNvSpPr txBox="1"/>
          <p:nvPr/>
        </p:nvSpPr>
        <p:spPr>
          <a:xfrm>
            <a:off x="0" y="6550689"/>
            <a:ext cx="13004700"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rgbClr val="F2F2F2"/>
                </a:solidFill>
                <a:latin typeface="Arial"/>
                <a:ea typeface="Arial"/>
                <a:cs typeface="Arial"/>
                <a:sym typeface="Arial"/>
              </a:rPr>
              <a:t>Руководитель: </a:t>
            </a:r>
            <a:r>
              <a:rPr lang="ru-RU" sz="2400" dirty="0">
                <a:solidFill>
                  <a:srgbClr val="F2F2F2"/>
                </a:solidFill>
              </a:rPr>
              <a:t>Зотов Леонид Валентинович</a:t>
            </a:r>
            <a:r>
              <a:rPr lang="ru-RU" sz="2400" b="0" i="0" u="none" strike="noStrike" cap="none" dirty="0">
                <a:solidFill>
                  <a:srgbClr val="F2F2F2"/>
                </a:solidFill>
                <a:latin typeface="Arial"/>
                <a:ea typeface="Arial"/>
                <a:cs typeface="Arial"/>
                <a:sym typeface="Arial"/>
              </a:rPr>
              <a:t>,</a:t>
            </a:r>
            <a:endParaRPr sz="2400" b="0" i="0" u="none" strike="noStrike" cap="none" dirty="0">
              <a:solidFill>
                <a:srgbClr val="F2F2F2"/>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rgbClr val="F2F2F2"/>
                </a:solidFill>
                <a:latin typeface="Arial"/>
                <a:ea typeface="Arial"/>
                <a:cs typeface="Arial"/>
                <a:sym typeface="Arial"/>
              </a:rPr>
              <a:t> </a:t>
            </a:r>
            <a:r>
              <a:rPr lang="ru-RU" sz="2400" b="0" i="0" u="none" strike="noStrike" cap="none" dirty="0">
                <a:solidFill>
                  <a:schemeClr val="lt1"/>
                </a:solidFill>
                <a:latin typeface="Arial"/>
                <a:ea typeface="Arial"/>
                <a:cs typeface="Arial"/>
                <a:sym typeface="Arial"/>
              </a:rPr>
              <a:t> </a:t>
            </a:r>
            <a:r>
              <a:rPr lang="en-US" sz="2400" dirty="0" err="1">
                <a:solidFill>
                  <a:schemeClr val="lt1"/>
                </a:solidFill>
              </a:rPr>
              <a:t>lzotov</a:t>
            </a:r>
            <a:r>
              <a:rPr lang="ru-RU" sz="2400" b="0" i="0" strike="noStrike" cap="none" dirty="0">
                <a:solidFill>
                  <a:schemeClr val="lt1"/>
                </a:solidFill>
                <a:latin typeface="Arial"/>
                <a:ea typeface="Arial"/>
                <a:cs typeface="Arial"/>
                <a:sym typeface="Arial"/>
              </a:rPr>
              <a:t>@</a:t>
            </a:r>
            <a:r>
              <a:rPr lang="ru-RU" sz="2400" b="0" i="0" strike="noStrike" cap="none" dirty="0" err="1">
                <a:solidFill>
                  <a:schemeClr val="lt1"/>
                </a:solidFill>
                <a:latin typeface="Arial"/>
                <a:ea typeface="Arial"/>
                <a:cs typeface="Arial"/>
                <a:sym typeface="Arial"/>
              </a:rPr>
              <a:t>hse.ru</a:t>
            </a:r>
            <a:endParaRPr lang="en-US" sz="2400" dirty="0">
              <a:solidFill>
                <a:schemeClr val="lt1"/>
              </a:solidFill>
            </a:endParaRPr>
          </a:p>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chemeClr val="lt1"/>
                </a:solidFill>
                <a:latin typeface="Arial"/>
                <a:ea typeface="Arial"/>
                <a:cs typeface="Arial"/>
                <a:sym typeface="Arial"/>
              </a:rPr>
              <a:t>Консультант: </a:t>
            </a:r>
            <a:r>
              <a:rPr lang="ru-RU" sz="2400" b="0" i="0" u="none" strike="noStrike" cap="none" dirty="0" err="1">
                <a:solidFill>
                  <a:schemeClr val="lt1"/>
                </a:solidFill>
                <a:latin typeface="Arial"/>
                <a:ea typeface="Arial"/>
                <a:cs typeface="Arial"/>
                <a:sym typeface="Arial"/>
              </a:rPr>
              <a:t>Игнатовская</a:t>
            </a:r>
            <a:r>
              <a:rPr lang="ru-RU" sz="2400" b="0" i="0" u="none" strike="noStrike" cap="none" dirty="0">
                <a:solidFill>
                  <a:schemeClr val="lt1"/>
                </a:solidFill>
                <a:latin typeface="Arial"/>
                <a:ea typeface="Arial"/>
                <a:cs typeface="Arial"/>
                <a:sym typeface="Arial"/>
              </a:rPr>
              <a:t> Валерия Анатольевна</a:t>
            </a:r>
            <a:r>
              <a:rPr lang="en-US" sz="2400" dirty="0">
                <a:solidFill>
                  <a:schemeClr val="lt1"/>
                </a:solidFill>
              </a:rPr>
              <a:t>,</a:t>
            </a:r>
            <a:endParaRPr lang="en-US" sz="2400" b="0" i="0" u="none" strike="noStrike" cap="none" dirty="0">
              <a:solidFill>
                <a:schemeClr val="lt1"/>
              </a:solidFill>
              <a:latin typeface="Arial"/>
              <a:ea typeface="Arial"/>
              <a:cs typeface="Arial"/>
              <a:sym typeface="Arial"/>
            </a:endParaRPr>
          </a:p>
          <a:p>
            <a:pPr algn="ctr">
              <a:buSzPts val="2400"/>
            </a:pPr>
            <a:r>
              <a:rPr lang="en-US" sz="2400" b="0" i="0" u="none" strike="noStrike" cap="none" dirty="0" err="1">
                <a:solidFill>
                  <a:schemeClr val="lt1"/>
                </a:solidFill>
                <a:latin typeface="Arial"/>
                <a:ea typeface="Arial"/>
                <a:cs typeface="Arial"/>
                <a:sym typeface="Arial"/>
              </a:rPr>
              <a:t>vignatovskaya@hse.ru</a:t>
            </a:r>
            <a:endParaRPr lang="en-US" sz="2400" b="0" i="0" u="none" strike="noStrike" cap="none" dirty="0">
              <a:solidFill>
                <a:schemeClr val="lt1"/>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ru-RU" sz="2400" b="0" i="0" u="none" strike="noStrike" cap="none" dirty="0">
                <a:solidFill>
                  <a:schemeClr val="lt1"/>
                </a:solidFill>
                <a:latin typeface="Arial"/>
                <a:ea typeface="Arial"/>
                <a:cs typeface="Arial"/>
                <a:sym typeface="Arial"/>
              </a:rPr>
              <a:t>Исполнители: </a:t>
            </a:r>
            <a:r>
              <a:rPr lang="ru-RU" sz="2400" dirty="0">
                <a:solidFill>
                  <a:schemeClr val="lt1"/>
                </a:solidFill>
              </a:rPr>
              <a:t>Липатов Данила Вячеславович</a:t>
            </a:r>
            <a:r>
              <a:rPr lang="ru-RU" sz="2400" b="0" i="0" u="none" strike="noStrike" cap="none" dirty="0">
                <a:solidFill>
                  <a:schemeClr val="lt1"/>
                </a:solidFill>
                <a:latin typeface="Arial"/>
                <a:ea typeface="Arial"/>
                <a:cs typeface="Arial"/>
                <a:sym typeface="Arial"/>
              </a:rPr>
              <a:t>,</a:t>
            </a:r>
            <a:r>
              <a:rPr lang="ru-RU" sz="2400" dirty="0">
                <a:solidFill>
                  <a:schemeClr val="lt1"/>
                </a:solidFill>
              </a:rPr>
              <a:t> </a:t>
            </a:r>
            <a:endParaRPr sz="2400" dirty="0">
              <a:solidFill>
                <a:schemeClr val="lt1"/>
              </a:solidFill>
            </a:endParaRPr>
          </a:p>
          <a:p>
            <a:pPr marL="0" marR="0" lvl="0" indent="0" algn="ctr" rtl="0">
              <a:lnSpc>
                <a:spcPct val="100000"/>
              </a:lnSpc>
              <a:spcBef>
                <a:spcPts val="0"/>
              </a:spcBef>
              <a:spcAft>
                <a:spcPts val="0"/>
              </a:spcAft>
              <a:buClr>
                <a:srgbClr val="000000"/>
              </a:buClr>
              <a:buSzPts val="2400"/>
              <a:buFont typeface="Arial"/>
              <a:buNone/>
            </a:pPr>
            <a:r>
              <a:rPr lang="ru-RU" sz="2400" dirty="0" err="1">
                <a:solidFill>
                  <a:schemeClr val="lt1"/>
                </a:solidFill>
              </a:rPr>
              <a:t>d</a:t>
            </a:r>
            <a:r>
              <a:rPr lang="en-US" sz="2400" dirty="0" err="1">
                <a:solidFill>
                  <a:schemeClr val="lt1"/>
                </a:solidFill>
              </a:rPr>
              <a:t>vlipatov@edu.hse.ru</a:t>
            </a:r>
            <a:endParaRPr sz="1600" b="0" i="0" u="none" strike="noStrike" cap="none" dirty="0">
              <a:solidFill>
                <a:schemeClr val="lt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cxnSp>
        <p:nvCxnSpPr>
          <p:cNvPr id="184" name="Google Shape;184;g201541eaa2a_0_46"/>
          <p:cNvCxnSpPr/>
          <p:nvPr/>
        </p:nvCxnSpPr>
        <p:spPr>
          <a:xfrm>
            <a:off x="787400" y="1574800"/>
            <a:ext cx="11430000" cy="0"/>
          </a:xfrm>
          <a:prstGeom prst="straightConnector1">
            <a:avLst/>
          </a:prstGeom>
          <a:noFill/>
          <a:ln w="12700" cap="flat" cmpd="sng">
            <a:solidFill>
              <a:srgbClr val="253957"/>
            </a:solidFill>
            <a:prstDash val="solid"/>
            <a:miter lim="400000"/>
            <a:headEnd type="none" w="sm" len="sm"/>
            <a:tailEnd type="none" w="sm" len="sm"/>
          </a:ln>
        </p:spPr>
      </p:cxnSp>
      <p:sp>
        <p:nvSpPr>
          <p:cNvPr id="185" name="Google Shape;185;g201541eaa2a_0_46"/>
          <p:cNvSpPr txBox="1"/>
          <p:nvPr/>
        </p:nvSpPr>
        <p:spPr>
          <a:xfrm>
            <a:off x="787400" y="1879726"/>
            <a:ext cx="11430000" cy="560400"/>
          </a:xfrm>
          <a:prstGeom prst="rect">
            <a:avLst/>
          </a:prstGeom>
          <a:noFill/>
          <a:ln>
            <a:noFill/>
          </a:ln>
        </p:spPr>
        <p:txBody>
          <a:bodyPr spcFirstLastPara="1" wrap="square" lIns="50800" tIns="50800" rIns="50800" bIns="50800" anchor="t" anchorCtr="0">
            <a:noAutofit/>
          </a:bodyPr>
          <a:lstStyle/>
          <a:p>
            <a:pPr marL="0" lvl="0" indent="0" algn="ctr" rtl="0">
              <a:spcBef>
                <a:spcPts val="0"/>
              </a:spcBef>
              <a:spcAft>
                <a:spcPts val="0"/>
              </a:spcAft>
              <a:buClr>
                <a:schemeClr val="dk1"/>
              </a:buClr>
              <a:buSzPts val="1100"/>
              <a:buFont typeface="Arial"/>
              <a:buNone/>
            </a:pPr>
            <a:r>
              <a:rPr lang="ru-RU" sz="2200">
                <a:solidFill>
                  <a:srgbClr val="253957"/>
                </a:solidFill>
                <a:latin typeface="Helvetica Neue"/>
                <a:ea typeface="Helvetica Neue"/>
                <a:cs typeface="Helvetica Neue"/>
                <a:sym typeface="Helvetica Neue"/>
              </a:rPr>
              <a:t>Навыки, которые планируется приобрести во время реализации проекта</a:t>
            </a:r>
            <a:endParaRPr sz="1300" b="0" i="0" u="none" strike="noStrike" cap="none">
              <a:solidFill>
                <a:srgbClr val="000000"/>
              </a:solidFill>
              <a:latin typeface="Arial"/>
              <a:ea typeface="Arial"/>
              <a:cs typeface="Arial"/>
              <a:sym typeface="Arial"/>
            </a:endParaRPr>
          </a:p>
        </p:txBody>
      </p:sp>
      <p:sp>
        <p:nvSpPr>
          <p:cNvPr id="186" name="Google Shape;186;g201541eaa2a_0_46"/>
          <p:cNvSpPr txBox="1"/>
          <p:nvPr/>
        </p:nvSpPr>
        <p:spPr>
          <a:xfrm>
            <a:off x="2848681" y="601505"/>
            <a:ext cx="8745300" cy="379500"/>
          </a:xfrm>
          <a:prstGeom prst="rect">
            <a:avLst/>
          </a:prstGeom>
          <a:noFill/>
          <a:ln>
            <a:noFill/>
          </a:ln>
        </p:spPr>
        <p:txBody>
          <a:bodyPr spcFirstLastPara="1" wrap="square" lIns="50800" tIns="50800" rIns="50800" bIns="50800" anchor="ctr" anchorCtr="0">
            <a:noAutofit/>
          </a:bodyPr>
          <a:lstStyle/>
          <a:p>
            <a:pPr marL="0" marR="0" lvl="0" indent="0" algn="r" rtl="0">
              <a:lnSpc>
                <a:spcPct val="100000"/>
              </a:lnSpc>
              <a:spcBef>
                <a:spcPts val="0"/>
              </a:spcBef>
              <a:spcAft>
                <a:spcPts val="0"/>
              </a:spcAft>
              <a:buClr>
                <a:srgbClr val="253957"/>
              </a:buClr>
              <a:buSzPts val="1800"/>
              <a:buFont typeface="Arial Narrow"/>
              <a:buNone/>
            </a:pPr>
            <a:r>
              <a:rPr lang="ru-RU" sz="1800" b="0" i="0" u="none" strike="noStrike" cap="none">
                <a:solidFill>
                  <a:srgbClr val="253957"/>
                </a:solidFill>
                <a:latin typeface="Arial Narrow"/>
                <a:ea typeface="Arial Narrow"/>
                <a:cs typeface="Arial Narrow"/>
                <a:sym typeface="Arial Narrow"/>
              </a:rPr>
              <a:t>МИЭМ НИУ ВШЭ</a:t>
            </a:r>
            <a:endParaRPr sz="1800" b="0" i="0" u="none" strike="noStrike" cap="none">
              <a:solidFill>
                <a:srgbClr val="253957"/>
              </a:solidFill>
              <a:latin typeface="Arial Narrow"/>
              <a:ea typeface="Arial Narrow"/>
              <a:cs typeface="Arial Narrow"/>
              <a:sym typeface="Arial Narrow"/>
            </a:endParaRPr>
          </a:p>
        </p:txBody>
      </p:sp>
      <p:pic>
        <p:nvPicPr>
          <p:cNvPr id="187" name="Google Shape;187;g201541eaa2a_0_46" descr="Изображение"/>
          <p:cNvPicPr preferRelativeResize="0"/>
          <p:nvPr/>
        </p:nvPicPr>
        <p:blipFill rotWithShape="1">
          <a:blip r:embed="rId3">
            <a:alphaModFix/>
          </a:blip>
          <a:srcRect/>
          <a:stretch/>
        </p:blipFill>
        <p:spPr>
          <a:xfrm>
            <a:off x="805562" y="416839"/>
            <a:ext cx="853034" cy="853034"/>
          </a:xfrm>
          <a:prstGeom prst="rect">
            <a:avLst/>
          </a:prstGeom>
          <a:noFill/>
          <a:ln>
            <a:noFill/>
          </a:ln>
        </p:spPr>
      </p:pic>
      <p:sp>
        <p:nvSpPr>
          <p:cNvPr id="188" name="Google Shape;188;g201541eaa2a_0_46"/>
          <p:cNvSpPr txBox="1"/>
          <p:nvPr/>
        </p:nvSpPr>
        <p:spPr>
          <a:xfrm>
            <a:off x="1137000" y="2440125"/>
            <a:ext cx="10969800" cy="3508623"/>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Поиск, сбор, обработка и анализ информации из научных источников</a:t>
            </a:r>
            <a:r>
              <a:rPr lang="ru-RU" sz="2400" dirty="0">
                <a:solidFill>
                  <a:schemeClr val="dk1"/>
                </a:solidFill>
                <a:latin typeface="Helvetica Neue"/>
                <a:ea typeface="Helvetica Neue"/>
                <a:cs typeface="Helvetica Neue"/>
                <a:sym typeface="Helvetica Neue"/>
              </a:rPr>
              <a:t>, </a:t>
            </a:r>
            <a:r>
              <a:rPr lang="ru-RU" sz="2400" dirty="0">
                <a:solidFill>
                  <a:schemeClr val="dk1"/>
                </a:solidFill>
                <a:highlight>
                  <a:srgbClr val="FFFFFF"/>
                </a:highlight>
                <a:latin typeface="Helvetica Neue"/>
                <a:ea typeface="Helvetica Neue"/>
                <a:cs typeface="Helvetica Neue"/>
                <a:sym typeface="Helvetica Neue"/>
              </a:rPr>
              <a:t>приобретение навыка работы с англоязычными и отечественными статьями и учебными пособиями</a:t>
            </a:r>
            <a:endParaRPr sz="2400" dirty="0">
              <a:solidFill>
                <a:schemeClr val="dk1"/>
              </a:solidFill>
              <a:latin typeface="Helvetica Neue"/>
              <a:ea typeface="Helvetica Neue"/>
              <a:cs typeface="Helvetica Neue"/>
              <a:sym typeface="Helvetica Neue"/>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Приобретение навыка формализации прикладных задач, построение математических моделей задач</a:t>
            </a:r>
            <a:endParaRPr sz="2400" dirty="0">
              <a:solidFill>
                <a:schemeClr val="dk1"/>
              </a:solidFill>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Формирование и описание алгоритмов для решения практических задач</a:t>
            </a:r>
            <a:endParaRPr sz="2400" dirty="0">
              <a:solidFill>
                <a:schemeClr val="dk1"/>
              </a:solidFill>
              <a:latin typeface="Helvetica Neue"/>
              <a:ea typeface="Helvetica Neue"/>
              <a:cs typeface="Helvetica Neue"/>
              <a:sym typeface="Helvetica Neue"/>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Углубление знаний теории случайных процессов, машинного обучения</a:t>
            </a:r>
            <a:endParaRPr sz="2400" dirty="0">
              <a:solidFill>
                <a:schemeClr val="dk1"/>
              </a:solidFill>
              <a:latin typeface="Helvetica Neue"/>
              <a:ea typeface="Helvetica Neue"/>
              <a:cs typeface="Helvetica Neue"/>
              <a:sym typeface="Helvetica Neue"/>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endParaRPr>
          </a:p>
          <a:p>
            <a:pPr marL="457200" lvl="0" indent="-381000" algn="l" rtl="0">
              <a:spcBef>
                <a:spcPts val="0"/>
              </a:spcBef>
              <a:spcAft>
                <a:spcPts val="0"/>
              </a:spcAft>
              <a:buClr>
                <a:schemeClr val="dk1"/>
              </a:buClr>
              <a:buSzPts val="2400"/>
              <a:buFont typeface="Helvetica Neue"/>
              <a:buChar char="●"/>
            </a:pPr>
            <a:r>
              <a:rPr lang="ru-RU" sz="2400" dirty="0">
                <a:solidFill>
                  <a:schemeClr val="dk1"/>
                </a:solidFill>
                <a:latin typeface="Helvetica Neue"/>
                <a:ea typeface="Helvetica Neue"/>
                <a:cs typeface="Helvetica Neue"/>
                <a:sym typeface="Helvetica Neue"/>
              </a:rPr>
              <a:t>Углубление навыков программирования в Python и </a:t>
            </a:r>
            <a:r>
              <a:rPr lang="ru-RU" sz="2400" dirty="0" err="1">
                <a:solidFill>
                  <a:schemeClr val="dk1"/>
                </a:solidFill>
                <a:latin typeface="Helvetica Neue"/>
                <a:ea typeface="Helvetica Neue"/>
                <a:cs typeface="Helvetica Neue"/>
                <a:sym typeface="Helvetica Neue"/>
              </a:rPr>
              <a:t>R</a:t>
            </a:r>
            <a:endParaRPr sz="2400" dirty="0">
              <a:solidFill>
                <a:schemeClr val="dk1"/>
              </a:solidFill>
              <a:latin typeface="Helvetica Neue"/>
              <a:ea typeface="Helvetica Neue"/>
              <a:cs typeface="Helvetica Neue"/>
              <a:sym typeface="Helvetica Neue"/>
            </a:endParaRPr>
          </a:p>
        </p:txBody>
      </p:sp>
      <p:sp>
        <p:nvSpPr>
          <p:cNvPr id="189" name="Google Shape;189;g201541eaa2a_0_46"/>
          <p:cNvSpPr txBox="1"/>
          <p:nvPr/>
        </p:nvSpPr>
        <p:spPr>
          <a:xfrm>
            <a:off x="4389100" y="775825"/>
            <a:ext cx="30000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ru-RU" sz="3000">
                <a:solidFill>
                  <a:srgbClr val="253957"/>
                </a:solidFill>
                <a:latin typeface="Arial Narrow"/>
                <a:ea typeface="Arial Narrow"/>
                <a:cs typeface="Arial Narrow"/>
                <a:sym typeface="Arial Narrow"/>
              </a:rPr>
              <a:t>Приложение</a:t>
            </a:r>
            <a:endParaRPr>
              <a:solidFill>
                <a:schemeClr val="dk1"/>
              </a:solidFill>
            </a:endParaRPr>
          </a:p>
        </p:txBody>
      </p:sp>
    </p:spTree>
  </p:cSld>
  <p:clrMapOvr>
    <a:masterClrMapping/>
  </p:clrMapOvr>
</p:sld>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1990</TotalTime>
  <Words>932</Words>
  <Application>Microsoft Macintosh PowerPoint</Application>
  <PresentationFormat>Произвольный</PresentationFormat>
  <Paragraphs>94</Paragraphs>
  <Slides>11</Slides>
  <Notes>9</Notes>
  <HiddenSlides>0</HiddenSlides>
  <MMClips>0</MMClips>
  <ScaleCrop>false</ScaleCrop>
  <HeadingPairs>
    <vt:vector size="6" baseType="variant">
      <vt:variant>
        <vt:lpstr>Использованные шрифты</vt:lpstr>
      </vt:variant>
      <vt:variant>
        <vt:i4>5</vt:i4>
      </vt:variant>
      <vt:variant>
        <vt:lpstr>Тема</vt:lpstr>
      </vt:variant>
      <vt:variant>
        <vt:i4>1</vt:i4>
      </vt:variant>
      <vt:variant>
        <vt:lpstr>Заголовки слайдов</vt:lpstr>
      </vt:variant>
      <vt:variant>
        <vt:i4>11</vt:i4>
      </vt:variant>
    </vt:vector>
  </HeadingPairs>
  <TitlesOfParts>
    <vt:vector size="17" baseType="lpstr">
      <vt:lpstr>Helvetica Neue Light</vt:lpstr>
      <vt:lpstr>Arial</vt:lpstr>
      <vt:lpstr>Roboto</vt:lpstr>
      <vt:lpstr>Arial Narrow</vt:lpstr>
      <vt:lpstr>Helvetica Neue</vt:lpstr>
      <vt:lpstr>White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cp:lastModifiedBy>Данила Липатов</cp:lastModifiedBy>
  <cp:revision>40</cp:revision>
  <dcterms:modified xsi:type="dcterms:W3CDTF">2025-01-21T20:46:02Z</dcterms:modified>
</cp:coreProperties>
</file>